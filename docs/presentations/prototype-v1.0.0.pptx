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88920"/>
            <a:ext cx="12188952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1148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97316"/>
                </a:solidFill>
                <a:latin typeface="Calibri"/>
              </a:rPr>
              <a:t>FinanceApp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103601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Protótipo Web 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44368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F"/>
                </a:solidFill>
                <a:latin typeface="Calibri"/>
              </a:rPr>
              <a:t>Wireframes  ·  Fluxo de telas  ·  Ataque ao pain point central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79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Baseado em: Estudo de Personas v1.0.0  ·  Pain Point: "O brasileiro não sabe para onde vai seu dinheiro"</a:t>
            </a:r>
          </a:p>
          <a:p>
            <a:pPr>
              <a:spcAft>
                <a:spcPts val="479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8 perfis · 10 dores rankeadas · 3 pilares do problema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6364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v1.0.0  ·  2026-05-11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0972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 Problema que Vamos Resolver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Cada tela deste protótipo existe para atacar um desses três pilares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11640312" cy="1417320"/>
          </a:xfrm>
          <a:prstGeom prst="rect">
            <a:avLst/>
          </a:prstGeom>
          <a:solidFill>
            <a:srgbClr val="1A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64008" cy="1417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O brasileiro ganha, gasta, e no fim do mês não sabe o que aconteceu com o dinheiro.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0136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4FF"/>
                </a:solidFill>
                <a:latin typeface="Calibri"/>
              </a:rPr>
              <a:t>Sem visibilidade real dos seus gastos, ele não consegue sair do vermelho, montar uma reserva, nem investir para o futuro — mesmo quando quer.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651760"/>
            <a:ext cx="3657600" cy="3931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7157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Pilar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990088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Calibri"/>
              </a:rPr>
              <a:t>Falta de
Visibilidade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584448"/>
            <a:ext cx="3657600" cy="274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365760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Calibri"/>
              </a:rPr>
              <a:t>Problema: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3895344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Não enxerga onde o
dinheiro vai em tempo real.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526280"/>
            <a:ext cx="3657600" cy="2743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459943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Calibri"/>
              </a:rPr>
              <a:t>Solução no protótipo: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837176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Dashboard central que
responde AGORA: "onde foi?"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486400"/>
            <a:ext cx="3657600" cy="3200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5532120"/>
            <a:ext cx="3657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Telas 3, 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60520" y="2651760"/>
            <a:ext cx="3657600" cy="3931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60520" y="27157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Pilar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2990088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Calibri"/>
              </a:rPr>
              <a:t>Falta de
Orientação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0520" y="3584448"/>
            <a:ext cx="3657600" cy="274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365760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Calibri"/>
              </a:rPr>
              <a:t>Problema: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3895344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Sabe que tem problema
mas não sabe o próximo passo.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60520" y="4526280"/>
            <a:ext cx="3657600" cy="2743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459943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Calibri"/>
              </a:rPr>
              <a:t>Solução no protótipo: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4837176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Alertas inteligentes,
plano de saída, metas.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60520" y="5486400"/>
            <a:ext cx="3657600" cy="3200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60520" y="5532120"/>
            <a:ext cx="3657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Telas 5, 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0" y="2651760"/>
            <a:ext cx="3657600" cy="39319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0" y="27157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Pilar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2990088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Calibri"/>
              </a:rPr>
              <a:t>Falta do
Momento Certo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3584448"/>
            <a:ext cx="3657600" cy="274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83880" y="365760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Calibri"/>
              </a:rPr>
              <a:t>Problema: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80" y="3895344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Educação financeira chega
tarde, fora do contexto.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0" y="4526280"/>
            <a:ext cx="3657600" cy="2743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83880" y="4599432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Calibri"/>
              </a:rPr>
              <a:t>Solução no protótipo: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3880" y="4837176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Insights inline, educação
no momento da ação.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46720" y="5486400"/>
            <a:ext cx="3657600" cy="3200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0" y="5532120"/>
            <a:ext cx="3657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Telas 4, 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0" y="6510528"/>
            <a:ext cx="1218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FinanceApp · Protótipo Web MVP v1.0.0 · 2026-05-11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0972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Arquitetura de Telas — MVP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7 telas · fluxo do usuário · personas atendidas por bloco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88720"/>
            <a:ext cx="2743200" cy="2377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2618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F172A"/>
                </a:solidFill>
                <a:latin typeface="Calibri"/>
              </a:rPr>
              <a:t>T1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673352"/>
            <a:ext cx="2743200" cy="274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73736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Landing
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2606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Todos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971800"/>
            <a:ext cx="2743200" cy="502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" y="30632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F172A"/>
                </a:solidFill>
                <a:latin typeface="Calibri"/>
              </a:rPr>
              <a:t>◀ clique para ver tela 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188720"/>
            <a:ext cx="2743200" cy="2377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12618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F172A"/>
                </a:solidFill>
                <a:latin typeface="Calibri"/>
              </a:rPr>
              <a:t>T2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1673352"/>
            <a:ext cx="2743200" cy="274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173736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Onboarding
Diagnóstico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606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P1–P5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2971800"/>
            <a:ext cx="2743200" cy="502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30632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F172A"/>
                </a:solidFill>
                <a:latin typeface="Calibri"/>
              </a:rPr>
              <a:t>◀ clique para ver tela 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1188720"/>
            <a:ext cx="2743200" cy="2377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12618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F172A"/>
                </a:solidFill>
                <a:latin typeface="Calibri"/>
              </a:rPr>
              <a:t>T3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1673352"/>
            <a:ext cx="2743200" cy="274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173736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Dashboard
«Onde foi?»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606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P1–P5, P8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2971800"/>
            <a:ext cx="2743200" cy="502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30632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F172A"/>
                </a:solidFill>
                <a:latin typeface="Calibri"/>
              </a:rPr>
              <a:t>◀ clique para ver tela 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3840480"/>
            <a:ext cx="2743200" cy="2377440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8600" y="39136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F172A"/>
                </a:solidFill>
                <a:latin typeface="Calibri"/>
              </a:rPr>
              <a:t>T4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4325112"/>
            <a:ext cx="2743200" cy="274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" y="438912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Análise de
Gastos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" y="5257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P1–P5, P8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5623560"/>
            <a:ext cx="2743200" cy="502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8600" y="5715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F172A"/>
                </a:solidFill>
                <a:latin typeface="Calibri"/>
              </a:rPr>
              <a:t>◀ clique para ver tela ▶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0" y="3840480"/>
            <a:ext cx="2743200" cy="2377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0" y="39136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F172A"/>
                </a:solidFill>
                <a:latin typeface="Calibri"/>
              </a:rPr>
              <a:t>T5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0" y="4325112"/>
            <a:ext cx="2743200" cy="274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0" y="438912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Alerta
Inteligente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5257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P2, P1, P5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0" y="5623560"/>
            <a:ext cx="2743200" cy="502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0" y="5715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F172A"/>
                </a:solidFill>
                <a:latin typeface="Calibri"/>
              </a:rPr>
              <a:t>◀ clique para ver tela ▶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72200" y="3840480"/>
            <a:ext cx="2743200" cy="237744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72200" y="39136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F172A"/>
                </a:solidFill>
                <a:latin typeface="Calibri"/>
              </a:rPr>
              <a:t>T6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4325112"/>
            <a:ext cx="2743200" cy="274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72200" y="438912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Metas e
Reserva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72200" y="5257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P1, P3, P4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72200" y="5623560"/>
            <a:ext cx="2743200" cy="502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72200" y="5715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F172A"/>
                </a:solidFill>
                <a:latin typeface="Calibri"/>
              </a:rPr>
              <a:t>◀ clique para ver tela ▶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00" y="1188720"/>
            <a:ext cx="2743200" cy="2377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0" y="12618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F172A"/>
                </a:solidFill>
                <a:latin typeface="Calibri"/>
              </a:rPr>
              <a:t>T7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44000" y="1673352"/>
            <a:ext cx="2743200" cy="274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44000" y="173736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Educação
Contextual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0" y="2606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P1–P4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0" y="2971800"/>
            <a:ext cx="2743200" cy="502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44000" y="30632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F172A"/>
                </a:solidFill>
                <a:latin typeface="Calibri"/>
              </a:rPr>
              <a:t>◀ clique para ver tela ▶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71800" y="2377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97316"/>
                </a:solidFill>
                <a:latin typeface="Calibri"/>
              </a:rPr>
              <a:t>→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0" y="2377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97316"/>
                </a:solidFill>
                <a:latin typeface="Calibri"/>
              </a:rPr>
              <a:t>→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15400" y="2377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97316"/>
                </a:solidFill>
                <a:latin typeface="Calibri"/>
              </a:rPr>
              <a:t>→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8600" y="3611880"/>
            <a:ext cx="9601200" cy="164592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60" y="3621024"/>
            <a:ext cx="932688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97316"/>
                </a:solidFill>
                <a:latin typeface="Calibri"/>
              </a:rPr>
              <a:t>▶  Loop de uso contínuo (abre app → vê dashboard → age)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0" y="6510528"/>
            <a:ext cx="1218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FinanceApp · Protótipo Web MVP v1.0.0 · 2026-05-11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118872"/>
            <a:ext cx="512064" cy="685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46304"/>
            <a:ext cx="51206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Calibri"/>
              </a:rPr>
              <a:t>T1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8872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Landing Page — Entrada Pública</a:t>
            </a:r>
          </a:p>
        </p:txBody>
      </p:sp>
      <p:sp>
        <p:nvSpPr>
          <p:cNvPr id="7" name="Rectangle 6"/>
          <p:cNvSpPr/>
          <p:nvPr/>
        </p:nvSpPr>
        <p:spPr>
          <a:xfrm>
            <a:off x="8778240" y="182880"/>
            <a:ext cx="731520" cy="228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23960" y="210312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P1</a:t>
            </a:r>
          </a:p>
        </p:txBody>
      </p:sp>
      <p:sp>
        <p:nvSpPr>
          <p:cNvPr id="9" name="Rectangle 8"/>
          <p:cNvSpPr/>
          <p:nvPr/>
        </p:nvSpPr>
        <p:spPr>
          <a:xfrm>
            <a:off x="9582912" y="182880"/>
            <a:ext cx="731520" cy="228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28632" y="210312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87584" y="182880"/>
            <a:ext cx="731520" cy="228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33304" y="210312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192256" y="182880"/>
            <a:ext cx="731520" cy="228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37976" y="210312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996928" y="182880"/>
            <a:ext cx="731520" cy="228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42648" y="210312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801600" y="182880"/>
            <a:ext cx="1152144" cy="228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56464" y="210312"/>
            <a:ext cx="10789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Visibilidade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960120"/>
            <a:ext cx="11823192" cy="4983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2880" y="960120"/>
            <a:ext cx="11823192" cy="30175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1051560"/>
            <a:ext cx="118872" cy="118872"/>
          </a:xfrm>
          <a:prstGeom prst="rect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051560"/>
            <a:ext cx="118872" cy="118872"/>
          </a:xfrm>
          <a:prstGeom prst="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1051560"/>
            <a:ext cx="118872" cy="118872"/>
          </a:xfrm>
          <a:prstGeom prst="rect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2688" y="1014984"/>
            <a:ext cx="10588752" cy="192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1024128"/>
            <a:ext cx="10497312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Calibri"/>
              </a:rPr>
              <a:t>financeapp.com.br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1261872"/>
            <a:ext cx="11823192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131673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84FF"/>
                </a:solidFill>
                <a:latin typeface="Calibri"/>
              </a:rPr>
              <a:t>FinanceApp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134416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  <a:latin typeface="Calibri"/>
              </a:rPr>
              <a:t>Como funciona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134416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  <a:latin typeface="Calibri"/>
              </a:rPr>
              <a:t>Para quem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134416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  <a:latin typeface="Calibri"/>
              </a:rPr>
              <a:t>Preços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588751" y="1325880"/>
            <a:ext cx="1234440" cy="219456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88751" y="1344168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Começar grátis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" y="1609344"/>
            <a:ext cx="11823192" cy="2286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1792224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Você sabe para onde foi o seu dinheiro este mês?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2596896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48% dos brasileiros não controlam seus gastos. 82,8 milhões têm CPF negativado. O problema começa sempre no mesmo lugar.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273552"/>
            <a:ext cx="1645920" cy="24688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31927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Calibri"/>
              </a:rPr>
              <a:t>Ver meu diagnóstico grátis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0" y="3273552"/>
            <a:ext cx="1188720" cy="246888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86000" y="331927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Ver como funciona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65592" y="1746504"/>
            <a:ext cx="3657600" cy="2011680"/>
          </a:xfrm>
          <a:prstGeom prst="rect">
            <a:avLst/>
          </a:prstGeom>
          <a:solidFill>
            <a:srgbClr val="1A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02751" y="1837944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F4444"/>
                </a:solidFill>
                <a:latin typeface="Calibri"/>
              </a:rPr>
              <a:t>82,8M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82911" y="192938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com CPF negativado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02751" y="2432304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9E0B"/>
                </a:solidFill>
                <a:latin typeface="Calibri"/>
              </a:rPr>
              <a:t>80,9%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82911" y="25237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das famílias endividadas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02751" y="3026664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97316"/>
                </a:solidFill>
                <a:latin typeface="Calibri"/>
              </a:rPr>
              <a:t>48%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82911" y="311810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sem controle dos gastos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2880" y="3986783"/>
            <a:ext cx="1182319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4032503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Como funciona em 3 passos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4288536"/>
            <a:ext cx="3758183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74320" y="4288536"/>
            <a:ext cx="3758183" cy="45720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11480" y="4398264"/>
            <a:ext cx="274320" cy="274320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398264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" y="4434840"/>
            <a:ext cx="316382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Conecte seu banco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4764023"/>
            <a:ext cx="352958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Open Finance: conecta em 2 minutos.
Sem digitar uma senha.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1480" y="5641848"/>
            <a:ext cx="3483863" cy="2468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1480" y="5687568"/>
            <a:ext cx="348386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64748B"/>
                </a:solidFill>
                <a:latin typeface="Calibri"/>
              </a:rPr>
              <a:t>Saiba mais →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61103" y="4288536"/>
            <a:ext cx="3758183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261103" y="4288536"/>
            <a:ext cx="3758183" cy="457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398264" y="4398264"/>
            <a:ext cx="274320" cy="2743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398264" y="4398264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64023" y="4434840"/>
            <a:ext cx="316382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Veja o diagnóstico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98264" y="4764023"/>
            <a:ext cx="352958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Em segundos veja onde
seu dinheiro foi este mês.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398264" y="5641848"/>
            <a:ext cx="3483863" cy="2468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398264" y="5687568"/>
            <a:ext cx="348386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64748B"/>
                </a:solidFill>
                <a:latin typeface="Calibri"/>
              </a:rPr>
              <a:t>Saiba mais →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47887" y="4288536"/>
            <a:ext cx="3758183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247887" y="4288536"/>
            <a:ext cx="3758183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385047" y="4398264"/>
            <a:ext cx="274320" cy="2743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85047" y="4398264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50807" y="4434840"/>
            <a:ext cx="316382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Tome o controle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85047" y="4764023"/>
            <a:ext cx="352958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Metas, alertas e plano
de ação personalizado.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385047" y="5641848"/>
            <a:ext cx="3483863" cy="2468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385047" y="5687568"/>
            <a:ext cx="348386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64748B"/>
                </a:solidFill>
                <a:latin typeface="Calibri"/>
              </a:rPr>
              <a:t>Saiba mais →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5989320"/>
            <a:ext cx="12188952" cy="54864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0" y="5989320"/>
            <a:ext cx="54864" cy="548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37160" y="6044183"/>
            <a:ext cx="3880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F4444"/>
                </a:solidFill>
                <a:latin typeface="Calibri"/>
              </a:rPr>
              <a:t>🎯  Pain Point atacado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37160" y="6281928"/>
            <a:ext cx="3880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Visibilidade — mostra que o problema existe ANTES do login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062984" y="5989320"/>
            <a:ext cx="54864" cy="5486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200144" y="6044183"/>
            <a:ext cx="3880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5CF6"/>
                </a:solidFill>
                <a:latin typeface="Calibri"/>
              </a:rPr>
              <a:t>👤  Personas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200144" y="6281928"/>
            <a:ext cx="3880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Todos os perfis · entrada universal do produto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125968" y="5989320"/>
            <a:ext cx="54864" cy="54864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63128" y="6044183"/>
            <a:ext cx="3880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D48A"/>
                </a:solidFill>
                <a:latin typeface="Calibri"/>
              </a:rPr>
              <a:t>✅  Princípio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63128" y="6281928"/>
            <a:ext cx="3880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Problem Statement visível no hero em &lt;3 segundos de leitura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0" y="6510528"/>
            <a:ext cx="1218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FinanceApp · Protótipo Web MVP v1.0.0 · 2026-05-11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118872"/>
            <a:ext cx="512064" cy="685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46304"/>
            <a:ext cx="51206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Calibri"/>
              </a:rPr>
              <a:t>T2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8872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Onboarding — Diagnóstico Imediato</a:t>
            </a:r>
          </a:p>
        </p:txBody>
      </p:sp>
      <p:sp>
        <p:nvSpPr>
          <p:cNvPr id="7" name="Rectangle 6"/>
          <p:cNvSpPr/>
          <p:nvPr/>
        </p:nvSpPr>
        <p:spPr>
          <a:xfrm>
            <a:off x="8778240" y="182880"/>
            <a:ext cx="731520" cy="228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23960" y="210312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P1</a:t>
            </a:r>
          </a:p>
        </p:txBody>
      </p:sp>
      <p:sp>
        <p:nvSpPr>
          <p:cNvPr id="9" name="Rectangle 8"/>
          <p:cNvSpPr/>
          <p:nvPr/>
        </p:nvSpPr>
        <p:spPr>
          <a:xfrm>
            <a:off x="9582912" y="182880"/>
            <a:ext cx="731520" cy="228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28632" y="210312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87584" y="182880"/>
            <a:ext cx="731520" cy="228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33304" y="210312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192256" y="182880"/>
            <a:ext cx="731520" cy="228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37976" y="210312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996928" y="182880"/>
            <a:ext cx="731520" cy="228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42648" y="210312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801600" y="182880"/>
            <a:ext cx="1152144" cy="228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56464" y="210312"/>
            <a:ext cx="10789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Visibilidade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960120"/>
            <a:ext cx="11823192" cy="4983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2880" y="960120"/>
            <a:ext cx="11823192" cy="30175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1051560"/>
            <a:ext cx="118872" cy="118872"/>
          </a:xfrm>
          <a:prstGeom prst="rect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051560"/>
            <a:ext cx="118872" cy="118872"/>
          </a:xfrm>
          <a:prstGeom prst="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1051560"/>
            <a:ext cx="118872" cy="118872"/>
          </a:xfrm>
          <a:prstGeom prst="rect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2688" y="1014984"/>
            <a:ext cx="10588752" cy="192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1024128"/>
            <a:ext cx="10497312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Calibri"/>
              </a:rPr>
              <a:t>financeapp.com.br/entrar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1261872"/>
            <a:ext cx="11823192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131673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84FF"/>
                </a:solidFill>
                <a:latin typeface="Calibri"/>
              </a:rPr>
              <a:t>FinanceApp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134416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  <a:latin typeface="Calibri"/>
              </a:rPr>
              <a:t>Como funciona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134416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  <a:latin typeface="Calibri"/>
              </a:rPr>
              <a:t>Para quem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134416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4FF"/>
                </a:solidFill>
                <a:latin typeface="Calibri"/>
              </a:rPr>
              <a:t>Preços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588751" y="1325880"/>
            <a:ext cx="1234440" cy="219456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88751" y="1344168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Começar grátis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" y="1609344"/>
            <a:ext cx="11823192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82880" y="1609344"/>
            <a:ext cx="2955798" cy="2743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1664208"/>
            <a:ext cx="281863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F172A"/>
                </a:solidFill>
                <a:latin typeface="Calibri"/>
              </a:rPr>
              <a:t>1. Criar conta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38678" y="1609344"/>
            <a:ext cx="2955798" cy="2743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30118" y="1664208"/>
            <a:ext cx="281863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F172A"/>
                </a:solidFill>
                <a:latin typeface="Calibri"/>
              </a:rPr>
              <a:t>2. Conectar banco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94476" y="1609344"/>
            <a:ext cx="2955798" cy="274320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85916" y="1664208"/>
            <a:ext cx="281863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Calibri"/>
              </a:rPr>
              <a:t>3. Ver diagnóstico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50274" y="1609344"/>
            <a:ext cx="2955798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1713" y="1664208"/>
            <a:ext cx="281863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Calibri"/>
              </a:rPr>
              <a:t>4. Definir meta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1956816"/>
            <a:ext cx="5029200" cy="4160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2084832"/>
            <a:ext cx="4709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Conecte seu banco em 2 minutos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2523744"/>
            <a:ext cx="4709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Via Open Finance — o mesmo padrão do Banco Central. Seus dados ficam criptografados e você pode revogar o acesso a qualquer hora.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3209544"/>
            <a:ext cx="1417320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3337560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F172A"/>
                </a:solidFill>
                <a:latin typeface="Calibri"/>
              </a:rPr>
              <a:t>Nubank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21408" y="3209544"/>
            <a:ext cx="1417320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21408" y="3337560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F172A"/>
                </a:solidFill>
                <a:latin typeface="Calibri"/>
              </a:rPr>
              <a:t>Itaú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94176" y="3209544"/>
            <a:ext cx="1417320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94176" y="3337560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F172A"/>
                </a:solidFill>
                <a:latin typeface="Calibri"/>
              </a:rPr>
              <a:t>Bradesco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3849624"/>
            <a:ext cx="1417320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3977639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F172A"/>
                </a:solidFill>
                <a:latin typeface="Calibri"/>
              </a:rPr>
              <a:t>Caixa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121408" y="3849624"/>
            <a:ext cx="1417320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121408" y="3977639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F172A"/>
                </a:solidFill>
                <a:latin typeface="Calibri"/>
              </a:rPr>
              <a:t>Inter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94176" y="3849624"/>
            <a:ext cx="1417320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94176" y="3977639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F172A"/>
                </a:solidFill>
                <a:latin typeface="Calibri"/>
              </a:rPr>
              <a:t>Santander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" y="4764024"/>
            <a:ext cx="4663440" cy="246888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" y="4809744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Conectar via Open Finance →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5102352"/>
            <a:ext cx="4709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Calibri"/>
              </a:rPr>
              <a:t>🔒  Conexão segura · Banco Central · Revogar a qualquer momento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52160" y="1956816"/>
            <a:ext cx="5971031" cy="4160520"/>
          </a:xfrm>
          <a:prstGeom prst="rect">
            <a:avLst/>
          </a:prstGeom>
          <a:solidFill>
            <a:srgbClr val="051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852160" y="1956816"/>
            <a:ext cx="5971031" cy="457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035040" y="2066544"/>
            <a:ext cx="5696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8A"/>
                </a:solidFill>
                <a:latin typeface="Calibri"/>
              </a:rPr>
              <a:t>Seu diagnóstico de abril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35040" y="2414016"/>
            <a:ext cx="5696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Em abril você gastou...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35040" y="2688336"/>
            <a:ext cx="56967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R$ 3.847,00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35040" y="3328416"/>
            <a:ext cx="56967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em 127 transações  ·  Você sabia disso?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35040" y="369417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  <a:latin typeface="Calibri"/>
              </a:rPr>
              <a:t>Alimentação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949440" y="3739896"/>
            <a:ext cx="4005072" cy="1188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949440" y="3739896"/>
            <a:ext cx="1121420" cy="11887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000232" y="3694176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0F172A"/>
                </a:solidFill>
                <a:latin typeface="Calibri"/>
              </a:rPr>
              <a:t>R$1.077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35040" y="3977639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  <a:latin typeface="Calibri"/>
              </a:rPr>
              <a:t>Moradia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949440" y="4023359"/>
            <a:ext cx="4005072" cy="1188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949440" y="4023359"/>
            <a:ext cx="1001268" cy="118872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1000232" y="3977639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0F172A"/>
                </a:solidFill>
                <a:latin typeface="Calibri"/>
              </a:rPr>
              <a:t>R$962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035040" y="426110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  <a:latin typeface="Calibri"/>
              </a:rPr>
              <a:t>Transporte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949440" y="4306824"/>
            <a:ext cx="4005072" cy="1188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949440" y="4306824"/>
            <a:ext cx="600760" cy="11887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1000232" y="4261104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0F172A"/>
                </a:solidFill>
                <a:latin typeface="Calibri"/>
              </a:rPr>
              <a:t>R$577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035040" y="45445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  <a:latin typeface="Calibri"/>
              </a:rPr>
              <a:t>Lazer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949440" y="4590288"/>
            <a:ext cx="4005072" cy="1188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949440" y="4590288"/>
            <a:ext cx="480608" cy="1188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1000232" y="454456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0F172A"/>
                </a:solidFill>
                <a:latin typeface="Calibri"/>
              </a:rPr>
              <a:t>R$462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035040" y="48280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  <a:latin typeface="Calibri"/>
              </a:rPr>
              <a:t>Cartão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949440" y="4873752"/>
            <a:ext cx="4005072" cy="1188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949440" y="4873752"/>
            <a:ext cx="801014" cy="1188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1000232" y="4828032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0F172A"/>
                </a:solidFill>
                <a:latin typeface="Calibri"/>
              </a:rPr>
              <a:t>R$769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35040" y="5193792"/>
            <a:ext cx="56967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9E0B"/>
                </a:solidFill>
                <a:latin typeface="Calibri"/>
              </a:rPr>
              <a:t>💡  Você gasta 23% acima da média no delivery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035040" y="5468112"/>
            <a:ext cx="5650992" cy="24688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035040" y="5513832"/>
            <a:ext cx="56509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Calibri"/>
              </a:rPr>
              <a:t>Entender e definir minha 1ª meta →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5989320"/>
            <a:ext cx="12188952" cy="54864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0" y="5989320"/>
            <a:ext cx="54864" cy="54864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37160" y="6044183"/>
            <a:ext cx="3880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D48A"/>
                </a:solidFill>
                <a:latin typeface="Calibri"/>
              </a:rPr>
              <a:t>⚡  Aha moment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37160" y="6281928"/>
            <a:ext cx="3880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Usuário vê onde foi seu dinheiro em &lt;30 seg após conectar o banco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062984" y="5989320"/>
            <a:ext cx="54864" cy="548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200144" y="6044183"/>
            <a:ext cx="3880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F4444"/>
                </a:solidFill>
                <a:latin typeface="Calibri"/>
              </a:rPr>
              <a:t>🎯  Dor atacada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200144" y="6281928"/>
            <a:ext cx="3880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Dor #1: não saber para onde o dinheiro vai — resolvida no onboarding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125968" y="5989320"/>
            <a:ext cx="54864" cy="5486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263128" y="6044183"/>
            <a:ext cx="3880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5CF6"/>
                </a:solidFill>
                <a:latin typeface="Calibri"/>
              </a:rPr>
              <a:t>👤  Personas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263128" y="6281928"/>
            <a:ext cx="3880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P1 Jovem · P2 Endividado · P3 Iniciante · P4 Mulher · P5 Profissional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0" y="6510528"/>
            <a:ext cx="1218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FinanceApp · Protótipo Web MVP v1.0.0 · 2026-05-11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118872"/>
            <a:ext cx="512064" cy="685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46304"/>
            <a:ext cx="51206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Calibri"/>
              </a:rPr>
              <a:t>T3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8872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Dashboard — «Onde foi meu dinheiro?»  ★ CORE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8778240" y="182880"/>
            <a:ext cx="731520" cy="228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23960" y="210312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P1</a:t>
            </a:r>
          </a:p>
        </p:txBody>
      </p:sp>
      <p:sp>
        <p:nvSpPr>
          <p:cNvPr id="9" name="Rectangle 8"/>
          <p:cNvSpPr/>
          <p:nvPr/>
        </p:nvSpPr>
        <p:spPr>
          <a:xfrm>
            <a:off x="9582912" y="182880"/>
            <a:ext cx="731520" cy="228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28632" y="210312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87584" y="182880"/>
            <a:ext cx="731520" cy="228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33304" y="210312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192256" y="182880"/>
            <a:ext cx="731520" cy="228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37976" y="210312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996928" y="182880"/>
            <a:ext cx="731520" cy="228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42648" y="210312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801600" y="182880"/>
            <a:ext cx="731520" cy="228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47320" y="210312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606272" y="182880"/>
            <a:ext cx="713232" cy="228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661136" y="210312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Dor #1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960120"/>
            <a:ext cx="11823192" cy="4983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2880" y="960120"/>
            <a:ext cx="11823192" cy="30175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1051560"/>
            <a:ext cx="118872" cy="118872"/>
          </a:xfrm>
          <a:prstGeom prst="rect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1051560"/>
            <a:ext cx="118872" cy="118872"/>
          </a:xfrm>
          <a:prstGeom prst="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1051560"/>
            <a:ext cx="118872" cy="118872"/>
          </a:xfrm>
          <a:prstGeom prst="rect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2688" y="1014984"/>
            <a:ext cx="10588752" cy="192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" y="1024128"/>
            <a:ext cx="10497312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Calibri"/>
              </a:rPr>
              <a:t>app.financeapp.com.br/dashboard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261872"/>
            <a:ext cx="11823192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131673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84FF"/>
                </a:solidFill>
                <a:latin typeface="Calibri"/>
              </a:rPr>
              <a:t>FinanceApp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20" y="134416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D48A"/>
                </a:solidFill>
                <a:latin typeface="Calibri"/>
              </a:rPr>
              <a:t>Início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134416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Calibri"/>
              </a:rPr>
              <a:t>Gastos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134416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Calibri"/>
              </a:rPr>
              <a:t>Investimentos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134416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Calibri"/>
              </a:rPr>
              <a:t>Metas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79" y="134416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Calibri"/>
              </a:rPr>
              <a:t>Educação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567159" y="1316736"/>
            <a:ext cx="237744" cy="237744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567159" y="1325880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Calibri"/>
              </a:rPr>
              <a:t>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56263" y="1325880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Calibri"/>
              </a:rPr>
              <a:t>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" y="1609344"/>
            <a:ext cx="1691640" cy="433425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82880" y="1609344"/>
            <a:ext cx="1691640" cy="548640"/>
          </a:xfrm>
          <a:prstGeom prst="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0040" y="1719072"/>
            <a:ext cx="310896" cy="310896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1728216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Calibri"/>
              </a:rPr>
              <a:t>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" y="170992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Ana Souza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" y="19202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D48A"/>
                </a:solidFill>
                <a:latin typeface="Calibri"/>
              </a:rPr>
              <a:t>Saúde: 68/100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" y="2231136"/>
            <a:ext cx="1691640" cy="310896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" y="2295144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▸ Dashboard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2633472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  Gastos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" y="2971800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  Investimentos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" y="331012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  Metas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040" y="3648456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  Relatórios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" y="3986784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  Configurações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874520" y="1609344"/>
            <a:ext cx="10131552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984248" y="1645920"/>
            <a:ext cx="743407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C2626"/>
                </a:solidFill>
                <a:latin typeface="Calibri"/>
              </a:rPr>
              <a:t>⚠  Fatura Nubank vence em 3 dias · R$ 1.847,50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588752" y="1627632"/>
            <a:ext cx="1280160" cy="24688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588752" y="1673352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Ver fatura →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74520" y="1911096"/>
            <a:ext cx="10131552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874520" y="1911096"/>
            <a:ext cx="54864" cy="8229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984248" y="1965960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Em maio, você gastou...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984248" y="2203704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R$ 4.230,00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984248" y="2642616"/>
            <a:ext cx="6858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de R$ 6.000 disponíveis  ·  11 dias restantes  ·  R$ 161/dia para manter o ritmo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84248" y="2807208"/>
            <a:ext cx="5451652" cy="10972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984248" y="2807208"/>
            <a:ext cx="3843415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634142" y="2807208"/>
            <a:ext cx="37665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45A09"/>
                </a:solidFill>
                <a:latin typeface="Calibri"/>
              </a:rPr>
              <a:t>70% do orçamento usado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74520" y="2990088"/>
            <a:ext cx="2404872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965960" y="3063240"/>
            <a:ext cx="222199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5B072"/>
                </a:solidFill>
                <a:latin typeface="Calibri"/>
              </a:rPr>
              <a:t>R$ 1.770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965960" y="3465576"/>
            <a:ext cx="22219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Disponível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965960" y="3648456"/>
            <a:ext cx="22219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5B072"/>
                </a:solidFill>
                <a:latin typeface="Calibri"/>
              </a:rPr>
              <a:t>≈ R$161/dia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370832" y="2990088"/>
            <a:ext cx="2404872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462272" y="3063240"/>
            <a:ext cx="222199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84FF"/>
                </a:solidFill>
                <a:latin typeface="Calibri"/>
              </a:rPr>
              <a:t>R$ 6.000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462272" y="3465576"/>
            <a:ext cx="22219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Entradas maio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867144" y="2990088"/>
            <a:ext cx="2404872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958583" y="3063240"/>
            <a:ext cx="222199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DC2626"/>
                </a:solidFill>
                <a:latin typeface="Calibri"/>
              </a:rPr>
              <a:t>R$ 4.230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58583" y="3465576"/>
            <a:ext cx="22219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Gastos maio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958583" y="3648456"/>
            <a:ext cx="22219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C2626"/>
                </a:solidFill>
                <a:latin typeface="Calibri"/>
              </a:rPr>
              <a:t>▲ 8% vs abr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363456" y="2990088"/>
            <a:ext cx="2404872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454896" y="3063240"/>
            <a:ext cx="222199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8B5CF6"/>
                </a:solidFill>
                <a:latin typeface="Calibri"/>
              </a:rPr>
              <a:t>R$ 850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454896" y="3465576"/>
            <a:ext cx="22219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Investido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454896" y="3648456"/>
            <a:ext cx="22219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B5CF6"/>
                </a:solidFill>
                <a:latin typeface="Calibri"/>
              </a:rPr>
              <a:t>Meta: R$1.200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74520" y="3886200"/>
            <a:ext cx="5264017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984248" y="3959352"/>
            <a:ext cx="515428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Onde foi?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984248" y="4261104"/>
            <a:ext cx="1005840" cy="207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  <a:latin typeface="Calibri"/>
              </a:rPr>
              <a:t>Alimentação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990088" y="4306824"/>
            <a:ext cx="3279769" cy="9753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990088" y="4306824"/>
            <a:ext cx="918335" cy="9753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315577" y="4261104"/>
            <a:ext cx="685800" cy="207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0F172A"/>
                </a:solidFill>
                <a:latin typeface="Calibri"/>
              </a:rPr>
              <a:t>R$1.189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984248" y="4523232"/>
            <a:ext cx="1005840" cy="207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  <a:latin typeface="Calibri"/>
              </a:rPr>
              <a:t>Moradia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990088" y="4568952"/>
            <a:ext cx="3279769" cy="9753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990088" y="4568952"/>
            <a:ext cx="819942" cy="97536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315577" y="4523232"/>
            <a:ext cx="685800" cy="207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0F172A"/>
                </a:solidFill>
                <a:latin typeface="Calibri"/>
              </a:rPr>
              <a:t>R$1.058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984248" y="4785360"/>
            <a:ext cx="1005840" cy="207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  <a:latin typeface="Calibri"/>
              </a:rPr>
              <a:t>Transporte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990088" y="4831080"/>
            <a:ext cx="3279769" cy="9753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990088" y="4831080"/>
            <a:ext cx="491965" cy="9753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15577" y="4785360"/>
            <a:ext cx="685800" cy="207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0F172A"/>
                </a:solidFill>
                <a:latin typeface="Calibri"/>
              </a:rPr>
              <a:t>R$635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984248" y="5047488"/>
            <a:ext cx="1005840" cy="207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  <a:latin typeface="Calibri"/>
              </a:rPr>
              <a:t>Lazer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990088" y="5093208"/>
            <a:ext cx="3279769" cy="9753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2990088" y="5093208"/>
            <a:ext cx="393572" cy="9753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315577" y="5047488"/>
            <a:ext cx="685800" cy="207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0F172A"/>
                </a:solidFill>
                <a:latin typeface="Calibri"/>
              </a:rPr>
              <a:t>R$508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984248" y="5309616"/>
            <a:ext cx="1005840" cy="207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  <a:latin typeface="Calibri"/>
              </a:rPr>
              <a:t>Assinaturas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990088" y="5355336"/>
            <a:ext cx="3279769" cy="9753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2990088" y="5355336"/>
            <a:ext cx="262381" cy="9753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315577" y="5309616"/>
            <a:ext cx="685800" cy="207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0F172A"/>
                </a:solidFill>
                <a:latin typeface="Calibri"/>
              </a:rPr>
              <a:t>R$338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984248" y="5571744"/>
            <a:ext cx="1005840" cy="207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  <a:latin typeface="Calibri"/>
              </a:rPr>
              <a:t>Outros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990088" y="5617464"/>
            <a:ext cx="3279769" cy="9753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2990088" y="5617464"/>
            <a:ext cx="393572" cy="9753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315577" y="5571744"/>
            <a:ext cx="685800" cy="207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0F172A"/>
                </a:solidFill>
                <a:latin typeface="Calibri"/>
              </a:rPr>
              <a:t>R$502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202545" y="3886200"/>
            <a:ext cx="4712086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248265" y="3959352"/>
            <a:ext cx="457492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Insights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248265" y="4270248"/>
            <a:ext cx="4556638" cy="65836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339705" y="4325112"/>
            <a:ext cx="443776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45A09"/>
                </a:solidFill>
                <a:latin typeface="Calibri"/>
              </a:rPr>
              <a:t>🍕  Delivery +23% vs abril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339705" y="4581144"/>
            <a:ext cx="443776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R$487 em 31 pedidos este mês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248265" y="5001768"/>
            <a:ext cx="4556638" cy="658368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339705" y="5056631"/>
            <a:ext cx="443776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Calibri"/>
              </a:rPr>
              <a:t>💳  3 assinaturas não utilizadas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339705" y="5312664"/>
            <a:ext cx="443776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Netflix Família · Gym · R$198/mês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248265" y="5733288"/>
            <a:ext cx="4556638" cy="658368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339705" y="5788151"/>
            <a:ext cx="443776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5B072"/>
                </a:solidFill>
                <a:latin typeface="Calibri"/>
              </a:rPr>
              <a:t>✅  Você investiu R$850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339705" y="6044183"/>
            <a:ext cx="443776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Meta de R$1.200 · faltam R$350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0" y="5989320"/>
            <a:ext cx="12188952" cy="54864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0" y="5989320"/>
            <a:ext cx="54864" cy="548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37160" y="6044183"/>
            <a:ext cx="3880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F4444"/>
                </a:solidFill>
                <a:latin typeface="Calibri"/>
              </a:rPr>
              <a:t>🎯  Pain Point Central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37160" y="6281928"/>
            <a:ext cx="3880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Responde "onde foi meu dinheiro?" em &lt;3 segundos de abertura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062984" y="5989320"/>
            <a:ext cx="54864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200144" y="6044183"/>
            <a:ext cx="3880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Calibri"/>
              </a:rPr>
              <a:t>💡  Insight contextual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200144" y="6281928"/>
            <a:ext cx="3880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Identifica anomalias (delivery +23%) antes que o usuário perceba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125968" y="5989320"/>
            <a:ext cx="54864" cy="548640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263128" y="6044183"/>
            <a:ext cx="3880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84FF"/>
                </a:solidFill>
                <a:latin typeface="Calibri"/>
              </a:rPr>
              <a:t>📊  Visão consolidada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263128" y="6281928"/>
            <a:ext cx="3880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Open Finance: todas as contas em um lugar (Pilar 1 + Pilar 2)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0" y="6510528"/>
            <a:ext cx="1218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FinanceApp · Protótipo Web MVP v1.0.0 · 2026-05-11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118872"/>
            <a:ext cx="512064" cy="685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46304"/>
            <a:ext cx="51206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Calibri"/>
              </a:rPr>
              <a:t>T4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8872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Análise de Gastos — Drill-down por Categoria</a:t>
            </a:r>
          </a:p>
        </p:txBody>
      </p:sp>
      <p:sp>
        <p:nvSpPr>
          <p:cNvPr id="7" name="Rectangle 6"/>
          <p:cNvSpPr/>
          <p:nvPr/>
        </p:nvSpPr>
        <p:spPr>
          <a:xfrm>
            <a:off x="8778240" y="182880"/>
            <a:ext cx="731520" cy="228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23960" y="210312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P1</a:t>
            </a:r>
          </a:p>
        </p:txBody>
      </p:sp>
      <p:sp>
        <p:nvSpPr>
          <p:cNvPr id="9" name="Rectangle 8"/>
          <p:cNvSpPr/>
          <p:nvPr/>
        </p:nvSpPr>
        <p:spPr>
          <a:xfrm>
            <a:off x="9582912" y="182880"/>
            <a:ext cx="731520" cy="228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28632" y="210312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87584" y="182880"/>
            <a:ext cx="731520" cy="228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33304" y="210312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192256" y="182880"/>
            <a:ext cx="731520" cy="228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37976" y="210312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996928" y="182880"/>
            <a:ext cx="1078992" cy="228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51792" y="21031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Dor #1 + #7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960120"/>
            <a:ext cx="11823192" cy="4983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2880" y="960120"/>
            <a:ext cx="11823192" cy="30175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1051560"/>
            <a:ext cx="118872" cy="118872"/>
          </a:xfrm>
          <a:prstGeom prst="rect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1051560"/>
            <a:ext cx="118872" cy="118872"/>
          </a:xfrm>
          <a:prstGeom prst="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1051560"/>
            <a:ext cx="118872" cy="118872"/>
          </a:xfrm>
          <a:prstGeom prst="rect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2688" y="1014984"/>
            <a:ext cx="10588752" cy="192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" y="1024128"/>
            <a:ext cx="10497312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Calibri"/>
              </a:rPr>
              <a:t>app.financeapp.com.br/gastos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1261872"/>
            <a:ext cx="11823192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131673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84FF"/>
                </a:solidFill>
                <a:latin typeface="Calibri"/>
              </a:rPr>
              <a:t>FinanceApp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20" y="134416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Calibri"/>
              </a:rPr>
              <a:t>Início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134416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D48A"/>
                </a:solidFill>
                <a:latin typeface="Calibri"/>
              </a:rPr>
              <a:t>Gastos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134416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Calibri"/>
              </a:rPr>
              <a:t>Investimentos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134416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Calibri"/>
              </a:rPr>
              <a:t>Metas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79" y="134416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Calibri"/>
              </a:rPr>
              <a:t>Educação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567159" y="1316736"/>
            <a:ext cx="237744" cy="237744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567159" y="1325880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Calibri"/>
              </a:rPr>
              <a:t>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56263" y="1325880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Calibri"/>
              </a:rPr>
              <a:t>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609344"/>
            <a:ext cx="1691640" cy="433425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82880" y="1609344"/>
            <a:ext cx="1691640" cy="548640"/>
          </a:xfrm>
          <a:prstGeom prst="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1719072"/>
            <a:ext cx="310896" cy="310896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1728216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Calibri"/>
              </a:rPr>
              <a:t>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" y="170992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Ana Souza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" y="19202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D48A"/>
                </a:solidFill>
                <a:latin typeface="Calibri"/>
              </a:rPr>
              <a:t>Saúde: 68/100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" y="2295144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  Dashboard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" y="2569464"/>
            <a:ext cx="1691640" cy="310896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2633472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▸ Gastos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" y="2971800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  Investimentos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" y="331012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  Metas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" y="3648456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  Relatórios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3986784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  Configurações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74520" y="1609344"/>
            <a:ext cx="1013155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984248" y="1673352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Análise de Gastos — Maio 2026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013448" y="1682496"/>
            <a:ext cx="658368" cy="21945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13448" y="1700784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Calibri"/>
              </a:rPr>
              <a:t>Jan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63256" y="1682496"/>
            <a:ext cx="658368" cy="21945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63256" y="1700784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Calibri"/>
              </a:rPr>
              <a:t>Fev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13064" y="1682496"/>
            <a:ext cx="658368" cy="21945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13064" y="1700784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Calibri"/>
              </a:rPr>
              <a:t>Mar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262872" y="1682496"/>
            <a:ext cx="658368" cy="21945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62872" y="1700784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Calibri"/>
              </a:rPr>
              <a:t>Abr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012680" y="1682496"/>
            <a:ext cx="658368" cy="219456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012680" y="1700784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Mai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762488" y="1682496"/>
            <a:ext cx="658368" cy="21945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762488" y="1700784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Calibri"/>
              </a:rPr>
              <a:t>Jun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874520" y="2011680"/>
            <a:ext cx="3578961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984248" y="2103120"/>
            <a:ext cx="346923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Por categoria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984248" y="2423160"/>
            <a:ext cx="914400" cy="438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  <a:latin typeface="Calibri"/>
              </a:rPr>
              <a:t>Alimentação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898648" y="2468880"/>
            <a:ext cx="1759305" cy="32918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898648" y="2468880"/>
            <a:ext cx="492605" cy="329183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703673" y="2423160"/>
            <a:ext cx="658368" cy="438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0F172A"/>
                </a:solidFill>
                <a:latin typeface="Calibri"/>
              </a:rPr>
              <a:t>R$1.189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984248" y="2916936"/>
            <a:ext cx="914400" cy="438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  <a:latin typeface="Calibri"/>
              </a:rPr>
              <a:t>Moradia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898648" y="2962656"/>
            <a:ext cx="1759305" cy="32918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898648" y="2962656"/>
            <a:ext cx="439826" cy="329183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703673" y="2916936"/>
            <a:ext cx="658368" cy="438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0F172A"/>
                </a:solidFill>
                <a:latin typeface="Calibri"/>
              </a:rPr>
              <a:t>R$1.058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984248" y="3410712"/>
            <a:ext cx="914400" cy="438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  <a:latin typeface="Calibri"/>
              </a:rPr>
              <a:t>Transporte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898648" y="3456432"/>
            <a:ext cx="1759305" cy="32918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898648" y="3456432"/>
            <a:ext cx="263895" cy="329183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703673" y="3410712"/>
            <a:ext cx="658368" cy="438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0F172A"/>
                </a:solidFill>
                <a:latin typeface="Calibri"/>
              </a:rPr>
              <a:t>R$635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984248" y="3904488"/>
            <a:ext cx="914400" cy="438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  <a:latin typeface="Calibri"/>
              </a:rPr>
              <a:t>Lazer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898648" y="3950208"/>
            <a:ext cx="1759305" cy="32918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898648" y="3950208"/>
            <a:ext cx="211116" cy="329183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703673" y="3904488"/>
            <a:ext cx="658368" cy="438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0F172A"/>
                </a:solidFill>
                <a:latin typeface="Calibri"/>
              </a:rPr>
              <a:t>R$508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984248" y="4398264"/>
            <a:ext cx="914400" cy="438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  <a:latin typeface="Calibri"/>
              </a:rPr>
              <a:t>Saúde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898648" y="4443983"/>
            <a:ext cx="1759305" cy="32918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898648" y="4443983"/>
            <a:ext cx="105558" cy="329183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703673" y="4398264"/>
            <a:ext cx="658368" cy="438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0F172A"/>
                </a:solidFill>
                <a:latin typeface="Calibri"/>
              </a:rPr>
              <a:t>R$253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984248" y="4892040"/>
            <a:ext cx="914400" cy="438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  <a:latin typeface="Calibri"/>
              </a:rPr>
              <a:t>Assinaturas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898648" y="4937760"/>
            <a:ext cx="1759305" cy="32918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898648" y="4937760"/>
            <a:ext cx="140744" cy="329183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703673" y="4892040"/>
            <a:ext cx="658368" cy="438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0F172A"/>
                </a:solidFill>
                <a:latin typeface="Calibri"/>
              </a:rPr>
              <a:t>R$338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984248" y="5385816"/>
            <a:ext cx="914400" cy="438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  <a:latin typeface="Calibri"/>
              </a:rPr>
              <a:t>Outros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898648" y="5431536"/>
            <a:ext cx="1759305" cy="32918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898648" y="5431536"/>
            <a:ext cx="105558" cy="329183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703673" y="5385816"/>
            <a:ext cx="658368" cy="438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0F172A"/>
                </a:solidFill>
                <a:latin typeface="Calibri"/>
              </a:rPr>
              <a:t>R$249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544921" y="2011680"/>
            <a:ext cx="3766596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654649" y="2103120"/>
            <a:ext cx="35837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Comparativo mensal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654649" y="2359152"/>
            <a:ext cx="35837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vs. abril ↓ melhorou  ↑ piorou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654649" y="26334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  <a:latin typeface="Calibri"/>
              </a:rPr>
              <a:t>Alimentação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825081" y="263347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  <a:latin typeface="Calibri"/>
              </a:rPr>
              <a:t>R$1.189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648041" y="263347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R$1.045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534278" y="2633472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DC2626"/>
                </a:solidFill>
                <a:latin typeface="Calibri"/>
              </a:rPr>
              <a:t>+13,8%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654649" y="29809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  <a:latin typeface="Calibri"/>
              </a:rPr>
              <a:t>Moradia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825081" y="298094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  <a:latin typeface="Calibri"/>
              </a:rPr>
              <a:t>R$1.058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648041" y="2980944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R$1.058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534278" y="2980944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Calibri"/>
              </a:rPr>
              <a:t>=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654649" y="332841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  <a:latin typeface="Calibri"/>
              </a:rPr>
              <a:t>Transporte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825081" y="3328416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  <a:latin typeface="Calibri"/>
              </a:rPr>
              <a:t>R$635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648041" y="3328416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R$710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534278" y="3328416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05B072"/>
                </a:solidFill>
                <a:latin typeface="Calibri"/>
              </a:rPr>
              <a:t>-10,6%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654649" y="36758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  <a:latin typeface="Calibri"/>
              </a:rPr>
              <a:t>Lazer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825081" y="367588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  <a:latin typeface="Calibri"/>
              </a:rPr>
              <a:t>R$508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648041" y="367588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R$420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534278" y="3675888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DC2626"/>
                </a:solidFill>
                <a:latin typeface="Calibri"/>
              </a:rPr>
              <a:t>+21,0%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654649" y="4023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  <a:latin typeface="Calibri"/>
              </a:rPr>
              <a:t>Saúde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825081" y="402336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  <a:latin typeface="Calibri"/>
              </a:rPr>
              <a:t>R$253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648041" y="402336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R$0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534278" y="4023360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B45A09"/>
                </a:solidFill>
                <a:latin typeface="Calibri"/>
              </a:rPr>
              <a:t>novo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654649" y="43708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  <a:latin typeface="Calibri"/>
              </a:rPr>
              <a:t>Assinaturas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825081" y="437083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  <a:latin typeface="Calibri"/>
              </a:rPr>
              <a:t>R$338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648041" y="437083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R$338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534278" y="4370832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Calibri"/>
              </a:rPr>
              <a:t>=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402958" y="2011680"/>
            <a:ext cx="2465953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512686" y="2103120"/>
            <a:ext cx="249338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Maiores gastos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512686" y="2414016"/>
            <a:ext cx="2273929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9512686" y="2414016"/>
            <a:ext cx="54864" cy="365760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640702" y="2487168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Calibri"/>
              </a:rPr>
              <a:t>Aluguel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661903" y="248716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Moradia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1420855" y="2487168"/>
            <a:ext cx="411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DC2626"/>
                </a:solidFill>
                <a:latin typeface="Calibri"/>
              </a:rPr>
              <a:t>R$1.058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9512686" y="2852928"/>
            <a:ext cx="2273929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9512686" y="2852928"/>
            <a:ext cx="54864" cy="3657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9640702" y="2926080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Calibri"/>
              </a:rPr>
              <a:t>Supermercado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661903" y="29260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Aliment.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1420855" y="2926080"/>
            <a:ext cx="411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DC2626"/>
                </a:solidFill>
                <a:latin typeface="Calibri"/>
              </a:rPr>
              <a:t>R$428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512686" y="3291840"/>
            <a:ext cx="2273929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9512686" y="3291840"/>
            <a:ext cx="54864" cy="365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640702" y="3364992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Calibri"/>
              </a:rPr>
              <a:t>iFood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0661903" y="336499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Lazer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1420855" y="3364992"/>
            <a:ext cx="411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DC2626"/>
                </a:solidFill>
                <a:latin typeface="Calibri"/>
              </a:rPr>
              <a:t>R$387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512686" y="3730752"/>
            <a:ext cx="2273929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9512686" y="3730752"/>
            <a:ext cx="54864" cy="3657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9640702" y="3803904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Calibri"/>
              </a:rPr>
              <a:t>Farmácia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661903" y="380390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Saúde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1420855" y="3803904"/>
            <a:ext cx="411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DC2626"/>
                </a:solidFill>
                <a:latin typeface="Calibri"/>
              </a:rPr>
              <a:t>R$253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9512686" y="4169664"/>
            <a:ext cx="2273929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9512686" y="4169664"/>
            <a:ext cx="54864" cy="3657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640702" y="42428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Calibri"/>
              </a:rPr>
              <a:t>Uber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0661903" y="424281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Transp.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1420855" y="4242816"/>
            <a:ext cx="411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DC2626"/>
                </a:solidFill>
                <a:latin typeface="Calibri"/>
              </a:rPr>
              <a:t>R$212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9512686" y="4608576"/>
            <a:ext cx="2273929" cy="3657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9512686" y="4608576"/>
            <a:ext cx="54864" cy="365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9640702" y="4681728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Calibri"/>
              </a:rPr>
              <a:t>Netflix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661903" y="46817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Assin.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1420855" y="4681728"/>
            <a:ext cx="411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DC2626"/>
                </a:solidFill>
                <a:latin typeface="Calibri"/>
              </a:rPr>
              <a:t>R$59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0" y="5989320"/>
            <a:ext cx="12188952" cy="54864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0" y="5989320"/>
            <a:ext cx="54864" cy="548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37160" y="6044183"/>
            <a:ext cx="3880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F4444"/>
                </a:solidFill>
                <a:latin typeface="Calibri"/>
              </a:rPr>
              <a:t>🎯  Dores atacadas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37160" y="6281928"/>
            <a:ext cx="3880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#1 Não saber onde foi · #7 Impulsos (drill-down mostra os culpados)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062984" y="5989320"/>
            <a:ext cx="54864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200144" y="6044183"/>
            <a:ext cx="3880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Calibri"/>
              </a:rPr>
              <a:t>💡  Insight chave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200144" y="6281928"/>
            <a:ext cx="3880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Comparativo mensal mostra evolução — usuário vê progresso ou regressão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8125968" y="5989320"/>
            <a:ext cx="54864" cy="5486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263128" y="6044183"/>
            <a:ext cx="3880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5CF6"/>
                </a:solidFill>
                <a:latin typeface="Calibri"/>
              </a:rPr>
              <a:t>👤  Personas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263128" y="6281928"/>
            <a:ext cx="3880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P1 Jovem · P2 Endividado · P3 Iniciante · P5 Profissional Ocupado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0" y="6510528"/>
            <a:ext cx="1218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FinanceApp · Protótipo Web MVP v1.0.0 · 2026-05-11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118872"/>
            <a:ext cx="512064" cy="685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46304"/>
            <a:ext cx="51206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Calibri"/>
              </a:rPr>
              <a:t>T5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8872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Alerta Inteligente — Cartão de Crédito</a:t>
            </a:r>
          </a:p>
        </p:txBody>
      </p:sp>
      <p:sp>
        <p:nvSpPr>
          <p:cNvPr id="7" name="Rectangle 6"/>
          <p:cNvSpPr/>
          <p:nvPr/>
        </p:nvSpPr>
        <p:spPr>
          <a:xfrm>
            <a:off x="8778240" y="182880"/>
            <a:ext cx="731520" cy="228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23960" y="210312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P2</a:t>
            </a:r>
          </a:p>
        </p:txBody>
      </p:sp>
      <p:sp>
        <p:nvSpPr>
          <p:cNvPr id="9" name="Rectangle 8"/>
          <p:cNvSpPr/>
          <p:nvPr/>
        </p:nvSpPr>
        <p:spPr>
          <a:xfrm>
            <a:off x="9582912" y="182880"/>
            <a:ext cx="731520" cy="228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28632" y="210312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87584" y="182880"/>
            <a:ext cx="731520" cy="228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33304" y="210312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192256" y="182880"/>
            <a:ext cx="1737360" cy="228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47120" y="210312"/>
            <a:ext cx="16642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Dor #2 + #3 (timing)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960120"/>
            <a:ext cx="11823192" cy="4983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2880" y="960120"/>
            <a:ext cx="11823192" cy="30175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1051560"/>
            <a:ext cx="118872" cy="118872"/>
          </a:xfrm>
          <a:prstGeom prst="rect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1051560"/>
            <a:ext cx="118872" cy="118872"/>
          </a:xfrm>
          <a:prstGeom prst="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1051560"/>
            <a:ext cx="118872" cy="118872"/>
          </a:xfrm>
          <a:prstGeom prst="rect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32688" y="1014984"/>
            <a:ext cx="10588752" cy="192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" y="1024128"/>
            <a:ext cx="10497312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Calibri"/>
              </a:rPr>
              <a:t>app.financeapp.com.br/alertas/cartao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261872"/>
            <a:ext cx="11823192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131673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84FF"/>
                </a:solidFill>
                <a:latin typeface="Calibri"/>
              </a:rPr>
              <a:t>FinanceApp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20" y="134416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Calibri"/>
              </a:rPr>
              <a:t>Início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134416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D48A"/>
                </a:solidFill>
                <a:latin typeface="Calibri"/>
              </a:rPr>
              <a:t>Gastos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134416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Calibri"/>
              </a:rPr>
              <a:t>Investimentos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134416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Calibri"/>
              </a:rPr>
              <a:t>Metas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79" y="134416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Calibri"/>
              </a:rPr>
              <a:t>Educação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567159" y="1316736"/>
            <a:ext cx="237744" cy="237744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567159" y="1325880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Calibri"/>
              </a:rPr>
              <a:t>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56263" y="1325880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Calibri"/>
              </a:rPr>
              <a:t>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1609344"/>
            <a:ext cx="1691640" cy="433425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82880" y="1609344"/>
            <a:ext cx="1691640" cy="548640"/>
          </a:xfrm>
          <a:prstGeom prst="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" y="1719072"/>
            <a:ext cx="310896" cy="310896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1728216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Calibri"/>
              </a:rPr>
              <a:t>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" y="170992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Ana Souza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" y="19202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D48A"/>
                </a:solidFill>
                <a:latin typeface="Calibri"/>
              </a:rPr>
              <a:t>Saúde: 68/100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2295144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  Dashboard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2880" y="2569464"/>
            <a:ext cx="1691640" cy="310896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2633472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▸ Gastos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" y="2971800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  Investimentos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" y="331012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  Metas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" y="3648456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  Relatórios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" y="3986784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  Configurações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74520" y="1609344"/>
            <a:ext cx="10131552" cy="96012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874520" y="1609344"/>
            <a:ext cx="73152" cy="960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984248" y="1682496"/>
            <a:ext cx="644286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  <a:latin typeface="Calibri"/>
              </a:rPr>
              <a:t>⚠  Ação necessária — Fatura Nubank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84248" y="1956816"/>
            <a:ext cx="644286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45A09"/>
                </a:solidFill>
                <a:latin typeface="Calibri"/>
              </a:rPr>
              <a:t>Vence em 3 dias (14/05/2026)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84248" y="21762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DC2626"/>
                </a:solidFill>
                <a:latin typeface="Calibri"/>
              </a:rPr>
              <a:t>R$ 1.847,50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140696" y="1956816"/>
            <a:ext cx="1554480" cy="24688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140696" y="2002536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Quitar agora →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140696" y="2267712"/>
            <a:ext cx="1554480" cy="2468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140696" y="231343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B45A09"/>
                </a:solidFill>
                <a:latin typeface="Calibri"/>
              </a:rPr>
              <a:t>Ver parcelamento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874520" y="2633472"/>
            <a:ext cx="3678082" cy="3310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984248" y="2724912"/>
            <a:ext cx="356835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O que está na fatura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984248" y="3035808"/>
            <a:ext cx="3522634" cy="31089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75688" y="3099816"/>
            <a:ext cx="288255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  <a:latin typeface="Calibri"/>
              </a:rPr>
              <a:t>iFood — 12 pedidos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58242" y="3099816"/>
            <a:ext cx="530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DC2626"/>
                </a:solidFill>
                <a:latin typeface="Calibri"/>
              </a:rPr>
              <a:t>R$387,00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84248" y="3364992"/>
            <a:ext cx="3522634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75688" y="3429000"/>
            <a:ext cx="288255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  <a:latin typeface="Calibri"/>
              </a:rPr>
              <a:t>Supermercado Extra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958242" y="3429000"/>
            <a:ext cx="530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DC2626"/>
                </a:solidFill>
                <a:latin typeface="Calibri"/>
              </a:rPr>
              <a:t>R$312,50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984248" y="3694176"/>
            <a:ext cx="3522634" cy="31089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75688" y="3758184"/>
            <a:ext cx="288255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  <a:latin typeface="Calibri"/>
              </a:rPr>
              <a:t>Posto Ipiranga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58242" y="3758184"/>
            <a:ext cx="530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DC2626"/>
                </a:solidFill>
                <a:latin typeface="Calibri"/>
              </a:rPr>
              <a:t>R$198,00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984248" y="4023360"/>
            <a:ext cx="3522634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75688" y="4087368"/>
            <a:ext cx="288255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  <a:latin typeface="Calibri"/>
              </a:rPr>
              <a:t>Netflix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958242" y="4087368"/>
            <a:ext cx="530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DC2626"/>
                </a:solidFill>
                <a:latin typeface="Calibri"/>
              </a:rPr>
              <a:t>R$59,90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984248" y="4352544"/>
            <a:ext cx="3522634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75688" y="4416552"/>
            <a:ext cx="288255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  <a:latin typeface="Calibri"/>
              </a:rPr>
              <a:t>Amazon Prime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58242" y="4416552"/>
            <a:ext cx="530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DC2626"/>
                </a:solidFill>
                <a:latin typeface="Calibri"/>
              </a:rPr>
              <a:t>R$19,90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984248" y="4681728"/>
            <a:ext cx="3522634" cy="31089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075688" y="4745736"/>
            <a:ext cx="288255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  <a:latin typeface="Calibri"/>
              </a:rPr>
              <a:t>Farmácia São João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958242" y="4745736"/>
            <a:ext cx="530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DC2626"/>
                </a:solidFill>
                <a:latin typeface="Calibri"/>
              </a:rPr>
              <a:t>R$127,40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984248" y="5010912"/>
            <a:ext cx="3522634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075688" y="5074920"/>
            <a:ext cx="288255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F172A"/>
                </a:solidFill>
                <a:latin typeface="Calibri"/>
              </a:rPr>
              <a:t>Outros (47 itens)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958242" y="5074920"/>
            <a:ext cx="5303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DC2626"/>
                </a:solidFill>
                <a:latin typeface="Calibri"/>
              </a:rPr>
              <a:t>R$742,80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644042" y="2633472"/>
            <a:ext cx="3469233" cy="3310128"/>
          </a:xfrm>
          <a:prstGeom prst="rect">
            <a:avLst/>
          </a:prstGeom>
          <a:solidFill>
            <a:srgbClr val="1A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644042" y="2633472"/>
            <a:ext cx="3469233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781202" y="2743200"/>
            <a:ext cx="324063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Calibri"/>
              </a:rPr>
              <a:t>⚡ Se você pagar só o mínimo...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781202" y="3090672"/>
            <a:ext cx="324063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Mínimo da fatura: R$ 92,38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781202" y="3438144"/>
            <a:ext cx="20815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Juros que pagará: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725582" y="3438144"/>
            <a:ext cx="12142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DC2626"/>
                </a:solidFill>
                <a:latin typeface="Calibri"/>
              </a:rPr>
              <a:t>R$ 14.290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781202" y="3785616"/>
            <a:ext cx="20815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Tempo para quitar: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725582" y="3785616"/>
            <a:ext cx="12142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B45A09"/>
                </a:solidFill>
                <a:latin typeface="Calibri"/>
              </a:rPr>
              <a:t>31 meses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781202" y="4133088"/>
            <a:ext cx="20815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Total final: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25582" y="4133088"/>
            <a:ext cx="12142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DC2626"/>
                </a:solidFill>
                <a:latin typeface="Calibri"/>
              </a:rPr>
              <a:t>R$ 16.137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781202" y="4480560"/>
            <a:ext cx="20815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Taxa mensal: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725582" y="4480560"/>
            <a:ext cx="12142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B45A09"/>
                </a:solidFill>
                <a:latin typeface="Calibri"/>
              </a:rPr>
              <a:t>~7,5% a.m.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781202" y="4873752"/>
            <a:ext cx="3194913" cy="274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781202" y="4956048"/>
            <a:ext cx="324063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D48A"/>
                </a:solidFill>
                <a:latin typeface="Calibri"/>
              </a:rPr>
              <a:t>Se você quitar agora: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781202" y="5193792"/>
            <a:ext cx="324063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8A"/>
                </a:solidFill>
                <a:latin typeface="Calibri"/>
              </a:rPr>
              <a:t>Economiza R$ 14.290 em juros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781202" y="5577840"/>
            <a:ext cx="3194913" cy="24688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781202" y="5623560"/>
            <a:ext cx="319491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Calibri"/>
              </a:rPr>
              <a:t>Quitar R$1.847,50 agora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204716" y="2633472"/>
            <a:ext cx="2709915" cy="3310128"/>
          </a:xfrm>
          <a:prstGeom prst="rect">
            <a:avLst/>
          </a:prstGeom>
          <a:solidFill>
            <a:srgbClr val="05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204716" y="2633472"/>
            <a:ext cx="2709915" cy="457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314444" y="2743200"/>
            <a:ext cx="255446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D48A"/>
                </a:solidFill>
                <a:latin typeface="Calibri"/>
              </a:rPr>
              <a:t>📚 Por que o rotativo é tão perigoso?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314444" y="3090672"/>
            <a:ext cx="2554467" cy="2807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"/>
              </a:spcAft>
            </a:pPr>
            <a:r>
              <a:rPr sz="900" b="0">
                <a:solidFill>
                  <a:srgbClr val="F0F4FF"/>
                </a:solidFill>
                <a:latin typeface="Calibri"/>
              </a:rPr>
              <a:t>O cartão de crédito tem duas</a:t>
            </a:r>
          </a:p>
          <a:p>
            <a:pPr>
              <a:spcAft>
                <a:spcPts val="225"/>
              </a:spcAft>
            </a:pPr>
            <a:r>
              <a:rPr sz="900" b="0">
                <a:solidFill>
                  <a:srgbClr val="F0F4FF"/>
                </a:solidFill>
                <a:latin typeface="Calibri"/>
              </a:rPr>
              <a:t>faces: parceiro ou inimigo.</a:t>
            </a:r>
          </a:p>
          <a:p>
            <a:pPr>
              <a:spcAft>
                <a:spcPts val="225"/>
              </a:spcAft>
            </a:pPr>
            <a:r>
              <a:rPr sz="900" b="0">
                <a:solidFill>
                  <a:srgbClr val="F0F4FF"/>
                </a:solidFill>
                <a:latin typeface="Calibri"/>
              </a:rPr>
              <a:t/>
            </a:r>
          </a:p>
          <a:p>
            <a:pPr>
              <a:spcAft>
                <a:spcPts val="225"/>
              </a:spcAft>
            </a:pPr>
            <a:r>
              <a:rPr sz="900" b="0">
                <a:solidFill>
                  <a:srgbClr val="F0F4FF"/>
                </a:solidFill>
                <a:latin typeface="Calibri"/>
              </a:rPr>
              <a:t>Quando você paga o mínimo,</a:t>
            </a:r>
          </a:p>
          <a:p>
            <a:pPr>
              <a:spcAft>
                <a:spcPts val="225"/>
              </a:spcAft>
            </a:pPr>
            <a:r>
              <a:rPr sz="900" b="0">
                <a:solidFill>
                  <a:srgbClr val="F0F4FF"/>
                </a:solidFill>
                <a:latin typeface="Calibri"/>
              </a:rPr>
              <a:t>a dívida restante entra no</a:t>
            </a:r>
          </a:p>
          <a:p>
            <a:pPr>
              <a:spcAft>
                <a:spcPts val="225"/>
              </a:spcAft>
            </a:pPr>
            <a:r>
              <a:rPr sz="900" b="0">
                <a:solidFill>
                  <a:srgbClr val="F0F4FF"/>
                </a:solidFill>
                <a:latin typeface="Calibri"/>
              </a:rPr>
              <a:t>rotativo — a taxa mais cara</a:t>
            </a:r>
          </a:p>
          <a:p>
            <a:pPr>
              <a:spcAft>
                <a:spcPts val="225"/>
              </a:spcAft>
            </a:pPr>
            <a:r>
              <a:rPr sz="900" b="0">
                <a:solidFill>
                  <a:srgbClr val="F0F4FF"/>
                </a:solidFill>
                <a:latin typeface="Calibri"/>
              </a:rPr>
              <a:t>do Brasil: ~90% ao ano.</a:t>
            </a:r>
          </a:p>
          <a:p>
            <a:pPr>
              <a:spcAft>
                <a:spcPts val="225"/>
              </a:spcAft>
            </a:pPr>
            <a:r>
              <a:rPr sz="900" b="0">
                <a:solidFill>
                  <a:srgbClr val="F0F4FF"/>
                </a:solidFill>
                <a:latin typeface="Calibri"/>
              </a:rPr>
              <a:t/>
            </a:r>
          </a:p>
          <a:p>
            <a:pPr>
              <a:spcAft>
                <a:spcPts val="225"/>
              </a:spcAft>
            </a:pPr>
            <a:r>
              <a:rPr sz="900" b="0">
                <a:solidFill>
                  <a:srgbClr val="F0F4FF"/>
                </a:solidFill>
                <a:latin typeface="Calibri"/>
              </a:rPr>
              <a:t>Cada R$100 não pago vira</a:t>
            </a:r>
          </a:p>
          <a:p>
            <a:pPr>
              <a:spcAft>
                <a:spcPts val="225"/>
              </a:spcAft>
            </a:pPr>
            <a:r>
              <a:rPr sz="900" b="0">
                <a:solidFill>
                  <a:srgbClr val="F0F4FF"/>
                </a:solidFill>
                <a:latin typeface="Calibri"/>
              </a:rPr>
              <a:t>R$190 em 12 meses.</a:t>
            </a:r>
          </a:p>
          <a:p>
            <a:pPr>
              <a:spcAft>
                <a:spcPts val="225"/>
              </a:spcAft>
            </a:pPr>
            <a:r>
              <a:rPr sz="900" b="0">
                <a:solidFill>
                  <a:srgbClr val="F0F4FF"/>
                </a:solidFill>
                <a:latin typeface="Calibri"/>
              </a:rPr>
              <a:t/>
            </a:r>
          </a:p>
          <a:p>
            <a:pPr>
              <a:spcAft>
                <a:spcPts val="225"/>
              </a:spcAft>
            </a:pPr>
            <a:r>
              <a:rPr sz="900" b="0">
                <a:solidFill>
                  <a:srgbClr val="F0F4FF"/>
                </a:solidFill>
                <a:latin typeface="Calibri"/>
              </a:rPr>
              <a:t>O FinanceApp avisa você</a:t>
            </a:r>
          </a:p>
          <a:p>
            <a:pPr>
              <a:spcAft>
                <a:spcPts val="225"/>
              </a:spcAft>
            </a:pPr>
            <a:r>
              <a:rPr sz="900" b="0">
                <a:solidFill>
                  <a:srgbClr val="F0F4FF"/>
                </a:solidFill>
                <a:latin typeface="Calibri"/>
              </a:rPr>
              <a:t>ANTES do vencimento para</a:t>
            </a:r>
          </a:p>
          <a:p>
            <a:pPr>
              <a:spcAft>
                <a:spcPts val="225"/>
              </a:spcAft>
            </a:pPr>
            <a:r>
              <a:rPr sz="900" b="0">
                <a:solidFill>
                  <a:srgbClr val="F0F4FF"/>
                </a:solidFill>
                <a:latin typeface="Calibri"/>
              </a:rPr>
              <a:t>você nunca cair nessa armadilha.</a:t>
            </a:r>
          </a:p>
        </p:txBody>
      </p:sp>
      <p:sp>
        <p:nvSpPr>
          <p:cNvPr id="98" name="Rectangle 97"/>
          <p:cNvSpPr/>
          <p:nvPr/>
        </p:nvSpPr>
        <p:spPr>
          <a:xfrm>
            <a:off x="0" y="5989320"/>
            <a:ext cx="12188952" cy="54864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0" y="5989320"/>
            <a:ext cx="54864" cy="548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37160" y="6044183"/>
            <a:ext cx="3880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F4444"/>
                </a:solidFill>
                <a:latin typeface="Calibri"/>
              </a:rPr>
              <a:t>🎯  Dor #2 atacada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37160" y="6281928"/>
            <a:ext cx="3880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Rotativo (90% a.a.) — mostra o custo real ANTES de o usuário errar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062984" y="5989320"/>
            <a:ext cx="54864" cy="54864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200144" y="6044183"/>
            <a:ext cx="3880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D48A"/>
                </a:solidFill>
                <a:latin typeface="Calibri"/>
              </a:rPr>
              <a:t>💡  Pilar 3 — Timing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200144" y="6281928"/>
            <a:ext cx="3880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Educação financeira chega NO MOMENTO DA AÇÃO, não em tutorial separado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125968" y="5989320"/>
            <a:ext cx="54864" cy="5486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263128" y="6044183"/>
            <a:ext cx="3880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5CF6"/>
                </a:solidFill>
                <a:latin typeface="Calibri"/>
              </a:rPr>
              <a:t>👤  Personas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263128" y="6281928"/>
            <a:ext cx="3880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P2 Endividado Crônico (core) · P1 Jovem · P5 Profissional Ocupado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0" y="6510528"/>
            <a:ext cx="1218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FinanceApp · Protótipo Web MVP v1.0.0 · 2026-05-11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118872"/>
            <a:ext cx="512064" cy="685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46304"/>
            <a:ext cx="51206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Calibri"/>
              </a:rPr>
              <a:t>T6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8872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Metas e Reserva de Emergência</a:t>
            </a:r>
          </a:p>
        </p:txBody>
      </p:sp>
      <p:sp>
        <p:nvSpPr>
          <p:cNvPr id="7" name="Rectangle 6"/>
          <p:cNvSpPr/>
          <p:nvPr/>
        </p:nvSpPr>
        <p:spPr>
          <a:xfrm>
            <a:off x="8778240" y="182880"/>
            <a:ext cx="731520" cy="228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23960" y="210312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P1</a:t>
            </a:r>
          </a:p>
        </p:txBody>
      </p:sp>
      <p:sp>
        <p:nvSpPr>
          <p:cNvPr id="9" name="Rectangle 8"/>
          <p:cNvSpPr/>
          <p:nvPr/>
        </p:nvSpPr>
        <p:spPr>
          <a:xfrm>
            <a:off x="9582912" y="182880"/>
            <a:ext cx="731520" cy="228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28632" y="210312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87584" y="182880"/>
            <a:ext cx="731520" cy="228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33304" y="210312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192256" y="182880"/>
            <a:ext cx="731520" cy="228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37976" y="210312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996928" y="182880"/>
            <a:ext cx="1078992" cy="228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51792" y="21031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Dor #3 + #5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960120"/>
            <a:ext cx="11823192" cy="4983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2880" y="960120"/>
            <a:ext cx="11823192" cy="30175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1051560"/>
            <a:ext cx="118872" cy="118872"/>
          </a:xfrm>
          <a:prstGeom prst="rect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1051560"/>
            <a:ext cx="118872" cy="118872"/>
          </a:xfrm>
          <a:prstGeom prst="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1051560"/>
            <a:ext cx="118872" cy="118872"/>
          </a:xfrm>
          <a:prstGeom prst="rect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2688" y="1014984"/>
            <a:ext cx="10588752" cy="192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" y="1024128"/>
            <a:ext cx="10497312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Calibri"/>
              </a:rPr>
              <a:t>app.financeapp.com.br/metas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1261872"/>
            <a:ext cx="11823192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131673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84FF"/>
                </a:solidFill>
                <a:latin typeface="Calibri"/>
              </a:rPr>
              <a:t>FinanceApp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20" y="134416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Calibri"/>
              </a:rPr>
              <a:t>Início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134416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Calibri"/>
              </a:rPr>
              <a:t>Gastos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134416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Calibri"/>
              </a:rPr>
              <a:t>Investimentos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134416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D48A"/>
                </a:solidFill>
                <a:latin typeface="Calibri"/>
              </a:rPr>
              <a:t>Metas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79" y="134416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Calibri"/>
              </a:rPr>
              <a:t>Educação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567159" y="1316736"/>
            <a:ext cx="237744" cy="237744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567159" y="1325880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Calibri"/>
              </a:rPr>
              <a:t>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56263" y="1325880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Calibri"/>
              </a:rPr>
              <a:t>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609344"/>
            <a:ext cx="1691640" cy="433425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82880" y="1609344"/>
            <a:ext cx="1691640" cy="548640"/>
          </a:xfrm>
          <a:prstGeom prst="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1719072"/>
            <a:ext cx="310896" cy="310896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1728216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Calibri"/>
              </a:rPr>
              <a:t>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" y="170992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Ana Souza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" y="19202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D48A"/>
                </a:solidFill>
                <a:latin typeface="Calibri"/>
              </a:rPr>
              <a:t>Saúde: 68/100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" y="2295144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  Dashboard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" y="2633472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  Gastos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" y="2971800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  Investimentos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2880" y="3246120"/>
            <a:ext cx="1691640" cy="310896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331012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▸ Metas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" y="3648456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  Relatórios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3986784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  Configurações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74520" y="1609344"/>
            <a:ext cx="1013155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984248" y="1673352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Minhas Metas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552176" y="1664208"/>
            <a:ext cx="1188720" cy="246888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552176" y="170992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+ Nova meta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874520" y="2011680"/>
            <a:ext cx="10131552" cy="1005840"/>
          </a:xfrm>
          <a:prstGeom prst="rect">
            <a:avLst/>
          </a:prstGeom>
          <a:solidFill>
            <a:srgbClr val="05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874520" y="2011680"/>
            <a:ext cx="54864" cy="100584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984248" y="208483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D48A"/>
                </a:solidFill>
                <a:latin typeface="Calibri"/>
              </a:rPr>
              <a:t>🛡  Reserva de Emergência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84248" y="2359152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Prioridade máxima · 6× seus gastos mensais · R$ 36.000 alvo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11896" y="21488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00D48A"/>
                </a:solidFill>
                <a:latin typeface="Calibri"/>
              </a:rPr>
              <a:t>R$ 23.400  /  R$ 36.000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984248" y="2606040"/>
            <a:ext cx="9820656" cy="1280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984248" y="2606040"/>
            <a:ext cx="6383426" cy="128016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64087" y="2615184"/>
            <a:ext cx="457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D48A"/>
                </a:solidFill>
                <a:latin typeface="Calibri"/>
              </a:rPr>
              <a:t>65%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984248" y="2779776"/>
            <a:ext cx="9820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Você poupa R$800/mês. Faltam 15 meses para completar a reserva.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74520" y="3108960"/>
            <a:ext cx="4846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84248" y="318211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🏠  Entrada do imóvel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984248" y="3456432"/>
            <a:ext cx="4663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R$18.200 / R$50.000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984248" y="3703320"/>
            <a:ext cx="461772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984248" y="3703320"/>
            <a:ext cx="1662379" cy="91440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92347" y="3694176"/>
            <a:ext cx="365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0084FF"/>
                </a:solidFill>
                <a:latin typeface="Calibri"/>
              </a:rPr>
              <a:t>36%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984248" y="384048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Poupar R$1.200/mês. Faltam 26 meses.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922008" y="3108960"/>
            <a:ext cx="4846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031736" y="318211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✈️  Viagem Europa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031736" y="3456432"/>
            <a:ext cx="4663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R$7.400 / R$12.000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031736" y="3703320"/>
            <a:ext cx="461772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031736" y="3703320"/>
            <a:ext cx="2862986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940442" y="3694176"/>
            <a:ext cx="365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B5CF6"/>
                </a:solidFill>
                <a:latin typeface="Calibri"/>
              </a:rPr>
              <a:t>62%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031736" y="384048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Faltam R$4.600. Com R$800/mês: 6 meses.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874520" y="4206240"/>
            <a:ext cx="4846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984248" y="427939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🚗  Troca do carro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984248" y="4553712"/>
            <a:ext cx="4663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R$4.200 / R$35.000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984248" y="4800600"/>
            <a:ext cx="461772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984248" y="4800600"/>
            <a:ext cx="554126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584094" y="4791456"/>
            <a:ext cx="365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4B8A6"/>
                </a:solidFill>
                <a:latin typeface="Calibri"/>
              </a:rPr>
              <a:t>12%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984248" y="493776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Meta nova. Definir aporte mensal.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922008" y="4206240"/>
            <a:ext cx="4846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031736" y="427939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📈  Previdência priv.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031736" y="4553712"/>
            <a:ext cx="4663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R$31.000 / R$200.000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031736" y="4800600"/>
            <a:ext cx="461772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031736" y="4800600"/>
            <a:ext cx="692658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770114" y="4791456"/>
            <a:ext cx="365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B5CF6"/>
                </a:solidFill>
                <a:latin typeface="Calibri"/>
              </a:rPr>
              <a:t>15%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031736" y="493776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Aportando R$500/mês. Projeção: 25 anos.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0" y="5989320"/>
            <a:ext cx="12188952" cy="54864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0" y="5989320"/>
            <a:ext cx="54864" cy="548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37160" y="6044183"/>
            <a:ext cx="3880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F4444"/>
                </a:solidFill>
                <a:latin typeface="Calibri"/>
              </a:rPr>
              <a:t>🎯  Dor #3 atacada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7160" y="6281928"/>
            <a:ext cx="3880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Ausência de reserva — 31% dos brasileiros sem nenhuma. Reserva é o primeiro objetivo.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062984" y="5989320"/>
            <a:ext cx="54864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200144" y="6044183"/>
            <a:ext cx="3880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Calibri"/>
              </a:rPr>
              <a:t>💡  Dor #5 atacada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200144" y="6281928"/>
            <a:ext cx="3880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"Não sei se estou investindo o suficiente" → simulador mostra prazo real por meta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125968" y="5989320"/>
            <a:ext cx="54864" cy="5486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263128" y="6044183"/>
            <a:ext cx="3880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5CF6"/>
                </a:solidFill>
                <a:latin typeface="Calibri"/>
              </a:rPr>
              <a:t>👤  Personas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263128" y="6281928"/>
            <a:ext cx="3880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P1 Jovem · P3 Iniciante · P4 Mulher · P5 Profissional Ocupado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0" y="6510528"/>
            <a:ext cx="1218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FinanceApp · Protótipo Web MVP v1.0.0 · 2026-05-11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118872"/>
            <a:ext cx="512064" cy="685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46304"/>
            <a:ext cx="51206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Calibri"/>
              </a:rPr>
              <a:t>T7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8872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Educação Contextual — No Momento da Ação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8778240" y="182880"/>
            <a:ext cx="731520" cy="228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23960" y="210312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P1</a:t>
            </a:r>
          </a:p>
        </p:txBody>
      </p:sp>
      <p:sp>
        <p:nvSpPr>
          <p:cNvPr id="9" name="Rectangle 8"/>
          <p:cNvSpPr/>
          <p:nvPr/>
        </p:nvSpPr>
        <p:spPr>
          <a:xfrm>
            <a:off x="9582912" y="182880"/>
            <a:ext cx="731520" cy="228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28632" y="210312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87584" y="182880"/>
            <a:ext cx="731520" cy="228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33304" y="210312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192256" y="182880"/>
            <a:ext cx="731520" cy="228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37976" y="210312"/>
            <a:ext cx="6583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996928" y="182880"/>
            <a:ext cx="1444752" cy="228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51792" y="21031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Pilar 3 — Timing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960120"/>
            <a:ext cx="11823192" cy="4983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2880" y="960120"/>
            <a:ext cx="11823192" cy="30175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1051560"/>
            <a:ext cx="118872" cy="118872"/>
          </a:xfrm>
          <a:prstGeom prst="rect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1051560"/>
            <a:ext cx="118872" cy="118872"/>
          </a:xfrm>
          <a:prstGeom prst="rect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1051560"/>
            <a:ext cx="118872" cy="118872"/>
          </a:xfrm>
          <a:prstGeom prst="rect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2688" y="1014984"/>
            <a:ext cx="10588752" cy="192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" y="1024128"/>
            <a:ext cx="10497312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Calibri"/>
              </a:rPr>
              <a:t>app.financeapp.com.br/gastos/categoria/alimentacao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1261872"/>
            <a:ext cx="11823192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131673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84FF"/>
                </a:solidFill>
                <a:latin typeface="Calibri"/>
              </a:rPr>
              <a:t>FinanceApp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20" y="134416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Calibri"/>
              </a:rPr>
              <a:t>Início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134416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Calibri"/>
              </a:rPr>
              <a:t>Gastos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134416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Calibri"/>
              </a:rPr>
              <a:t>Investimentos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134416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Calibri"/>
              </a:rPr>
              <a:t>Metas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79" y="134416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D48A"/>
                </a:solidFill>
                <a:latin typeface="Calibri"/>
              </a:rPr>
              <a:t>Educação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567159" y="1316736"/>
            <a:ext cx="237744" cy="237744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567159" y="1325880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Calibri"/>
              </a:rPr>
              <a:t>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56263" y="1325880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Calibri"/>
              </a:rPr>
              <a:t>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609344"/>
            <a:ext cx="1691640" cy="433425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82880" y="1609344"/>
            <a:ext cx="1691640" cy="548640"/>
          </a:xfrm>
          <a:prstGeom prst="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1719072"/>
            <a:ext cx="310896" cy="310896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1728216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Calibri"/>
              </a:rPr>
              <a:t>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" y="170992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Ana Souza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" y="19202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D48A"/>
                </a:solidFill>
                <a:latin typeface="Calibri"/>
              </a:rPr>
              <a:t>Saúde: 68/100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" y="2295144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  Dashboard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" y="2569464"/>
            <a:ext cx="1691640" cy="310896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2633472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▸ Gastos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" y="2971800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  Investimentos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" y="331012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  Metas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" y="3648456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  Relatórios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3986784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  Configurações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74520" y="1609344"/>
            <a:ext cx="1013155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984248" y="165506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Gastos › Alimentação › Maio 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84248" y="1865376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Você gastou R$1.189 em alimentação — 13,8% acima do mês passado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74520" y="2176272"/>
            <a:ext cx="10131552" cy="1143000"/>
          </a:xfrm>
          <a:prstGeom prst="rect">
            <a:avLst/>
          </a:prstGeom>
          <a:solidFill>
            <a:srgbClr val="FF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874520" y="2176272"/>
            <a:ext cx="54864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984248" y="2249424"/>
            <a:ext cx="743407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45A09"/>
                </a:solidFill>
                <a:latin typeface="Calibri"/>
              </a:rPr>
              <a:t>💡 Você sabia? Brasileiros gastam em média 28% da renda em alimentação.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84248" y="2560320"/>
            <a:ext cx="74340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Calibri"/>
              </a:rPr>
              <a:t>Seu gasto ficou nessa faixa, mas o delivery representa 41% do total. Preparar refeições em casa pode economizar até R$200/mês.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866376" y="2606040"/>
            <a:ext cx="1828800" cy="2468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66376" y="26517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Ver dica completa →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74936" y="307238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Calibri"/>
              </a:rPr>
              <a:t>✗ Fechar insight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874520" y="3383280"/>
            <a:ext cx="5065776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984248" y="3456432"/>
            <a:ext cx="49560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Transações de alimentação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75688" y="3803904"/>
            <a:ext cx="257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Calibri"/>
              </a:rPr>
              <a:t>iFood — Burguer King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60513" y="3803904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12/05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156118" y="380390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🍕 Delivery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94576" y="3803904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DC2626"/>
                </a:solidFill>
                <a:latin typeface="Calibri"/>
              </a:rPr>
              <a:t>R$48,90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984248" y="4041648"/>
            <a:ext cx="4910328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075688" y="4114800"/>
            <a:ext cx="257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Calibri"/>
              </a:rPr>
              <a:t>Supermercado Pão de Açúcar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660513" y="411480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10/05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156118" y="411480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🛒 Mercado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94576" y="411480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DC2626"/>
                </a:solidFill>
                <a:latin typeface="Calibri"/>
              </a:rPr>
              <a:t>R$213,40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984248" y="4352544"/>
            <a:ext cx="4910328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75688" y="4425696"/>
            <a:ext cx="257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Calibri"/>
              </a:rPr>
              <a:t>iFood — Sushi Naka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660513" y="4425696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09/05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156118" y="442569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🍕 Delivery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94576" y="4425696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DC2626"/>
                </a:solidFill>
                <a:latin typeface="Calibri"/>
              </a:rPr>
              <a:t>R$89,00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984248" y="4663440"/>
            <a:ext cx="4910328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075688" y="4736592"/>
            <a:ext cx="257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Calibri"/>
              </a:rPr>
              <a:t>iFood — Pizza Hut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60513" y="4736592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07/05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156118" y="4736592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🍕 Delivery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94576" y="4736592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DC2626"/>
                </a:solidFill>
                <a:latin typeface="Calibri"/>
              </a:rPr>
              <a:t>R$67,80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984248" y="4974336"/>
            <a:ext cx="4910328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075688" y="5047488"/>
            <a:ext cx="257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Calibri"/>
              </a:rPr>
              <a:t>Hortifruti São Paulo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660513" y="5047488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06/05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156118" y="504748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🥦 Feira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94576" y="5047488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DC2626"/>
                </a:solidFill>
                <a:latin typeface="Calibri"/>
              </a:rPr>
              <a:t>R$45,20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984248" y="5285231"/>
            <a:ext cx="4910328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075688" y="5358383"/>
            <a:ext cx="257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Calibri"/>
              </a:rPr>
              <a:t>McDonald's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660513" y="5358383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05/05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156118" y="5358383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🍔 Lanche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894576" y="5358383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DC2626"/>
                </a:solidFill>
                <a:latin typeface="Calibri"/>
              </a:rPr>
              <a:t>R$32,70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984248" y="5596127"/>
            <a:ext cx="4910328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077456" y="3383280"/>
            <a:ext cx="4745736" cy="2514600"/>
          </a:xfrm>
          <a:prstGeom prst="rect">
            <a:avLst/>
          </a:prstGeom>
          <a:solidFill>
            <a:srgbClr val="05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077456" y="3383280"/>
            <a:ext cx="4745736" cy="457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214616" y="3493008"/>
            <a:ext cx="46817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8A"/>
                </a:solidFill>
                <a:latin typeface="Calibri"/>
              </a:rPr>
              <a:t>📚 Lição: Delivery vs. Cozinha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14616" y="3822191"/>
            <a:ext cx="465429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7"/>
              </a:spcAft>
            </a:pPr>
            <a:r>
              <a:rPr sz="900" b="0">
                <a:solidFill>
                  <a:srgbClr val="F0F4FF"/>
                </a:solidFill>
                <a:latin typeface="Calibri"/>
              </a:rPr>
              <a:t>Seu delivery custou R$487</a:t>
            </a:r>
          </a:p>
          <a:p>
            <a:pPr>
              <a:spcAft>
                <a:spcPts val="197"/>
              </a:spcAft>
            </a:pPr>
            <a:r>
              <a:rPr sz="900" b="0">
                <a:solidFill>
                  <a:srgbClr val="F0F4FF"/>
                </a:solidFill>
                <a:latin typeface="Calibri"/>
              </a:rPr>
              <a:t>este mês (31 pedidos).</a:t>
            </a:r>
          </a:p>
          <a:p>
            <a:pPr>
              <a:spcAft>
                <a:spcPts val="197"/>
              </a:spcAft>
            </a:pPr>
            <a:r>
              <a:rPr sz="900" b="0">
                <a:solidFill>
                  <a:srgbClr val="F0F4FF"/>
                </a:solidFill>
                <a:latin typeface="Calibri"/>
              </a:rPr>
              <a:t/>
            </a:r>
          </a:p>
          <a:p>
            <a:pPr>
              <a:spcAft>
                <a:spcPts val="197"/>
              </a:spcAft>
            </a:pPr>
            <a:r>
              <a:rPr sz="900" b="0">
                <a:solidFill>
                  <a:srgbClr val="F0F4FF"/>
                </a:solidFill>
                <a:latin typeface="Calibri"/>
              </a:rPr>
              <a:t>Média por pedido: R$15,70.</a:t>
            </a:r>
          </a:p>
          <a:p>
            <a:pPr>
              <a:spcAft>
                <a:spcPts val="197"/>
              </a:spcAft>
            </a:pPr>
            <a:r>
              <a:rPr sz="900" b="0">
                <a:solidFill>
                  <a:srgbClr val="F0F4FF"/>
                </a:solidFill>
                <a:latin typeface="Calibri"/>
              </a:rPr>
              <a:t/>
            </a:r>
          </a:p>
          <a:p>
            <a:pPr>
              <a:spcAft>
                <a:spcPts val="197"/>
              </a:spcAft>
            </a:pPr>
            <a:r>
              <a:rPr sz="900" b="0">
                <a:solidFill>
                  <a:srgbClr val="F0F4FF"/>
                </a:solidFill>
                <a:latin typeface="Calibri"/>
              </a:rPr>
              <a:t>Se você cozinhar 3× por</a:t>
            </a:r>
          </a:p>
          <a:p>
            <a:pPr>
              <a:spcAft>
                <a:spcPts val="197"/>
              </a:spcAft>
            </a:pPr>
            <a:r>
              <a:rPr sz="900" b="0">
                <a:solidFill>
                  <a:srgbClr val="F0F4FF"/>
                </a:solidFill>
                <a:latin typeface="Calibri"/>
              </a:rPr>
              <a:t>semana ao invés de pedir:</a:t>
            </a:r>
          </a:p>
          <a:p>
            <a:pPr>
              <a:spcAft>
                <a:spcPts val="197"/>
              </a:spcAft>
            </a:pPr>
            <a:r>
              <a:rPr sz="900" b="0">
                <a:solidFill>
                  <a:srgbClr val="F0F4FF"/>
                </a:solidFill>
                <a:latin typeface="Calibri"/>
              </a:rPr>
              <a:t/>
            </a:r>
          </a:p>
          <a:p>
            <a:pPr>
              <a:spcAft>
                <a:spcPts val="197"/>
              </a:spcAft>
            </a:pPr>
            <a:r>
              <a:rPr sz="900" b="0">
                <a:solidFill>
                  <a:srgbClr val="F0F4FF"/>
                </a:solidFill>
                <a:latin typeface="Calibri"/>
              </a:rPr>
              <a:t>  ✅ Economiza ~R$180/mês</a:t>
            </a:r>
          </a:p>
          <a:p>
            <a:pPr>
              <a:spcAft>
                <a:spcPts val="197"/>
              </a:spcAft>
            </a:pPr>
            <a:r>
              <a:rPr sz="900" b="0">
                <a:solidFill>
                  <a:srgbClr val="F0F4FF"/>
                </a:solidFill>
                <a:latin typeface="Calibri"/>
              </a:rPr>
              <a:t>  ✅ R$2.160 por ano</a:t>
            </a:r>
          </a:p>
          <a:p>
            <a:pPr>
              <a:spcAft>
                <a:spcPts val="197"/>
              </a:spcAft>
            </a:pPr>
            <a:r>
              <a:rPr sz="900" b="0">
                <a:solidFill>
                  <a:srgbClr val="F0F4FF"/>
                </a:solidFill>
                <a:latin typeface="Calibri"/>
              </a:rPr>
              <a:t>  ✅ O suficiente para a</a:t>
            </a:r>
          </a:p>
          <a:p>
            <a:pPr>
              <a:spcAft>
                <a:spcPts val="197"/>
              </a:spcAft>
            </a:pPr>
            <a:r>
              <a:rPr sz="900" b="0">
                <a:solidFill>
                  <a:srgbClr val="F0F4FF"/>
                </a:solidFill>
                <a:latin typeface="Calibri"/>
              </a:rPr>
              <a:t>      passagem da viagem</a:t>
            </a:r>
          </a:p>
          <a:p>
            <a:pPr>
              <a:spcAft>
                <a:spcPts val="197"/>
              </a:spcAft>
            </a:pPr>
            <a:r>
              <a:rPr sz="900" b="0">
                <a:solidFill>
                  <a:srgbClr val="F0F4FF"/>
                </a:solidFill>
                <a:latin typeface="Calibri"/>
              </a:rPr>
              <a:t>      que você quer fazer.</a:t>
            </a:r>
          </a:p>
          <a:p>
            <a:pPr>
              <a:spcAft>
                <a:spcPts val="197"/>
              </a:spcAft>
            </a:pPr>
            <a:r>
              <a:rPr sz="900" b="0">
                <a:solidFill>
                  <a:srgbClr val="F0F4FF"/>
                </a:solidFill>
                <a:latin typeface="Calibri"/>
              </a:rPr>
              <a:t/>
            </a:r>
          </a:p>
          <a:p>
            <a:pPr>
              <a:spcAft>
                <a:spcPts val="197"/>
              </a:spcAft>
            </a:pPr>
            <a:r>
              <a:rPr sz="900" b="0">
                <a:solidFill>
                  <a:srgbClr val="F0F4FF"/>
                </a:solidFill>
                <a:latin typeface="Calibri"/>
              </a:rPr>
              <a:t>Não precisa ser perfeito.</a:t>
            </a:r>
          </a:p>
          <a:p>
            <a:pPr>
              <a:spcAft>
                <a:spcPts val="197"/>
              </a:spcAft>
            </a:pPr>
            <a:r>
              <a:rPr sz="900" b="0">
                <a:solidFill>
                  <a:srgbClr val="F0F4FF"/>
                </a:solidFill>
                <a:latin typeface="Calibri"/>
              </a:rPr>
              <a:t>Comece com 1× por semana.</a:t>
            </a:r>
          </a:p>
        </p:txBody>
      </p:sp>
      <p:sp>
        <p:nvSpPr>
          <p:cNvPr id="93" name="Rectangle 92"/>
          <p:cNvSpPr/>
          <p:nvPr/>
        </p:nvSpPr>
        <p:spPr>
          <a:xfrm>
            <a:off x="0" y="5989320"/>
            <a:ext cx="12188952" cy="54864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0" y="5989320"/>
            <a:ext cx="54864" cy="54864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37160" y="6044183"/>
            <a:ext cx="3880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D48A"/>
                </a:solidFill>
                <a:latin typeface="Calibri"/>
              </a:rPr>
              <a:t>🎯  Pilar 3 — Timing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37160" y="6281928"/>
            <a:ext cx="3880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Educação ocorre DENTRO da ação, não em seção separada de 'Aprender'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062984" y="5989320"/>
            <a:ext cx="54864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200144" y="6044183"/>
            <a:ext cx="3880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Calibri"/>
              </a:rPr>
              <a:t>💡  Personalizado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200144" y="6281928"/>
            <a:ext cx="3880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A lição conecta o gasto com a META do usuário (viagem). Contexto = retenção.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125968" y="5989320"/>
            <a:ext cx="54864" cy="5486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263128" y="6044183"/>
            <a:ext cx="3880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5CF6"/>
                </a:solidFill>
                <a:latin typeface="Calibri"/>
              </a:rPr>
              <a:t>👤  Personas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263128" y="6281928"/>
            <a:ext cx="3880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P1 Jovem · P2 Endividado · P3 Iniciante · P4 Mulher Invisível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0" y="6510528"/>
            <a:ext cx="1218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FinanceApp · Protótipo Web MVP v1.0.0 · 2026-05-11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0972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Personas × Telas — Quem é Servido por Quê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Cada tela atende múltiplos perfis. Nenhuma persona fica sem cobertura.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0" y="1051560"/>
            <a:ext cx="1216151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078992"/>
            <a:ext cx="121615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Calibri"/>
              </a:rPr>
              <a:t>P1
Jovem</a:t>
            </a:r>
          </a:p>
        </p:txBody>
      </p:sp>
      <p:sp>
        <p:nvSpPr>
          <p:cNvPr id="8" name="Rectangle 7"/>
          <p:cNvSpPr/>
          <p:nvPr/>
        </p:nvSpPr>
        <p:spPr>
          <a:xfrm>
            <a:off x="2907791" y="1051560"/>
            <a:ext cx="1216151" cy="47548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07791" y="1078992"/>
            <a:ext cx="121615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Calibri"/>
              </a:rPr>
              <a:t>P2
Endivid.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9663" y="1051560"/>
            <a:ext cx="1216151" cy="47548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9663" y="1078992"/>
            <a:ext cx="121615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Calibri"/>
              </a:rPr>
              <a:t>P3
Inic.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31536" y="1051560"/>
            <a:ext cx="1216151" cy="47548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31536" y="1078992"/>
            <a:ext cx="121615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Calibri"/>
              </a:rPr>
              <a:t>P4
Mulher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93407" y="1051560"/>
            <a:ext cx="1216151" cy="475488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93407" y="1078992"/>
            <a:ext cx="121615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Calibri"/>
              </a:rPr>
              <a:t>P5
Ocupado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79" y="1051560"/>
            <a:ext cx="1216151" cy="47548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1078992"/>
            <a:ext cx="121615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Calibri"/>
              </a:rPr>
              <a:t>P6
Avanç.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17152" y="1051560"/>
            <a:ext cx="1216151" cy="47548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17152" y="1078992"/>
            <a:ext cx="121615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Calibri"/>
              </a:rPr>
              <a:t>P7
Aposent.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79024" y="1051560"/>
            <a:ext cx="1216151" cy="47548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79024" y="1078992"/>
            <a:ext cx="121615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Calibri"/>
              </a:rPr>
              <a:t>P8
MEI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1581912"/>
            <a:ext cx="1371600" cy="457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" y="1609344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Calibri"/>
              </a:rPr>
              <a:t>T1
Landing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45920" y="1581912"/>
            <a:ext cx="1216151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45920" y="1709928"/>
            <a:ext cx="1216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Calibri"/>
              </a:rPr>
              <a:t>●  Core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07791" y="1581912"/>
            <a:ext cx="1216151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07791" y="1709928"/>
            <a:ext cx="1216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Calibri"/>
              </a:rPr>
              <a:t>●  Core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9663" y="1581912"/>
            <a:ext cx="1216151" cy="45720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69663" y="1709928"/>
            <a:ext cx="1216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Calibri"/>
              </a:rPr>
              <a:t>●  Core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31536" y="1581912"/>
            <a:ext cx="1216151" cy="4572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31536" y="1709928"/>
            <a:ext cx="1216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Calibri"/>
              </a:rPr>
              <a:t>●  Core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93407" y="1581912"/>
            <a:ext cx="1216151" cy="457200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93407" y="1709928"/>
            <a:ext cx="1216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Calibri"/>
              </a:rPr>
              <a:t>●  Core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79" y="1581912"/>
            <a:ext cx="1216151" cy="457200"/>
          </a:xfrm>
          <a:prstGeom prst="rect">
            <a:avLst/>
          </a:prstGeom>
          <a:solidFill>
            <a:srgbClr val="2D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79" y="1709928"/>
            <a:ext cx="1216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7280"/>
                </a:solidFill>
                <a:latin typeface="Calibri"/>
              </a:rPr>
              <a:t>◐  Sec.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17152" y="1581912"/>
            <a:ext cx="1216151" cy="457200"/>
          </a:xfrm>
          <a:prstGeom prst="rect">
            <a:avLst/>
          </a:prstGeom>
          <a:solidFill>
            <a:srgbClr val="2D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17152" y="1709928"/>
            <a:ext cx="1216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7280"/>
                </a:solidFill>
                <a:latin typeface="Calibri"/>
              </a:rPr>
              <a:t>◐  Sec.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479024" y="1581912"/>
            <a:ext cx="1216151" cy="457200"/>
          </a:xfrm>
          <a:prstGeom prst="rect">
            <a:avLst/>
          </a:prstGeom>
          <a:solidFill>
            <a:srgbClr val="2D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79024" y="1709928"/>
            <a:ext cx="1216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7280"/>
                </a:solidFill>
                <a:latin typeface="Calibri"/>
              </a:rPr>
              <a:t>◐  Sec.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" y="2075688"/>
            <a:ext cx="13716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8600" y="2103120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Calibri"/>
              </a:rPr>
              <a:t>T2
Onboard.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45920" y="2075688"/>
            <a:ext cx="1216151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45920" y="2203704"/>
            <a:ext cx="1216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Calibri"/>
              </a:rPr>
              <a:t>●  Core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07791" y="2075688"/>
            <a:ext cx="1216151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07791" y="2203704"/>
            <a:ext cx="1216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Calibri"/>
              </a:rPr>
              <a:t>●  Core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69663" y="2075688"/>
            <a:ext cx="1216151" cy="45720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69663" y="2203704"/>
            <a:ext cx="1216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Calibri"/>
              </a:rPr>
              <a:t>●  Core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31536" y="2075688"/>
            <a:ext cx="1216151" cy="4572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31536" y="2203704"/>
            <a:ext cx="1216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Calibri"/>
              </a:rPr>
              <a:t>●  Core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93407" y="2075688"/>
            <a:ext cx="1216151" cy="457200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93407" y="2203704"/>
            <a:ext cx="1216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Calibri"/>
              </a:rPr>
              <a:t>●  Core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955279" y="2075688"/>
            <a:ext cx="1216151" cy="45720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55279" y="2203704"/>
            <a:ext cx="1216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2D3A4E"/>
                </a:solidFill>
                <a:latin typeface="Calibri"/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217152" y="2075688"/>
            <a:ext cx="1216151" cy="45720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17152" y="2203704"/>
            <a:ext cx="1216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2D3A4E"/>
                </a:solidFill>
                <a:latin typeface="Calibri"/>
              </a:rPr>
              <a:t>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479024" y="2075688"/>
            <a:ext cx="1216151" cy="457200"/>
          </a:xfrm>
          <a:prstGeom prst="rect">
            <a:avLst/>
          </a:prstGeom>
          <a:solidFill>
            <a:srgbClr val="2D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79024" y="2203704"/>
            <a:ext cx="1216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7280"/>
                </a:solidFill>
                <a:latin typeface="Calibri"/>
              </a:rPr>
              <a:t>◐  Sec.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8600" y="2569464"/>
            <a:ext cx="1371600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28600" y="2596896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Calibri"/>
              </a:rPr>
              <a:t>T3
Dashboard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645920" y="2569464"/>
            <a:ext cx="1216151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645920" y="2697480"/>
            <a:ext cx="1216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Calibri"/>
              </a:rPr>
              <a:t>●  Core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907791" y="2569464"/>
            <a:ext cx="1216151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907791" y="2697480"/>
            <a:ext cx="1216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Calibri"/>
              </a:rPr>
              <a:t>●  Core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169663" y="2569464"/>
            <a:ext cx="1216151" cy="45720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69663" y="2697480"/>
            <a:ext cx="1216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Calibri"/>
              </a:rPr>
              <a:t>●  Core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31536" y="2569464"/>
            <a:ext cx="1216151" cy="4572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31536" y="2697480"/>
            <a:ext cx="1216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Calibri"/>
              </a:rPr>
              <a:t>●  Core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693407" y="2569464"/>
            <a:ext cx="1216151" cy="457200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93407" y="2697480"/>
            <a:ext cx="1216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Calibri"/>
              </a:rPr>
              <a:t>●  Core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955279" y="2569464"/>
            <a:ext cx="1216151" cy="457200"/>
          </a:xfrm>
          <a:prstGeom prst="rect">
            <a:avLst/>
          </a:prstGeom>
          <a:solidFill>
            <a:srgbClr val="2D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955279" y="2697480"/>
            <a:ext cx="1216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7280"/>
                </a:solidFill>
                <a:latin typeface="Calibri"/>
              </a:rPr>
              <a:t>◐  Sec.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217152" y="2569464"/>
            <a:ext cx="1216151" cy="45720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217152" y="2697480"/>
            <a:ext cx="1216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2D3A4E"/>
                </a:solidFill>
                <a:latin typeface="Calibri"/>
              </a:rPr>
              <a:t>—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479024" y="2569464"/>
            <a:ext cx="1216151" cy="457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479024" y="2697480"/>
            <a:ext cx="1216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Calibri"/>
              </a:rPr>
              <a:t>●  Core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28600" y="3063240"/>
            <a:ext cx="1371600" cy="457200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28600" y="3090672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Calibri"/>
              </a:rPr>
              <a:t>T4
Gastos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645920" y="3063240"/>
            <a:ext cx="1216151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645920" y="3191256"/>
            <a:ext cx="1216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Calibri"/>
              </a:rPr>
              <a:t>●  Core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907791" y="3063240"/>
            <a:ext cx="1216151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907791" y="3191256"/>
            <a:ext cx="1216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Calibri"/>
              </a:rPr>
              <a:t>●  Core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169663" y="3063240"/>
            <a:ext cx="1216151" cy="45720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169663" y="3191256"/>
            <a:ext cx="1216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Calibri"/>
              </a:rPr>
              <a:t>●  Core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431536" y="3063240"/>
            <a:ext cx="1216151" cy="457200"/>
          </a:xfrm>
          <a:prstGeom prst="rect">
            <a:avLst/>
          </a:prstGeom>
          <a:solidFill>
            <a:srgbClr val="2D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431536" y="3191256"/>
            <a:ext cx="1216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7280"/>
                </a:solidFill>
                <a:latin typeface="Calibri"/>
              </a:rPr>
              <a:t>◐  Sec.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693407" y="3063240"/>
            <a:ext cx="1216151" cy="457200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693407" y="3191256"/>
            <a:ext cx="1216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Calibri"/>
              </a:rPr>
              <a:t>●  Core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955279" y="3063240"/>
            <a:ext cx="1216151" cy="45720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955279" y="3191256"/>
            <a:ext cx="1216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2D3A4E"/>
                </a:solidFill>
                <a:latin typeface="Calibri"/>
              </a:rPr>
              <a:t>—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217152" y="3063240"/>
            <a:ext cx="1216151" cy="45720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217152" y="3191256"/>
            <a:ext cx="1216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2D3A4E"/>
                </a:solidFill>
                <a:latin typeface="Calibri"/>
              </a:rPr>
              <a:t>—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479024" y="3063240"/>
            <a:ext cx="1216151" cy="457200"/>
          </a:xfrm>
          <a:prstGeom prst="rect">
            <a:avLst/>
          </a:prstGeom>
          <a:solidFill>
            <a:srgbClr val="2D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479024" y="3191256"/>
            <a:ext cx="1216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7280"/>
                </a:solidFill>
                <a:latin typeface="Calibri"/>
              </a:rPr>
              <a:t>◐  Sec.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28600" y="3557016"/>
            <a:ext cx="1371600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28600" y="3584448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Calibri"/>
              </a:rPr>
              <a:t>T5
Alerta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645920" y="3557016"/>
            <a:ext cx="1216151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645920" y="3685032"/>
            <a:ext cx="1216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Calibri"/>
              </a:rPr>
              <a:t>●  Core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907791" y="3557016"/>
            <a:ext cx="1216151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907791" y="3685032"/>
            <a:ext cx="1216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Calibri"/>
              </a:rPr>
              <a:t>●  Core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169663" y="3557016"/>
            <a:ext cx="1216151" cy="457200"/>
          </a:xfrm>
          <a:prstGeom prst="rect">
            <a:avLst/>
          </a:prstGeom>
          <a:solidFill>
            <a:srgbClr val="2D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169663" y="3685032"/>
            <a:ext cx="1216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7280"/>
                </a:solidFill>
                <a:latin typeface="Calibri"/>
              </a:rPr>
              <a:t>◐  Sec.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431536" y="3557016"/>
            <a:ext cx="1216151" cy="45720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431536" y="3685032"/>
            <a:ext cx="1216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2D3A4E"/>
                </a:solidFill>
                <a:latin typeface="Calibri"/>
              </a:rPr>
              <a:t>—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693407" y="3557016"/>
            <a:ext cx="1216151" cy="457200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693407" y="3685032"/>
            <a:ext cx="1216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Calibri"/>
              </a:rPr>
              <a:t>●  Core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955279" y="3557016"/>
            <a:ext cx="1216151" cy="45720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955279" y="3685032"/>
            <a:ext cx="1216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2D3A4E"/>
                </a:solidFill>
                <a:latin typeface="Calibri"/>
              </a:rPr>
              <a:t>—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217152" y="3557016"/>
            <a:ext cx="1216151" cy="45720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217152" y="3685032"/>
            <a:ext cx="1216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2D3A4E"/>
                </a:solidFill>
                <a:latin typeface="Calibri"/>
              </a:rPr>
              <a:t>—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479024" y="3557016"/>
            <a:ext cx="1216151" cy="45720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479024" y="3685032"/>
            <a:ext cx="1216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2D3A4E"/>
                </a:solidFill>
                <a:latin typeface="Calibri"/>
              </a:rPr>
              <a:t>—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28600" y="4050791"/>
            <a:ext cx="1371600" cy="45720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228600" y="4078224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Calibri"/>
              </a:rPr>
              <a:t>T6
Metas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645920" y="4050791"/>
            <a:ext cx="1216151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645920" y="4178807"/>
            <a:ext cx="1216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Calibri"/>
              </a:rPr>
              <a:t>●  Core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907791" y="4050791"/>
            <a:ext cx="1216151" cy="457200"/>
          </a:xfrm>
          <a:prstGeom prst="rect">
            <a:avLst/>
          </a:prstGeom>
          <a:solidFill>
            <a:srgbClr val="2D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907791" y="4178807"/>
            <a:ext cx="1216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7280"/>
                </a:solidFill>
                <a:latin typeface="Calibri"/>
              </a:rPr>
              <a:t>◐  Sec.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169663" y="4050791"/>
            <a:ext cx="1216151" cy="45720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169663" y="4178807"/>
            <a:ext cx="1216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Calibri"/>
              </a:rPr>
              <a:t>●  Core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431536" y="4050791"/>
            <a:ext cx="1216151" cy="4572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431536" y="4178807"/>
            <a:ext cx="1216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Calibri"/>
              </a:rPr>
              <a:t>●  Core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693407" y="4050791"/>
            <a:ext cx="1216151" cy="457200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693407" y="4178807"/>
            <a:ext cx="1216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Calibri"/>
              </a:rPr>
              <a:t>●  Core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955279" y="4050791"/>
            <a:ext cx="1216151" cy="45720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955279" y="4178807"/>
            <a:ext cx="1216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2D3A4E"/>
                </a:solidFill>
                <a:latin typeface="Calibri"/>
              </a:rPr>
              <a:t>—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9217152" y="4050791"/>
            <a:ext cx="1216151" cy="457200"/>
          </a:xfrm>
          <a:prstGeom prst="rect">
            <a:avLst/>
          </a:prstGeom>
          <a:solidFill>
            <a:srgbClr val="2D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9217152" y="4178807"/>
            <a:ext cx="1216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7280"/>
                </a:solidFill>
                <a:latin typeface="Calibri"/>
              </a:rPr>
              <a:t>◐  Sec.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0479024" y="4050791"/>
            <a:ext cx="1216151" cy="45720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0479024" y="4178807"/>
            <a:ext cx="1216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2D3A4E"/>
                </a:solidFill>
                <a:latin typeface="Calibri"/>
              </a:rPr>
              <a:t>—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228600" y="4544568"/>
            <a:ext cx="137160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228600" y="4572000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Calibri"/>
              </a:rPr>
              <a:t>T7
Educação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645920" y="4544568"/>
            <a:ext cx="1216151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645920" y="4672584"/>
            <a:ext cx="1216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Calibri"/>
              </a:rPr>
              <a:t>●  Core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2907791" y="4544568"/>
            <a:ext cx="1216151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2907791" y="4672584"/>
            <a:ext cx="1216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Calibri"/>
              </a:rPr>
              <a:t>●  Core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4169663" y="4544568"/>
            <a:ext cx="1216151" cy="45720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169663" y="4672584"/>
            <a:ext cx="1216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Calibri"/>
              </a:rPr>
              <a:t>●  Core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5431536" y="4544568"/>
            <a:ext cx="1216151" cy="4572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5431536" y="4672584"/>
            <a:ext cx="1216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Calibri"/>
              </a:rPr>
              <a:t>●  Core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693407" y="4544568"/>
            <a:ext cx="1216151" cy="45720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693407" y="4672584"/>
            <a:ext cx="1216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2D3A4E"/>
                </a:solidFill>
                <a:latin typeface="Calibri"/>
              </a:rPr>
              <a:t>—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7955279" y="4544568"/>
            <a:ext cx="1216151" cy="45720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7955279" y="4672584"/>
            <a:ext cx="1216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2D3A4E"/>
                </a:solidFill>
                <a:latin typeface="Calibri"/>
              </a:rPr>
              <a:t>—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9217152" y="4544568"/>
            <a:ext cx="1216151" cy="45720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9217152" y="4672584"/>
            <a:ext cx="1216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2D3A4E"/>
                </a:solidFill>
                <a:latin typeface="Calibri"/>
              </a:rPr>
              <a:t>—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0479024" y="4544568"/>
            <a:ext cx="1216151" cy="45720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0479024" y="4672584"/>
            <a:ext cx="12161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2D3A4E"/>
                </a:solidFill>
                <a:latin typeface="Calibri"/>
              </a:rPr>
              <a:t>—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228600" y="5074920"/>
            <a:ext cx="11731752" cy="36576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365760" y="5138928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D48A"/>
                </a:solidFill>
                <a:latin typeface="Calibri"/>
              </a:rPr>
              <a:t>●  Core = tela principal para essa persona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389120" y="5138928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◐  Sec. = tela também serve (secundariamente)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686800" y="513892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D3A4E"/>
                </a:solidFill>
                <a:latin typeface="Calibri"/>
              </a:rPr>
              <a:t>—  Fora do escopo MVP para esse perfil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28600" y="5532120"/>
            <a:ext cx="11731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P6 (Investidor Avançado) e P7 (Aposentado) têm cobertura parcial no MVP — são alvo de versões futuras com funcionalidades específicas.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0" y="6510528"/>
            <a:ext cx="1218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FinanceApp · Protótipo Web MVP v1.0.0 · 2026-05-11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0972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Escopo MVP — O Que Entra em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Foco máximo na Dor #1. Tudo o mais é v2+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51560"/>
            <a:ext cx="6675120" cy="34747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15568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✅  Entra no MVP v1.0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463040"/>
            <a:ext cx="6675120" cy="438912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463040"/>
            <a:ext cx="475488" cy="43891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554480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Calibri"/>
              </a:rPr>
              <a:t>T1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563624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Landing page com problem statement e CTA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1938528"/>
            <a:ext cx="6675120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" y="1938528"/>
            <a:ext cx="475488" cy="4389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" y="2029968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Calibri"/>
              </a:rPr>
              <a:t>T2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039112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Onboarding + diagnóstico via Open Finance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2414016"/>
            <a:ext cx="6675120" cy="438912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2414016"/>
            <a:ext cx="475488" cy="43891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" y="2505456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Calibri"/>
              </a:rPr>
              <a:t>T3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2514600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Dashboard «Onde foi meu dinheiro?»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2889504"/>
            <a:ext cx="6675120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8600" y="2889504"/>
            <a:ext cx="475488" cy="438912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" y="2980944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Calibri"/>
              </a:rPr>
              <a:t>T4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299008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Análise de gastos por categoria + comparativo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3364992"/>
            <a:ext cx="6675120" cy="438912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3364992"/>
            <a:ext cx="475488" cy="43891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8600" y="3456432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Calibri"/>
              </a:rPr>
              <a:t>T5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3465576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Alertas de fatura de cartão + simulador rotativo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3840480"/>
            <a:ext cx="6675120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840480"/>
            <a:ext cx="475488" cy="43891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" y="3931920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Calibri"/>
              </a:rPr>
              <a:t>T6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" y="3941064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Metas e reserva de emergência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4315968"/>
            <a:ext cx="6675120" cy="438912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315968"/>
            <a:ext cx="475488" cy="43891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" y="4407408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Calibri"/>
              </a:rPr>
              <a:t>T7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" y="4416552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Educação contextual inline (insights automáticos)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4791456"/>
            <a:ext cx="6675120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28600" y="4791456"/>
            <a:ext cx="475488" cy="438912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8600" y="4882896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" y="4892040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Open Finance: Pluggy (Nubank, Itaú, Bradesco...)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" y="5266944"/>
            <a:ext cx="6675120" cy="438912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28600" y="5266944"/>
            <a:ext cx="475488" cy="438912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8600" y="5358383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" y="536752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Autenticação: email + Google OAuth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" y="5742431"/>
            <a:ext cx="6675120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28600" y="5742431"/>
            <a:ext cx="475488" cy="438912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28600" y="5833871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8952" y="5843016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Freemium: tier Free + Essentials (R$19,90/mês)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178040" y="1051560"/>
            <a:ext cx="4782312" cy="347472"/>
          </a:xfrm>
          <a:prstGeom prst="rect">
            <a:avLst/>
          </a:prstGeom>
          <a:solidFill>
            <a:srgbClr val="2D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0" y="111556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  <a:latin typeface="Calibri"/>
              </a:rPr>
              <a:t>🔲  Fora do MVP — versões futuras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178040" y="1463040"/>
            <a:ext cx="4782312" cy="438912"/>
          </a:xfrm>
          <a:prstGeom prst="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0" y="156362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→ Investimentos e carteira (v2)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78040" y="1938528"/>
            <a:ext cx="4782312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0" y="203911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→ Análise por IA / categorização automática avançada (v2)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178040" y="2414016"/>
            <a:ext cx="4782312" cy="438912"/>
          </a:xfrm>
          <a:prstGeom prst="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0" y="251460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→ Simulador de IR sobre investimentos (v2)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178040" y="2889504"/>
            <a:ext cx="4782312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5200" y="299008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→ App mobile nativo iOS/Android (v2)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78040" y="3364992"/>
            <a:ext cx="4782312" cy="438912"/>
          </a:xfrm>
          <a:prstGeom prst="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15200" y="346557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→ Canal B2B / benefício corporativo (v2)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178040" y="3840480"/>
            <a:ext cx="4782312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0" y="394106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→ Módulo de crédito e antecipação de recebíveis (v3)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78040" y="4315968"/>
            <a:ext cx="4782312" cy="438912"/>
          </a:xfrm>
          <a:prstGeom prst="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15200" y="441655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→ Previdência privada e simulador de aposentadoria (v3)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178040" y="4791456"/>
            <a:ext cx="4782312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15200" y="489204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→ Integração multi-corretora para P6 (v3)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78040" y="5266944"/>
            <a:ext cx="4782312" cy="438912"/>
          </a:xfrm>
          <a:prstGeom prst="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15200" y="536752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→ Funcionalidades específicas para MEI/PJ (v3)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178040" y="5742431"/>
            <a:ext cx="4782312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15200" y="58430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→ Suporte a P7 (Aposentado) com interface acessível (v3)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6510528"/>
            <a:ext cx="1218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FinanceApp · Protótipo Web MVP v1.0.0 · 2026-05-11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0972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Jornada de Ativação — Do Sign-up ao Hábito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Os primeiros 7 dias determinam se o usuário fica. Meta: 40% completando o ciclo.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2011680" cy="43891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F172A"/>
                </a:solidFill>
                <a:latin typeface="Calibri"/>
              </a:rPr>
              <a:t>D1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19"/>
            <a:ext cx="2011680" cy="274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Sign-up
+ Diagnóstico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87168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Conecta banco → vê onde
foi o dinheiro do mês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383280"/>
            <a:ext cx="155448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44728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Calibri"/>
              </a:rPr>
              <a:t>Aha moment
em &lt;5 min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7479" y="1280160"/>
            <a:ext cx="2011680" cy="4389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79" y="13716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F172A"/>
                </a:solidFill>
                <a:latin typeface="Calibri"/>
              </a:rPr>
              <a:t>D2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79" y="1874519"/>
            <a:ext cx="2011680" cy="274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193852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1ª Meta
definida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487168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App sugere: "Que tal criar
uma reserva de emergência?"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79" y="3383280"/>
            <a:ext cx="155448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79" y="344728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Calibri"/>
              </a:rPr>
              <a:t>Orientação
ativa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1280160"/>
            <a:ext cx="2011680" cy="4389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13716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F172A"/>
                </a:solidFill>
                <a:latin typeface="Calibri"/>
              </a:rPr>
              <a:t>D3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1874519"/>
            <a:ext cx="2011680" cy="274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193852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1º Alerta
recebido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2487168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"Você gastou R$80 em delivery
nos últimos 3 dias."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57800" y="3383280"/>
            <a:ext cx="155448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57800" y="344728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Calibri"/>
              </a:rPr>
              <a:t>Insight
contextual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60919" y="1280160"/>
            <a:ext cx="2011680" cy="43891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60919" y="13716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F172A"/>
                </a:solidFill>
                <a:latin typeface="Calibri"/>
              </a:rPr>
              <a:t>D5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60919" y="1874519"/>
            <a:ext cx="2011680" cy="274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52359" y="193852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1ª Ação
tomada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59" y="2487168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Usuário cancela assinatura
não utilizada (R$59/mês)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19" y="3383280"/>
            <a:ext cx="155448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19" y="344728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Calibri"/>
              </a:rPr>
              <a:t>Primeira
vitória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92640" y="1280160"/>
            <a:ext cx="2011680" cy="4389120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92640" y="13716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F172A"/>
                </a:solidFill>
                <a:latin typeface="Calibri"/>
              </a:rPr>
              <a:t>D7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92640" y="1874519"/>
            <a:ext cx="2011680" cy="2743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84080" y="193852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Calibri"/>
              </a:rPr>
              <a:t>Check-in
semanal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2487168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Dashboard semanal:
"Você economizou R$280!"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921240" y="3383280"/>
            <a:ext cx="155448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21240" y="344728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Calibri"/>
              </a:rPr>
              <a:t>Loop
formado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94560" y="324612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97316"/>
                </a:solidFill>
                <a:latin typeface="Calibri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26279" y="324612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97316"/>
                </a:solidFill>
                <a:latin typeface="Calibri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324612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97316"/>
                </a:solidFill>
                <a:latin typeface="Calibri"/>
              </a:rPr>
              <a:t>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9719" y="324612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97316"/>
                </a:solidFill>
                <a:latin typeface="Calibri"/>
              </a:rPr>
              <a:t>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8600" y="5806440"/>
            <a:ext cx="11731752" cy="68580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28600" y="5852160"/>
            <a:ext cx="293293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D48A"/>
                </a:solidFill>
                <a:latin typeface="Calibri"/>
              </a:rPr>
              <a:t>40%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8600" y="6217920"/>
            <a:ext cx="293293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completam ciclo D1→D7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61538" y="5852160"/>
            <a:ext cx="293293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D48A"/>
                </a:solidFill>
                <a:latin typeface="Calibri"/>
              </a:rPr>
              <a:t>60%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61538" y="6217920"/>
            <a:ext cx="293293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retornam na semana 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94476" y="5852160"/>
            <a:ext cx="293293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D48A"/>
                </a:solidFill>
                <a:latin typeface="Calibri"/>
              </a:rPr>
              <a:t>NPS &gt;50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94476" y="6217920"/>
            <a:ext cx="293293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antes de escalar marketing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27414" y="5852160"/>
            <a:ext cx="293293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D48A"/>
                </a:solidFill>
                <a:latin typeface="Calibri"/>
              </a:rPr>
              <a:t>&lt;5 min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27414" y="6217920"/>
            <a:ext cx="293293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para o primeiro aha moment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0" y="6510528"/>
            <a:ext cx="1218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FinanceApp · Protótipo Web MVP v1.0.0 · 2026-05-11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0972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Métricas de Sucesso — Como Saberemos que Funcionou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8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Cada métrica valida um pilar do 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51560"/>
            <a:ext cx="5760720" cy="265176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051560"/>
            <a:ext cx="576072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2471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Pilar: Visibilidade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90472"/>
            <a:ext cx="5486400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490472"/>
            <a:ext cx="45720" cy="6400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1545336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Taxa de ativação D1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545336"/>
            <a:ext cx="1234440" cy="274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563624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≥ 70%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1837943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conectam banco e veem diagnóstico no 1º dia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194560"/>
            <a:ext cx="5486400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194560"/>
            <a:ext cx="45720" cy="6400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" y="2249424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Tempo até aha moment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2249424"/>
            <a:ext cx="1234440" cy="274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2267712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&lt; 5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2542032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da criação de conta até ver "onde foi meu dinheiro"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898648"/>
            <a:ext cx="5486400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2898648"/>
            <a:ext cx="45720" cy="6400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" y="295351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Sessões/semana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2953512"/>
            <a:ext cx="1234440" cy="274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2971800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≥ 3×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" y="324612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usuário retorna espontaneamente para ver o dashboard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1051560"/>
            <a:ext cx="5760720" cy="265176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1051560"/>
            <a:ext cx="576072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12471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Pilar: Orientação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80" y="1490472"/>
            <a:ext cx="5486400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55080" y="1490472"/>
            <a:ext cx="4572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73952" y="1545336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Ações tomadas D1-D7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561319" y="1545336"/>
            <a:ext cx="123444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61319" y="1563624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≥ 1 ação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3952" y="1837943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cancelar assinatura, criar meta, ou quitar fatura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194560"/>
            <a:ext cx="5486400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55080" y="2194560"/>
            <a:ext cx="4572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73952" y="2249424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Meta criada D1-D7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561319" y="2249424"/>
            <a:ext cx="123444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61319" y="2267712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≥ 60%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3952" y="2542032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dos usuários ativos criam ao menos 1 meta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5080" y="2898648"/>
            <a:ext cx="5486400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5080" y="2898648"/>
            <a:ext cx="4572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73952" y="295351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Alertas clicados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561319" y="2953512"/>
            <a:ext cx="123444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61319" y="2971800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≥ 40%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73952" y="324612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taxa de clique em alertas de cartão/vencimento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" y="3840479"/>
            <a:ext cx="5760720" cy="265176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28600" y="3840479"/>
            <a:ext cx="5760720" cy="36576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3913631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Pilar: Timing (Educação)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4279392"/>
            <a:ext cx="5486400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65760" y="4279392"/>
            <a:ext cx="45720" cy="64008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4632" y="4334255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Insights lidos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0" y="4334255"/>
            <a:ext cx="1234440" cy="2743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0" y="4352544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≥ 35%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4632" y="4626864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dos insights inline gerados são lidos até o fim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4983479"/>
            <a:ext cx="5486400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65760" y="4983479"/>
            <a:ext cx="45720" cy="64008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4632" y="5038343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NPS 30 dias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0" y="5038343"/>
            <a:ext cx="1234440" cy="2743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0" y="5056631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&gt; 50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4632" y="5330951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net promoter score no final do primeiro mês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5687568"/>
            <a:ext cx="5486400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65760" y="5687568"/>
            <a:ext cx="45720" cy="64008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84632" y="5742431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Retenção D30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0" y="5742431"/>
            <a:ext cx="1234440" cy="2743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0" y="5760720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≥ 45%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4632" y="603504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usuários ainda ativos 30 dias após o cadastro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17920" y="3840479"/>
            <a:ext cx="5760720" cy="265176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17920" y="3840479"/>
            <a:ext cx="5760720" cy="365760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55080" y="3913631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Pilar: Negócio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5080" y="4279392"/>
            <a:ext cx="5486400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55080" y="4279392"/>
            <a:ext cx="45720" cy="640080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73952" y="4334255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Conversão free→pago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561319" y="4334255"/>
            <a:ext cx="1234440" cy="274320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561319" y="4352544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≥ 8%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73952" y="4626864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após 30 dias de uso no plano gratuito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355080" y="4983479"/>
            <a:ext cx="5486400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355080" y="4983479"/>
            <a:ext cx="45720" cy="640080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73952" y="5038343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CAC orgânico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561319" y="5038343"/>
            <a:ext cx="1234440" cy="274320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561319" y="5056631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&lt; R$50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73952" y="5330951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custo de aquisição via conteúdo e boca a boca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355080" y="5687568"/>
            <a:ext cx="5486400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355080" y="5687568"/>
            <a:ext cx="45720" cy="640080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473952" y="5742431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LTV/CAC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561319" y="5742431"/>
            <a:ext cx="1234440" cy="274320"/>
          </a:xfrm>
          <a:prstGeom prst="rect">
            <a:avLst/>
          </a:prstGeom>
          <a:solidFill>
            <a:srgbClr val="00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561319" y="5760720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&gt; 8×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73952" y="603504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indicador de saúde do modelo SaaS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0" y="6510528"/>
            <a:ext cx="1218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FinanceApp · Protótipo Web MVP v1.0.0 · 2026-05-11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