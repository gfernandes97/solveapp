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97A"/>
                </a:solidFill>
              </a:rPr>
              <a:t>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</a:rPr>
              <a:t>Agora você sabe.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Retention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Como o Solve forma um hábito financeiro mensal e retém o usuário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36576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58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Versão v1.0.0  ·  2026-05-13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</a:rPr>
              <a:t>Solve · Retention Loop · v1.0.0 · 2026-05-13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O PROBLEMA DE RETENÇÃO EM FINTECH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maioria dos apps de finanças não forma hábito.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383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F4444"/>
                </a:solidFill>
              </a:rPr>
              <a:t>~70%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abandonam
em 30 dias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207008"/>
            <a:ext cx="3383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2984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F4444"/>
                </a:solidFill>
              </a:rPr>
              <a:t>~15%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019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chegam ao
terceiro mês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207008"/>
            <a:ext cx="33832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2984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F4444"/>
                </a:solidFill>
              </a:rPr>
              <a:t>~8%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019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convertem
para pago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87168"/>
            <a:ext cx="109728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DOIS MODOS DE FALHA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5577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557784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358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 útil sem razão para voltar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1985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Nenhum trigger externo, nenhum hábito formado. O usuário não volta porque o app não chama — só responde quando procurado.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5577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5577840" cy="17190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358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 que pede esforço sem retornar 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1985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Alto custo cognitivo (lançamento manual, categorização), recompensa fraca e demorada. O usuário desiste antes do primeiro insight real.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28032"/>
            <a:ext cx="12188952" cy="89611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4956048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Hábito não é uma feature. É um loop projetado.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O Solve usa 4 loops complementares para transformar o app em parte da rotina financeira mensal do usuário.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O MODELO · HOOK FRAMEWORK — NIR EYAL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Os 4 componentes de qualquer hábito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77824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2487168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487168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2258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84831"/>
            <a:ext cx="22585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que dispara a ação.
Externo (push, email) → interno (ansiedade, curiosidade).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547872"/>
            <a:ext cx="22128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2"/>
            <a:ext cx="22585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Ex: Push de alerta · Resumo semanal · Email de relatório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240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0128" y="1024128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1078992"/>
            <a:ext cx="2487168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17043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536192"/>
            <a:ext cx="2258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84831"/>
            <a:ext cx="22585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menor esforço possível.
A ação deve ser simples o suficiente para acontecer sem motivação extra.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288" y="3547872"/>
            <a:ext cx="22128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3639312"/>
            <a:ext cx="22585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Ex: Abrir o app · Ver o resumo · Confirmar uma categoria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240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024128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078992"/>
            <a:ext cx="2487168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117043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97A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1536192"/>
            <a:ext cx="2258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RECOMPENSA
VARIÁVEL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2084831"/>
            <a:ext cx="22585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Surpresa + progresso visível.
Variabilidade mantém o loop interessante a cada ciclo.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216" y="3547872"/>
            <a:ext cx="22128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3639312"/>
            <a:ext cx="22585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Ex: Insight novo · Comparação com semana anterior · Milestone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24028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5984" y="1024128"/>
            <a:ext cx="24871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15984" y="1078992"/>
            <a:ext cx="2487168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53144" y="1170432"/>
            <a:ext cx="2258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1536192"/>
            <a:ext cx="2258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INVESTIMENTO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2084831"/>
            <a:ext cx="22585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que o usuário deixa que aumenta o valor futuro.
Mais histórico = melhor experiência no próximo ciclo.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3547872"/>
            <a:ext cx="22128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3639312"/>
            <a:ext cx="2258568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Ex: Categorias salvas · Meta criada · Histórico acumulado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468112"/>
            <a:ext cx="112745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7A"/>
                </a:solidFill>
              </a:rPr>
              <a:t>O investimento acumula contexto que torna o próximo trigger mais relevante — o loop se fortalece a cada ciclo.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OS 4 LOOPS DO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Loops complementares que cobrem diferentes frequências e motivações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74552" cy="13167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73152" cy="13167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35608"/>
            <a:ext cx="530352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53896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7043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Alerta Contextual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54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Múltiplas vezes por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280160"/>
            <a:ext cx="54864" cy="7680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11704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GATILHO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4173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Gasto incomum detectado ou fatura próxima do limite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280160"/>
            <a:ext cx="54864" cy="7680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170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RECOMPENSA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4173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Vê o impacto no orçamento em tempo real com contexto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95728"/>
            <a:ext cx="11274552" cy="13167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395728"/>
            <a:ext cx="73152" cy="13167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825496"/>
            <a:ext cx="53035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43784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560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Check-in Semanal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944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1× por semana — domingo ou segunda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670048"/>
            <a:ext cx="54864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2560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GATILHO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280720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Resumo automático da semana gerado e enviado por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670048"/>
            <a:ext cx="54864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2560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RECOMPENSA PRINCIPAL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280720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Semana em perspectiva, padrão novo descoberto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85616"/>
            <a:ext cx="11274552" cy="13167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85616"/>
            <a:ext cx="73152" cy="131673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215384"/>
            <a:ext cx="530352" cy="457200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233672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Fechamento Mensal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3342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1× por mês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059936"/>
            <a:ext cx="54864" cy="76809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39502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GATILHO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41970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Relatório mensal gerado automaticamente no fechamento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059936"/>
            <a:ext cx="54864" cy="768096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39502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RECOMPENSA PRINCIPAL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41970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Evolução visível, celebração e ranking pessoal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175504"/>
            <a:ext cx="11274552" cy="131673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75504"/>
            <a:ext cx="73152" cy="13167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5605272"/>
            <a:ext cx="530352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623560"/>
            <a:ext cx="548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3400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Progresso de Metas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7241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2–3× por semana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5449824"/>
            <a:ext cx="54864" cy="7680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21808" y="53400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GATILHO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21808" y="558698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Milestone atingido ou prazo se aproximando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5449824"/>
            <a:ext cx="54864" cy="7680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53400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RECOMPENSA PRINCIPAL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8" y="55869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Barra de progresso e celebração de milestones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Loop 01  ·  Frequência: Múltiplas vezes por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Alerta Contextual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487168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Gasto incomum detectado
ou fatura próxima do limite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078992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Abre o app para
verificar e categorizar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078992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RECOMPENSA VARIÁVEL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Vê o impacto no orçamento
em tempo real com contexto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078992"/>
            <a:ext cx="2487168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INVESTIMENTO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Transação categorizada
enriquece histórico e padrões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34256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↺  O investimento acumula contexto que torna o próximo trigger mais relevante — o loop se fortalece a cada ciclo.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28032"/>
            <a:ext cx="12188952" cy="17739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EXEMPLO DE NOTIFICAÇÃO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112745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⚡  Você gastou R$180 em delivery esta semana — 60% acima da sua média. Ainda dá tempo de ajustar antes do fim do mês.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Loop 02  ·  Frequência: 1× por semana — domingo ou segunda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Check-in Semanal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Resumo automático da semana
gerado e enviado por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078992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Revisa a semana
e confirma categorias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078992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RECOMPENSA VARIÁVEL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Semana em perspectiva,
padrão novo descoberto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078992"/>
            <a:ext cx="2487168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INVESTIMENTO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Preferências de categorias
aprimoram sugestões futuras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34256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↺  O investimento acumula contexto que torna o próximo trigger mais relevante — o loop se fortalece a cada ciclo.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28032"/>
            <a:ext cx="12188952" cy="17739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EXEMPLO DE NOTIFICAÇÃO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112745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📊  Semana encerrada: R$1.840 gastos · 3 categorias acima do normal · R$420 economizados vs. semana passada.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Loop 03  ·  Frequência: 1× por mês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Fechamento Mensal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Relatório mensal gerado
automaticamente no fechamento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078992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Lê relatório e compara
com o mês anterior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078992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RECOMPENSA VARIÁVEL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Evolução visível,
celebração e ranking pessoal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078992"/>
            <a:ext cx="2487168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INVESTIMENTO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Define meta
para o próximo mês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34256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↺  O investimento acumula contexto que torna o próximo trigger mais relevante — o loop se fortalece a cada ciclo.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28032"/>
            <a:ext cx="12188952" cy="17739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EXEMPLO DE NOTIFICAÇÃO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112745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🎯  Seu relatório de abril está pronto. Você gastou 12% menos que março e sobrou R$680 para investir.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Loop 04  ·  Frequência: 2–3× por 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</a:rPr>
              <a:t>Progresso de Metas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2487168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Milestone atingido
ou prazo se aproximando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078992"/>
            <a:ext cx="24871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Vê progresso
e atualiza aporte da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078992"/>
            <a:ext cx="2487168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RECOMPENSA VARIÁVEL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Barra de progresso
e celebração de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331720"/>
            <a:ext cx="21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078992"/>
            <a:ext cx="2487168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133856"/>
            <a:ext cx="2487168" cy="30906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234440"/>
            <a:ext cx="2258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INVESTIMENTO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1517904"/>
            <a:ext cx="2258568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Meta mais detalhada
e prazo calibrado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34256"/>
            <a:ext cx="109728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↺  O investimento acumula contexto que torna o próximo trigger mais relevante — o loop se fortalece a cada ciclo.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28032"/>
            <a:ext cx="12188952" cy="17739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EXEMPLO DE NOTIFICAÇÃO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75504"/>
            <a:ext cx="1127455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🏆  Você chegou a 70% da reserva de emergência! Faltam R$1.200. No seu ritmo atual: mais 2 meses.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TRIGGERS POR PERSONA · COPY DE NOTIFICAÇÃO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A mesma dor, o gatilho certo para cada perfil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60704"/>
            <a:ext cx="2651760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8813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0881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Jovem Desorganizado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26464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Gasto por impulso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73936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"Você gastou R$94 em compras hoje. Quer ver onde foi?"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265176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218688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Fim de semana pesado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"Esse fim de semana custou R$380. 45% do seu limite semanal."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2803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919472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Categoria nova detectada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"Primeira vez que você gasta em apostas. Quer categorizar?"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00584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92424" y="1060704"/>
            <a:ext cx="2651760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108813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10881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Endividado Crônico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92424" y="1426464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517904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Fatura se aproximando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773936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"Fatura fecha em 3 dias. Você tem R$280 de margem — não ultrapasse."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127248"/>
            <a:ext cx="265176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3218688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Pagamento mínimo detectado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3474720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"Pagamento mínimo detectado. Isso custa R$142 em juros este mês."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92424" y="482803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4919472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Progresso na dívida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5175504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"Você reduziu R$800 da dívida este mês. Continue assim: 4 meses para zerar."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1005840"/>
            <a:ext cx="2651760" cy="548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27648" y="1060704"/>
            <a:ext cx="2651760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108813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7A"/>
                </a:solidFill>
              </a:rPr>
              <a:t>P3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94576" y="10881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Investidor Iniciante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7648" y="1426464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1517904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Sobra calculada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1773936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"Sobrou R$530 este mês. Renderiam R$62 no CDB até dezembro."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27648" y="3127248"/>
            <a:ext cx="265176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3218688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Meta de investimento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3474720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"Você está a R$1.200 da meta de R$10.000 em renda fixa."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7648" y="482803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919472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Oportunidade de corte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5175504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"Você gastou R$420 em assinaturas. 3 delas você não usa há 60 dias."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62872" y="1005840"/>
            <a:ext cx="26517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62872" y="1060704"/>
            <a:ext cx="2651760" cy="2926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599" y="108813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P5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799" y="10881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Profissional Ocupado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62872" y="1426464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599" y="1517904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Relatório disponível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599" y="1773936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"Relatório de maio pronto: 2 gastos incomuns e R$1.100 de sobra."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62872" y="3127248"/>
            <a:ext cx="2651760" cy="16276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599" y="3218688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Gasto corporativo fora do padrão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599" y="3474720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"Reembolso pendente: R$640 em viagens de abril ainda não lançado."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62872" y="482803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599" y="4919472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Projeção de patrimônio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599" y="5175504"/>
            <a:ext cx="24688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172A"/>
                </a:solidFill>
              </a:rPr>
              <a:t>"No ritmo atual, você chega a R$180k em patrimônio em 3 anos."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Solve · Retention Loop · v1.0.0 · 2026-05-13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JORNADA DE HÁBITO + MÉTRICAS DE RETENÇÃO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Do primeiro acesso ao hábito consolidado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9536"/>
            <a:ext cx="10972800" cy="3200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54864" cy="9692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09728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D1–D3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Ativação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972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Primeiro insight — aha moment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81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Loop: Alerta Contextual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84832"/>
            <a:ext cx="54864" cy="9692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5798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D4–D14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32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Formação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579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Primeira semana revisada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542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Loop: Check-in Semanal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54864" cy="9692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186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A"/>
                </a:solidFill>
              </a:rPr>
              <a:t>D15–D30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930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Consolidação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2186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Primeiro relatório mensal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6027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Loop: Fechamento Mensal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" cy="9692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27939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D31–D60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53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Comprometimento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2793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Primeira meta criada e acompanhada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663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Loop: Progresso de Metas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66944"/>
            <a:ext cx="54864" cy="969264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34009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7A"/>
                </a:solidFill>
              </a:rPr>
              <a:t>D60+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14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Hábito formado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3400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Ciclo mensal autossustentado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724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Loop: Todos os 4 loops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5504688"/>
            <a:ext cx="6144768" cy="347472"/>
          </a:xfrm>
          <a:prstGeom prst="rect">
            <a:avLst/>
          </a:prstGeom>
          <a:solidFill>
            <a:srgbClr val="00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5559552"/>
            <a:ext cx="6144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M3  ·  Momento de conversão para plano pago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1005840"/>
            <a:ext cx="6016752" cy="440740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0448" y="111556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MÉTRICA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11155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97A"/>
                </a:solidFill>
              </a:rPr>
              <a:t>META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11155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MERCADO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1115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SE ABAIXO → OTIMIZAR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1335024"/>
            <a:ext cx="601675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15000" y="1417320"/>
            <a:ext cx="601675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158191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D1  Volta no dia seguinte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33488" y="15819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7A"/>
                </a:solidFill>
              </a:rPr>
              <a:t>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1618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30–40%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02368" y="15270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Onboarding → primeiro insight mais rápido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0" y="2240280"/>
            <a:ext cx="6016752" cy="7680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240487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D7  Completa primeira semana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33488" y="24048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7A"/>
                </a:solidFill>
              </a:rPr>
              <a:t>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244144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15–25%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02368" y="23500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Trigger do check-in semanal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0" y="3063240"/>
            <a:ext cx="601675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70448" y="32278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D30  Vê primeiro relatório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3488" y="32278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7A"/>
                </a:solidFill>
              </a:rPr>
              <a:t>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2208" y="32644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8–15%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2368" y="317296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Valor percebido nas semanas 2–3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0" y="3886200"/>
            <a:ext cx="6016752" cy="76809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0448" y="4050791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M3  Hábito formado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405079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7A"/>
                </a:solidFill>
              </a:rPr>
              <a:t>12%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22208" y="408736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5–8%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8" y="399592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Loop de metas + personalização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4709160"/>
            <a:ext cx="6016752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70448" y="487375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M3  Converte para pago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48737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7A"/>
                </a:solidFill>
              </a:rPr>
              <a:t>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2208" y="49103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3–6%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02368" y="481888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Paywall no momento certo do ciclo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