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0C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88952" cy="54864"/>
          </a:xfrm>
          <a:prstGeom prst="rect">
            <a:avLst/>
          </a:prstGeom>
          <a:solidFill>
            <a:srgbClr val="00C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4572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00C97A"/>
                </a:solidFill>
              </a:rPr>
              <a:t>solve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1556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64748B"/>
                </a:solidFill>
              </a:rPr>
              <a:t>Agora você sabe.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109728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</a:rPr>
              <a:t>Retention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4748B"/>
                </a:solidFill>
              </a:rPr>
              <a:t>Como o Solve forma um hábito financeiro mensal e retém o usuário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703320"/>
            <a:ext cx="3657600" cy="32004"/>
          </a:xfrm>
          <a:prstGeom prst="rect">
            <a:avLst/>
          </a:prstGeom>
          <a:solidFill>
            <a:srgbClr val="00C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85876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Versão v1.0.0  ·  2026-05-13  ·  Confidencial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A5568"/>
                </a:solidFill>
              </a:rPr>
              <a:t>Solve · Retention Loop · v1.0.0 · 2026-05-13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F4444"/>
                </a:solidFill>
              </a:rPr>
              <a:t>O PROBLEMA DE RETENÇÃO EM FINTECH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 maioria dos apps de finanças não forma hábito.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78992"/>
            <a:ext cx="10972800" cy="3200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3383280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98448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EF4444"/>
                </a:solidFill>
              </a:rPr>
              <a:t>~70%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01952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</a:rPr>
              <a:t>abandonam
em 30 dias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1207008"/>
            <a:ext cx="3383280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0" y="1298448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EF4444"/>
                </a:solidFill>
              </a:rPr>
              <a:t>~15%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1901952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</a:rPr>
              <a:t>chegam ao
terceiro mês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0" y="1207008"/>
            <a:ext cx="3383280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298448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EF4444"/>
                </a:solidFill>
              </a:rPr>
              <a:t>~8%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1901952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</a:rPr>
              <a:t>convertem
para pago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487168"/>
            <a:ext cx="10972800" cy="228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6060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F4444"/>
                </a:solidFill>
              </a:rPr>
              <a:t>DOIS MODOS DE FALHA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880360"/>
            <a:ext cx="5577840" cy="457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926080"/>
            <a:ext cx="5577840" cy="171907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035808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App útil sem razão para voltar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419856"/>
            <a:ext cx="5212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Nenhum trigger externo, nenhum hábito formado. O usuário não volta porque o app não chama — só responde quando procurado.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2880360"/>
            <a:ext cx="5577840" cy="457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09360" y="2926080"/>
            <a:ext cx="5577840" cy="171907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3035808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App que pede esforço sem retornar valor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419856"/>
            <a:ext cx="5212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Alto custo cognitivo (lançamento manual, categorização), recompensa fraca e demorada. O usuário desiste antes do primeiro insight real.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4828032"/>
            <a:ext cx="12188952" cy="896112"/>
          </a:xfrm>
          <a:prstGeom prst="rect">
            <a:avLst/>
          </a:prstGeom>
          <a:solidFill>
            <a:srgbClr val="00C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0" y="4956048"/>
            <a:ext cx="1218895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F172A"/>
                </a:solidFill>
              </a:rPr>
              <a:t>Hábito não é uma feature. É um loop projetado.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83387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</a:rPr>
              <a:t>O Solve usa 4 loops complementares para transformar o app em parte da rotina financeira mensal do usuário.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Solve · Retention Loop · v1.0.0 · 2026-05-13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C97A"/>
                </a:solidFill>
              </a:rPr>
              <a:t>O MODELO · HOOK FRAMEWORK — NIR EYAL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72A"/>
                </a:solidFill>
              </a:rPr>
              <a:t>Os 4 componentes de qualquer hábito digital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77824"/>
            <a:ext cx="10972800" cy="32004"/>
          </a:xfrm>
          <a:prstGeom prst="rect">
            <a:avLst/>
          </a:prstGeom>
          <a:solidFill>
            <a:srgbClr val="00C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24128"/>
            <a:ext cx="2487168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78992"/>
            <a:ext cx="2487168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170432"/>
            <a:ext cx="22585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F4444"/>
                </a:solidFill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536192"/>
            <a:ext cx="225856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</a:rPr>
              <a:t>TRIGGER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084831"/>
            <a:ext cx="225856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O que dispara a ação.
Externo (push, email) → interno (ansiedade, curiosidade).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3547872"/>
            <a:ext cx="2212848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639312"/>
            <a:ext cx="2258568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</a:rPr>
              <a:t>Ex: Push de alerta · Resumo semanal · Email de relatório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26664" y="2240280"/>
            <a:ext cx="2011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2E8F0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10128" y="1024128"/>
            <a:ext cx="2487168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10128" y="1078992"/>
            <a:ext cx="2487168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47288" y="1170432"/>
            <a:ext cx="22585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563EB"/>
                </a:solidFill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47288" y="1536192"/>
            <a:ext cx="225856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</a:rPr>
              <a:t>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47288" y="2084831"/>
            <a:ext cx="225856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O menor esforço possível.
A ação deve ser simples o suficiente para acontecer sem motivação extra.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47288" y="3547872"/>
            <a:ext cx="2212848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47288" y="3639312"/>
            <a:ext cx="2258568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</a:rPr>
              <a:t>Ex: Abrir o app · Ver o resumo · Confirmar uma categoria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79592" y="2240280"/>
            <a:ext cx="2011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2E8F0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63056" y="1024128"/>
            <a:ext cx="2487168" cy="54864"/>
          </a:xfrm>
          <a:prstGeom prst="rect">
            <a:avLst/>
          </a:prstGeom>
          <a:solidFill>
            <a:srgbClr val="00C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63056" y="1078992"/>
            <a:ext cx="2487168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0216" y="1170432"/>
            <a:ext cx="22585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C97A"/>
                </a:solidFill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0216" y="1536192"/>
            <a:ext cx="225856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</a:rPr>
              <a:t>RECOMPENSA
VARIÁVEL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0216" y="2084831"/>
            <a:ext cx="225856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Surpresa + progresso visível.
Variabilidade mantém o loop interessante a cada ciclo.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0216" y="3547872"/>
            <a:ext cx="2212848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0216" y="3639312"/>
            <a:ext cx="2258568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</a:rPr>
              <a:t>Ex: Insight novo · Comparação com semana anterior · Milestone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32520" y="2240280"/>
            <a:ext cx="2011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2E8F0"/>
                </a:solidFill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15984" y="1024128"/>
            <a:ext cx="2487168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15984" y="1078992"/>
            <a:ext cx="2487168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53144" y="1170432"/>
            <a:ext cx="22585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9E0B"/>
                </a:solidFill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53144" y="1536192"/>
            <a:ext cx="225856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</a:rPr>
              <a:t>INVESTIMENTO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53144" y="2084831"/>
            <a:ext cx="225856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O que o usuário deixa que aumenta o valor futuro.
Mais histórico = melhor experiência no próximo ciclo.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53144" y="3547872"/>
            <a:ext cx="2212848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53144" y="3639312"/>
            <a:ext cx="2258568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</a:rPr>
              <a:t>Ex: Categorias salvas · Meta criada · Histórico acumulado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5468112"/>
            <a:ext cx="11274552" cy="5029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5559552"/>
            <a:ext cx="10789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97A"/>
                </a:solidFill>
              </a:rPr>
              <a:t>O investimento acumula contexto que torna o próximo trigger mais relevante — o loop se fortalece a cada ciclo.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Solve · Retention Loop · v1.0.0 · 2026-05-13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C97A"/>
                </a:solidFill>
              </a:rPr>
              <a:t>O UPLOAD COMO EVENTO CENTRAL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72A"/>
                </a:solidFill>
              </a:rPr>
              <a:t>Sem agregação automática, o upload é o eixo de toda a experiência.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77824"/>
            <a:ext cx="10972800" cy="32004"/>
          </a:xfrm>
          <a:prstGeom prst="rect">
            <a:avLst/>
          </a:prstGeom>
          <a:solidFill>
            <a:srgbClr val="00C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56048" y="2395728"/>
            <a:ext cx="2286000" cy="102412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6048" y="254203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C97A"/>
                </a:solidFill>
              </a:rPr>
              <a:t>UPLOAD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6048" y="288036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</a:rPr>
              <a:t>extrato ou fatura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078992"/>
            <a:ext cx="4224528" cy="42062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078992"/>
            <a:ext cx="4224528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188720"/>
            <a:ext cx="3886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563EB"/>
                </a:solidFill>
              </a:rPr>
              <a:t>ANTES DO UPLOAD  ·  trazer o usuário ao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481328"/>
            <a:ext cx="3886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172A"/>
                </a:solidFill>
              </a:rPr>
              <a:t>Gatilhos baseados em: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783080"/>
            <a:ext cx="3840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F172A"/>
                </a:solidFill>
              </a:rPr>
              <a:t>📅  Calendário — fatura fecha no dia X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0F172A"/>
                </a:solidFill>
              </a:rPr>
              <a:t>⏱  Tempo — faz N dias sem análise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0F172A"/>
                </a:solidFill>
              </a:rPr>
              <a:t>🎯  Meta ativa — progresso desatualizado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0F172A"/>
                </a:solidFill>
              </a:rPr>
              <a:t>📆  Hábito semanal — segunda-feira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0F172A"/>
                </a:solidFill>
              </a:rPr>
              <a:t>📣  Extrato mensal disponível no banco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160520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</a:rPr>
              <a:t>Objetivo: criar o hábito de importar regularmente,
não esperar o usuário lembrar sozinho.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2743200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563EB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16368" y="1078992"/>
            <a:ext cx="4206240" cy="42062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516368" y="1078992"/>
            <a:ext cx="4206240" cy="54864"/>
          </a:xfrm>
          <a:prstGeom prst="rect">
            <a:avLst/>
          </a:prstGeom>
          <a:solidFill>
            <a:srgbClr val="00C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9248" y="1188720"/>
            <a:ext cx="3840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C97A"/>
                </a:solidFill>
              </a:rPr>
              <a:t>DEPOIS DO UPLOAD  ·  recompensar o ato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9248" y="1481328"/>
            <a:ext cx="3840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172A"/>
                </a:solidFill>
              </a:rPr>
              <a:t>Triggers disparados pela análise: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99248" y="1783080"/>
            <a:ext cx="3840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F172A"/>
                </a:solidFill>
              </a:rPr>
              <a:t>⚡  Anomalia detectada no extrato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0F172A"/>
                </a:solidFill>
              </a:rPr>
              <a:t>💰  Economia vs. período anterior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0F172A"/>
                </a:solidFill>
              </a:rPr>
              <a:t>📊  Resumo semanal ou mensal pronto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0F172A"/>
                </a:solidFill>
              </a:rPr>
              <a:t>🏆  Milestone de meta atingido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0F172A"/>
                </a:solidFill>
              </a:rPr>
              <a:t>💡  Insight de categoria incomum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99248" y="4160520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</a:rPr>
              <a:t>Regra crítica: o primeiro insight deve aparecer
em menos de 3 segundos após o upload.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42048" y="2743200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C97A"/>
                </a:solidFill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5468112"/>
            <a:ext cx="12188952" cy="9144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5559552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C97A"/>
                </a:solidFill>
              </a:rPr>
              <a:t>PRINCÍPIO DE DESIGN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77900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Se o upload não for recompensado com um insight relevante imediatamente, o usuário não cria o hábito de importar — e todos os 4 loops deixam de funcionar.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Solve · Retention Loop · v1.0.0 · 2026-05-13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C97A"/>
                </a:solidFill>
              </a:rPr>
              <a:t>OS 4 LOOPS DO SOLVE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</a:rPr>
              <a:t>Loops complementares que cobrem diferentes frequências e motivações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59536"/>
            <a:ext cx="10972800" cy="32004"/>
          </a:xfrm>
          <a:prstGeom prst="rect">
            <a:avLst/>
          </a:prstGeom>
          <a:solidFill>
            <a:srgbClr val="00C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11274552" cy="1316736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73152" cy="131673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435608"/>
            <a:ext cx="530352" cy="4572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53896"/>
            <a:ext cx="548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1170432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</a:rPr>
              <a:t>Alerta Contextual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55448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</a:rPr>
              <a:t>Toda vez que há upload + lembretes preventivos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0" y="1280160"/>
            <a:ext cx="54864" cy="76809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21808" y="1170432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F4444"/>
                </a:solidFill>
              </a:rPr>
              <a:t>GATILHO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21808" y="1417320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Lembrete baseado em calendário: fatura próxima do fechamento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21040" y="1280160"/>
            <a:ext cx="54864" cy="76809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22208" y="117043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F4444"/>
                </a:solidFill>
              </a:rPr>
              <a:t>RECOMPENSA PRINCIPAL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22208" y="141732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Análise imediata com anomalias e impacto no orçamento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395728"/>
            <a:ext cx="11274552" cy="1316736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2395728"/>
            <a:ext cx="73152" cy="131673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85800" y="2825496"/>
            <a:ext cx="530352" cy="457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2843784"/>
            <a:ext cx="548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256032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</a:rPr>
              <a:t>Check-in Semanal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2944368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</a:rPr>
              <a:t>1× por semana — domingo ou segunda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0" y="2670048"/>
            <a:ext cx="54864" cy="76809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21808" y="2560320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563EB"/>
                </a:solidFill>
              </a:rPr>
              <a:t>GATILHO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21808" y="2807208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Lembrete semanal se não houve upload nos últimos 7 dias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21040" y="2670048"/>
            <a:ext cx="54864" cy="76809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22208" y="256032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563EB"/>
                </a:solidFill>
              </a:rPr>
              <a:t>RECOMPENSA PRINCIPAL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22208" y="2807208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Resumo da semana com comparação vs. semana anterior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785616"/>
            <a:ext cx="11274552" cy="1316736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3785616"/>
            <a:ext cx="73152" cy="1316736"/>
          </a:xfrm>
          <a:prstGeom prst="rect">
            <a:avLst/>
          </a:prstGeom>
          <a:solidFill>
            <a:srgbClr val="00C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5800" y="4215384"/>
            <a:ext cx="530352" cy="457200"/>
          </a:xfrm>
          <a:prstGeom prst="rect">
            <a:avLst/>
          </a:prstGeom>
          <a:solidFill>
            <a:srgbClr val="00C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4233672"/>
            <a:ext cx="548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395020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</a:rPr>
              <a:t>Fechamento Mensal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433425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</a:rPr>
              <a:t>1× por mês — início do mês seguinte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120640" y="4059936"/>
            <a:ext cx="54864" cy="768096"/>
          </a:xfrm>
          <a:prstGeom prst="rect">
            <a:avLst/>
          </a:prstGeom>
          <a:solidFill>
            <a:srgbClr val="00C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21808" y="3950208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C97A"/>
                </a:solidFill>
              </a:rPr>
              <a:t>GATILHO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21808" y="4197096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Lembrete no início do mês: extrato do mês anterior disponível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1040" y="4059936"/>
            <a:ext cx="54864" cy="768096"/>
          </a:xfrm>
          <a:prstGeom prst="rect">
            <a:avLst/>
          </a:prstGeom>
          <a:solidFill>
            <a:srgbClr val="00C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22208" y="3950208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C97A"/>
                </a:solidFill>
              </a:rPr>
              <a:t>RECOMPENSA PRINCIPAL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22208" y="4197096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Relatório completo com evolução e comparação mês a mês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5175504"/>
            <a:ext cx="11274552" cy="1316736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7200" y="5175504"/>
            <a:ext cx="73152" cy="131673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85800" y="5605272"/>
            <a:ext cx="530352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5623560"/>
            <a:ext cx="548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</a:rPr>
              <a:t>04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71600" y="5340096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</a:rPr>
              <a:t>Progresso de Metas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71600" y="5724144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</a:rPr>
              <a:t>Sempre que há upload com meta ativa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120640" y="5449824"/>
            <a:ext cx="54864" cy="76809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21808" y="5340096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59E0B"/>
                </a:solidFill>
              </a:rPr>
              <a:t>GATILHO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21808" y="5586984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Meta ativa + X dias sem atualização de progresso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321040" y="5449824"/>
            <a:ext cx="54864" cy="76809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522208" y="5340096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59E0B"/>
                </a:solidFill>
              </a:rPr>
              <a:t>RECOMPENSA PRINCIPAL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22208" y="5586984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Barra de progresso atualizada e celebração de milestones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Solve · Retention Loop · v1.0.0 · 2026-05-13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F4444"/>
                </a:solidFill>
              </a:rPr>
              <a:t>Loop 01  ·  Frequência: Toda vez que há upload + lembretes preventivos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"/>
            <a:ext cx="9144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F172A"/>
                </a:solidFill>
              </a:rPr>
              <a:t>Alerta Contextual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1097280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78992"/>
            <a:ext cx="2487168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33856"/>
            <a:ext cx="2487168" cy="309067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234440"/>
            <a:ext cx="2258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F4444"/>
                </a:solidFill>
              </a:rPr>
              <a:t>TRIGGER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517904"/>
            <a:ext cx="2258568" cy="2487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</a:rPr>
              <a:t>Lembrete baseado em calendário:
fatura próxima do fechamento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26664" y="2331720"/>
            <a:ext cx="2103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2E8F0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9272" y="1078992"/>
            <a:ext cx="2487168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19272" y="1133856"/>
            <a:ext cx="2487168" cy="309067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1234440"/>
            <a:ext cx="2258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563EB"/>
                </a:solidFill>
              </a:rPr>
              <a:t>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6432" y="1517904"/>
            <a:ext cx="2258568" cy="2487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</a:rPr>
              <a:t>Importa o extrato
ou fatura no app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2331720"/>
            <a:ext cx="2103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2E8F0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81344" y="1078992"/>
            <a:ext cx="2487168" cy="54864"/>
          </a:xfrm>
          <a:prstGeom prst="rect">
            <a:avLst/>
          </a:prstGeom>
          <a:solidFill>
            <a:srgbClr val="00C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344" y="1133856"/>
            <a:ext cx="2487168" cy="309067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18504" y="1234440"/>
            <a:ext cx="2258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C97A"/>
                </a:solidFill>
              </a:rPr>
              <a:t>RECOMPENSA VARIÁVEL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8504" y="1517904"/>
            <a:ext cx="2258568" cy="2487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</a:rPr>
              <a:t>Análise imediata com anomalias
e impacto no orçamento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50808" y="2331720"/>
            <a:ext cx="2103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2E8F0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43416" y="1078992"/>
            <a:ext cx="2487168" cy="54864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43416" y="1133856"/>
            <a:ext cx="2487168" cy="309067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80576" y="1234440"/>
            <a:ext cx="2258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4748B"/>
                </a:solidFill>
              </a:rPr>
              <a:t>INVESTIMENTO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0576" y="1517904"/>
            <a:ext cx="2258568" cy="2487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</a:rPr>
              <a:t>Histórico categorizado
enriquece padrões futuros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334256"/>
            <a:ext cx="1097280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40740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</a:rPr>
              <a:t>↺  O investimento acumula contexto que torna o próximo trigger mais relevante — o loop se fortalece a cada ciclo.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4828032"/>
            <a:ext cx="12188952" cy="177393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4828032"/>
            <a:ext cx="598932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919472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563EB"/>
                </a:solidFill>
              </a:rPr>
              <a:t>1  LEMBRETE — antes do upload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138928"/>
            <a:ext cx="54864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</a:rPr>
              <a:t>⚡  Sua fatura costuma fechar no dia 15. Faltam 3 dias — importe agora para ver sua margem.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53328" y="4892040"/>
            <a:ext cx="36576" cy="1572768"/>
          </a:xfrm>
          <a:prstGeom prst="rect">
            <a:avLst/>
          </a:prstGeom>
          <a:solidFill>
            <a:srgbClr val="2D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44768" y="4828032"/>
            <a:ext cx="5989320" cy="36576"/>
          </a:xfrm>
          <a:prstGeom prst="rect">
            <a:avLst/>
          </a:prstGeom>
          <a:solidFill>
            <a:srgbClr val="00C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44768" y="4919472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C97A"/>
                </a:solidFill>
              </a:rPr>
              <a:t>2  PÓS-UPLOAD — após análise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5138928"/>
            <a:ext cx="557784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</a:rPr>
              <a:t>✅  Fatura analisada: R$180 em delivery — 60% acima da sua média. Ainda dá tempo de ajustar.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Solve · Retention Loop · v1.0.0 · 2026-05-13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563EB"/>
                </a:solidFill>
              </a:rPr>
              <a:t>Loop 02  ·  Frequência: 1× por semana — domingo ou segunda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"/>
            <a:ext cx="9144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F172A"/>
                </a:solidFill>
              </a:rPr>
              <a:t>Check-in Semanal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1097280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78992"/>
            <a:ext cx="2487168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33856"/>
            <a:ext cx="2487168" cy="309067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234440"/>
            <a:ext cx="2258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563EB"/>
                </a:solidFill>
              </a:rPr>
              <a:t>TRIGGER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517904"/>
            <a:ext cx="2258568" cy="2487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</a:rPr>
              <a:t>Lembrete semanal se não houve
upload nos últimos 7 dias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26664" y="2331720"/>
            <a:ext cx="2103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2E8F0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9272" y="1078992"/>
            <a:ext cx="2487168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19272" y="1133856"/>
            <a:ext cx="2487168" cy="309067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1234440"/>
            <a:ext cx="2258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563EB"/>
                </a:solidFill>
              </a:rPr>
              <a:t>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6432" y="1517904"/>
            <a:ext cx="2258568" cy="2487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</a:rPr>
              <a:t>Importa extrato
da semana no app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2331720"/>
            <a:ext cx="2103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2E8F0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81344" y="1078992"/>
            <a:ext cx="2487168" cy="54864"/>
          </a:xfrm>
          <a:prstGeom prst="rect">
            <a:avLst/>
          </a:prstGeom>
          <a:solidFill>
            <a:srgbClr val="00C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344" y="1133856"/>
            <a:ext cx="2487168" cy="309067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18504" y="1234440"/>
            <a:ext cx="2258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C97A"/>
                </a:solidFill>
              </a:rPr>
              <a:t>RECOMPENSA VARIÁVEL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8504" y="1517904"/>
            <a:ext cx="2258568" cy="2487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</a:rPr>
              <a:t>Resumo da semana com
comparação vs. semana anterior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50808" y="2331720"/>
            <a:ext cx="2103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2E8F0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43416" y="1078992"/>
            <a:ext cx="2487168" cy="54864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43416" y="1133856"/>
            <a:ext cx="2487168" cy="309067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80576" y="1234440"/>
            <a:ext cx="2258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4748B"/>
                </a:solidFill>
              </a:rPr>
              <a:t>INVESTIMENTO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0576" y="1517904"/>
            <a:ext cx="2258568" cy="2487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</a:rPr>
              <a:t>Preferências de categorias
aprimoram sugestões futuras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334256"/>
            <a:ext cx="1097280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40740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</a:rPr>
              <a:t>↺  O investimento acumula contexto que torna o próximo trigger mais relevante — o loop se fortalece a cada ciclo.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4828032"/>
            <a:ext cx="12188952" cy="177393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4828032"/>
            <a:ext cx="598932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919472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563EB"/>
                </a:solidFill>
              </a:rPr>
              <a:t>1  LEMBRETE — antes do upload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138928"/>
            <a:ext cx="54864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</a:rPr>
              <a:t>📋  Faz 7 dias sem análise. Importe seu extrato de domingo para ver como foi a semana.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53328" y="4892040"/>
            <a:ext cx="36576" cy="1572768"/>
          </a:xfrm>
          <a:prstGeom prst="rect">
            <a:avLst/>
          </a:prstGeom>
          <a:solidFill>
            <a:srgbClr val="2D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44768" y="4828032"/>
            <a:ext cx="5989320" cy="36576"/>
          </a:xfrm>
          <a:prstGeom prst="rect">
            <a:avLst/>
          </a:prstGeom>
          <a:solidFill>
            <a:srgbClr val="00C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44768" y="4919472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C97A"/>
                </a:solidFill>
              </a:rPr>
              <a:t>2  PÓS-UPLOAD — após análise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5138928"/>
            <a:ext cx="557784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</a:rPr>
              <a:t>📊  Semana analisada: R$1.840 gastos · 3 categorias acima do normal · R$420 economizados.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Solve · Retention Loop · v1.0.0 · 2026-05-13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0C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C97A"/>
                </a:solidFill>
              </a:rPr>
              <a:t>Loop 03  ·  Frequência: 1× por mês — início do mês seguinte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"/>
            <a:ext cx="9144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F172A"/>
                </a:solidFill>
              </a:rPr>
              <a:t>Fechamento Mensal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1097280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78992"/>
            <a:ext cx="2487168" cy="54864"/>
          </a:xfrm>
          <a:prstGeom prst="rect">
            <a:avLst/>
          </a:prstGeom>
          <a:solidFill>
            <a:srgbClr val="00C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33856"/>
            <a:ext cx="2487168" cy="309067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234440"/>
            <a:ext cx="2258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C97A"/>
                </a:solidFill>
              </a:rPr>
              <a:t>TRIGGER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517904"/>
            <a:ext cx="2258568" cy="2487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</a:rPr>
              <a:t>Lembrete no início do mês:
extrato do mês anterior disponível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26664" y="2331720"/>
            <a:ext cx="2103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2E8F0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9272" y="1078992"/>
            <a:ext cx="2487168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19272" y="1133856"/>
            <a:ext cx="2487168" cy="309067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1234440"/>
            <a:ext cx="2258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563EB"/>
                </a:solidFill>
              </a:rPr>
              <a:t>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6432" y="1517904"/>
            <a:ext cx="2258568" cy="2487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</a:rPr>
              <a:t>Importa o extrato mensal
do banco ou fatura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2331720"/>
            <a:ext cx="2103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2E8F0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81344" y="1078992"/>
            <a:ext cx="2487168" cy="54864"/>
          </a:xfrm>
          <a:prstGeom prst="rect">
            <a:avLst/>
          </a:prstGeom>
          <a:solidFill>
            <a:srgbClr val="00C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344" y="1133856"/>
            <a:ext cx="2487168" cy="309067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18504" y="1234440"/>
            <a:ext cx="2258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C97A"/>
                </a:solidFill>
              </a:rPr>
              <a:t>RECOMPENSA VARIÁVEL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8504" y="1517904"/>
            <a:ext cx="2258568" cy="2487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</a:rPr>
              <a:t>Relatório completo com evolução
e comparação mês a mês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50808" y="2331720"/>
            <a:ext cx="2103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2E8F0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43416" y="1078992"/>
            <a:ext cx="2487168" cy="54864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43416" y="1133856"/>
            <a:ext cx="2487168" cy="309067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80576" y="1234440"/>
            <a:ext cx="2258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4748B"/>
                </a:solidFill>
              </a:rPr>
              <a:t>INVESTIMENTO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0576" y="1517904"/>
            <a:ext cx="2258568" cy="2487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</a:rPr>
              <a:t>Define meta
para o próximo mês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334256"/>
            <a:ext cx="1097280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40740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</a:rPr>
              <a:t>↺  O investimento acumula contexto que torna o próximo trigger mais relevante — o loop se fortalece a cada ciclo.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4828032"/>
            <a:ext cx="12188952" cy="177393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4828032"/>
            <a:ext cx="598932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919472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563EB"/>
                </a:solidFill>
              </a:rPr>
              <a:t>1  LEMBRETE — antes do upload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138928"/>
            <a:ext cx="54864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</a:rPr>
              <a:t>📅  É dia 3 de maio. Seu extrato de abril já está disponível — importe para fechar o mês.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53328" y="4892040"/>
            <a:ext cx="36576" cy="1572768"/>
          </a:xfrm>
          <a:prstGeom prst="rect">
            <a:avLst/>
          </a:prstGeom>
          <a:solidFill>
            <a:srgbClr val="2D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44768" y="4828032"/>
            <a:ext cx="5989320" cy="36576"/>
          </a:xfrm>
          <a:prstGeom prst="rect">
            <a:avLst/>
          </a:prstGeom>
          <a:solidFill>
            <a:srgbClr val="00C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44768" y="4919472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C97A"/>
                </a:solidFill>
              </a:rPr>
              <a:t>2  PÓS-UPLOAD — após análise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5138928"/>
            <a:ext cx="557784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</a:rPr>
              <a:t>🎯  Abril fechado: você gastou 12% menos que março. Sobrou R$680 disponíveis para investir.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Solve · Retention Loop · v1.0.0 · 2026-05-13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59E0B"/>
                </a:solidFill>
              </a:rPr>
              <a:t>Loop 04  ·  Frequência: Sempre que há upload com meta ativa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"/>
            <a:ext cx="9144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F172A"/>
                </a:solidFill>
              </a:rPr>
              <a:t>Progresso de Metas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1097280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78992"/>
            <a:ext cx="2487168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33856"/>
            <a:ext cx="2487168" cy="309067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234440"/>
            <a:ext cx="2258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59E0B"/>
                </a:solidFill>
              </a:rPr>
              <a:t>TRIGGER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517904"/>
            <a:ext cx="2258568" cy="2487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</a:rPr>
              <a:t>Meta ativa + X dias sem
atualização de progresso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26664" y="2331720"/>
            <a:ext cx="2103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2E8F0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9272" y="1078992"/>
            <a:ext cx="2487168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19272" y="1133856"/>
            <a:ext cx="2487168" cy="309067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1234440"/>
            <a:ext cx="2258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563EB"/>
                </a:solidFill>
              </a:rPr>
              <a:t>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6432" y="1517904"/>
            <a:ext cx="2258568" cy="2487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</a:rPr>
              <a:t>Importa extrato para
atualizar o progresso da meta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2331720"/>
            <a:ext cx="2103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2E8F0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81344" y="1078992"/>
            <a:ext cx="2487168" cy="54864"/>
          </a:xfrm>
          <a:prstGeom prst="rect">
            <a:avLst/>
          </a:prstGeom>
          <a:solidFill>
            <a:srgbClr val="00C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344" y="1133856"/>
            <a:ext cx="2487168" cy="309067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18504" y="1234440"/>
            <a:ext cx="2258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C97A"/>
                </a:solidFill>
              </a:rPr>
              <a:t>RECOMPENSA VARIÁVEL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8504" y="1517904"/>
            <a:ext cx="2258568" cy="2487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</a:rPr>
              <a:t>Barra de progresso atualizada
e celebração de milestones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50808" y="2331720"/>
            <a:ext cx="2103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2E8F0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43416" y="1078992"/>
            <a:ext cx="2487168" cy="54864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43416" y="1133856"/>
            <a:ext cx="2487168" cy="309067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80576" y="1234440"/>
            <a:ext cx="2258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4748B"/>
                </a:solidFill>
              </a:rPr>
              <a:t>INVESTIMENTO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0576" y="1517904"/>
            <a:ext cx="2258568" cy="2487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</a:rPr>
              <a:t>Meta mais detalhada
e prazo calibrado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334256"/>
            <a:ext cx="1097280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40740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</a:rPr>
              <a:t>↺  O investimento acumula contexto que torna o próximo trigger mais relevante — o loop se fortalece a cada ciclo.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4828032"/>
            <a:ext cx="12188952" cy="177393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4828032"/>
            <a:ext cx="598932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919472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563EB"/>
                </a:solidFill>
              </a:rPr>
              <a:t>1  LEMBRETE — antes do upload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138928"/>
            <a:ext cx="54864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</a:rPr>
              <a:t>🎯  Sua meta de reserva está ativa. Importe seu extrato para ver se você está no caminho.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53328" y="4892040"/>
            <a:ext cx="36576" cy="1572768"/>
          </a:xfrm>
          <a:prstGeom prst="rect">
            <a:avLst/>
          </a:prstGeom>
          <a:solidFill>
            <a:srgbClr val="2D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44768" y="4828032"/>
            <a:ext cx="5989320" cy="36576"/>
          </a:xfrm>
          <a:prstGeom prst="rect">
            <a:avLst/>
          </a:prstGeom>
          <a:solidFill>
            <a:srgbClr val="00C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44768" y="4919472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C97A"/>
                </a:solidFill>
              </a:rPr>
              <a:t>2  PÓS-UPLOAD — após análise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5138928"/>
            <a:ext cx="557784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</a:rPr>
              <a:t>🏆  Progresso atualizado: 70% da reserva de emergência. Faltam R$1.200 — mais 2 meses no ritmo atual.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Solve · Retention Loop · v1.0.0 · 2026-05-13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C97A"/>
                </a:solidFill>
              </a:rPr>
              <a:t>TRIGGERS POR PERSONA · COPY DE NOTIFICAÇÃO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72A"/>
                </a:solidFill>
              </a:rPr>
              <a:t>A mesma dor, o gatilho certo para cada perfil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59536"/>
            <a:ext cx="10972800" cy="32004"/>
          </a:xfrm>
          <a:prstGeom prst="rect">
            <a:avLst/>
          </a:prstGeom>
          <a:solidFill>
            <a:srgbClr val="00C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265176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60704"/>
            <a:ext cx="2651760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088136"/>
            <a:ext cx="45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</a:rPr>
              <a:t>P1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1088136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Jovem Desorganizado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426464"/>
            <a:ext cx="2651760" cy="1627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517904"/>
            <a:ext cx="246887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563EB"/>
                </a:solidFill>
              </a:rPr>
              <a:t>Lembrete semanal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773936"/>
            <a:ext cx="2468879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F172A"/>
                </a:solidFill>
              </a:rPr>
              <a:t>"Faz 7 dias sem ver seus gastos. Importe o extrato e veja para onde foi o dinheiro."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127248"/>
            <a:ext cx="2651760" cy="16276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218688"/>
            <a:ext cx="246887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563EB"/>
                </a:solidFill>
              </a:rPr>
              <a:t>Pós-upload: impulso detectado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474720"/>
            <a:ext cx="2468879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F172A"/>
                </a:solidFill>
              </a:rPr>
              <a:t>"Extrato analisado: R$340 em lazer este mês — 80% foi nos últimos 3 finais de semana."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28032"/>
            <a:ext cx="2651760" cy="1627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4919472"/>
            <a:ext cx="246887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563EB"/>
                </a:solidFill>
              </a:rPr>
              <a:t>Fatura próxima do fechamento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175504"/>
            <a:ext cx="2468879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F172A"/>
                </a:solidFill>
              </a:rPr>
              <a:t>"Sua fatura fecha em 4 dias. Importe agora para saber quanto você ainda pode gastar."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92424" y="1005840"/>
            <a:ext cx="2651760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392424" y="1060704"/>
            <a:ext cx="2651760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02152" y="1088136"/>
            <a:ext cx="45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</a:rPr>
              <a:t>P2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59352" y="1088136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Endividado Crônico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92424" y="1426464"/>
            <a:ext cx="2651760" cy="1627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02152" y="1517904"/>
            <a:ext cx="246887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F4444"/>
                </a:solidFill>
              </a:rPr>
              <a:t>Alerta preventivo de fatura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02152" y="1773936"/>
            <a:ext cx="2468879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F172A"/>
                </a:solidFill>
              </a:rPr>
              <a:t>"Fatura fecha em 3 dias. Importe para ver sua margem antes de gastar mais."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92424" y="3127248"/>
            <a:ext cx="2651760" cy="16276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02152" y="3218688"/>
            <a:ext cx="246887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F4444"/>
                </a:solidFill>
              </a:rPr>
              <a:t>Pós-upload: mínimo detectado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2152" y="3474720"/>
            <a:ext cx="2468879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F172A"/>
                </a:solidFill>
              </a:rPr>
              <a:t>"Fatura importada: pagamento mínimo identificado. Isso custa R$142 em juros este mês."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92424" y="4828032"/>
            <a:ext cx="2651760" cy="1627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02152" y="4919472"/>
            <a:ext cx="246887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F4444"/>
                </a:solidFill>
              </a:rPr>
              <a:t>Progresso na dívida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02152" y="5175504"/>
            <a:ext cx="2468879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F172A"/>
                </a:solidFill>
              </a:rPr>
              <a:t>"Extrato do mês importado. Você reduziu R$800 da dívida — 4 meses para zerar no ritmo atual."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27648" y="1005840"/>
            <a:ext cx="2651760" cy="54864"/>
          </a:xfrm>
          <a:prstGeom prst="rect">
            <a:avLst/>
          </a:prstGeom>
          <a:solidFill>
            <a:srgbClr val="00C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27648" y="1060704"/>
            <a:ext cx="2651760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37376" y="1088136"/>
            <a:ext cx="45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97A"/>
                </a:solidFill>
              </a:rPr>
              <a:t>P3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94576" y="1088136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Investidor Iniciante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27648" y="1426464"/>
            <a:ext cx="2651760" cy="1627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37376" y="1517904"/>
            <a:ext cx="246887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C97A"/>
                </a:solidFill>
              </a:rPr>
              <a:t>Fechamento do mês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37376" y="1773936"/>
            <a:ext cx="2468879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F172A"/>
                </a:solidFill>
              </a:rPr>
              <a:t>"É dia 3. Importe o extrato de abril para calcular quanto sobrou para investir."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27648" y="3127248"/>
            <a:ext cx="2651760" cy="16276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37376" y="3218688"/>
            <a:ext cx="246887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C97A"/>
                </a:solidFill>
              </a:rPr>
              <a:t>Pós-upload: sobra calculada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37376" y="3474720"/>
            <a:ext cx="2468879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F172A"/>
                </a:solidFill>
              </a:rPr>
              <a:t>"Abril fechado: sobrou R$530. Aplicados em CDB renderiam R$62 até dezembro."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27648" y="4828032"/>
            <a:ext cx="2651760" cy="1627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37376" y="4919472"/>
            <a:ext cx="246887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C97A"/>
                </a:solidFill>
              </a:rPr>
              <a:t>Meta de investimento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37376" y="5175504"/>
            <a:ext cx="2468879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F172A"/>
                </a:solidFill>
              </a:rPr>
              <a:t>"Sua meta de R$10.000 em renda fixa está ativa. Importe o extrato para atualizar."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62872" y="1005840"/>
            <a:ext cx="2651760" cy="54864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262872" y="1060704"/>
            <a:ext cx="2651760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72599" y="1088136"/>
            <a:ext cx="45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</a:rPr>
              <a:t>P5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29799" y="1088136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Profissional Ocupado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262872" y="1426464"/>
            <a:ext cx="2651760" cy="1627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372599" y="1517904"/>
            <a:ext cx="246887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4748B"/>
                </a:solidFill>
              </a:rPr>
              <a:t>Relatório mensal disponível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372599" y="1773936"/>
            <a:ext cx="2468879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F172A"/>
                </a:solidFill>
              </a:rPr>
              <a:t>"É início do mês. Importe os extratos de abril para gerar seu relatório em 1 minuto."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262872" y="3127248"/>
            <a:ext cx="2651760" cy="16276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372599" y="3218688"/>
            <a:ext cx="246887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4748B"/>
                </a:solidFill>
              </a:rPr>
              <a:t>Pós-upload: anomalia detectada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72599" y="3474720"/>
            <a:ext cx="2468879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F172A"/>
                </a:solidFill>
              </a:rPr>
              <a:t>"Extrato analisado: 2 gastos incomuns detectados e R$1.100 de sobra identificada."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262872" y="4828032"/>
            <a:ext cx="2651760" cy="1627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372599" y="4919472"/>
            <a:ext cx="246887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4748B"/>
                </a:solidFill>
              </a:rPr>
              <a:t>Meta de patrimônio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372599" y="5175504"/>
            <a:ext cx="2468879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F172A"/>
                </a:solidFill>
              </a:rPr>
              <a:t>"Importe seu extrato para atualizar a projeção de patrimônio. Última atualização: 18 dias atrás."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Solve · Retention Loop · v1.0.0 · 2026-05-13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C97A"/>
                </a:solidFill>
              </a:rPr>
              <a:t>JORNADA DE HÁBITO + MÉTRICAS DE RETENÇÃO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72A"/>
                </a:solidFill>
              </a:rPr>
              <a:t>Do primeiro acesso ao hábito consolidado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59536"/>
            <a:ext cx="10972800" cy="32004"/>
          </a:xfrm>
          <a:prstGeom prst="rect">
            <a:avLst/>
          </a:prstGeom>
          <a:solidFill>
            <a:srgbClr val="00C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24128"/>
            <a:ext cx="54864" cy="9692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97280"/>
            <a:ext cx="1005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</a:rPr>
              <a:t>D1–D3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37160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</a:rPr>
              <a:t>Ativação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109728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</a:rPr>
              <a:t>Primeiro insight — aha moment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148132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</a:rPr>
              <a:t>Loop: Alerta Contextual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084832"/>
            <a:ext cx="54864" cy="9692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57984"/>
            <a:ext cx="1005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563EB"/>
                </a:solidFill>
              </a:rPr>
              <a:t>D4–D14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4323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</a:rPr>
              <a:t>Formação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215798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</a:rPr>
              <a:t>Primeira semana revisada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254203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</a:rPr>
              <a:t>Loop: Check-in Semanal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145536"/>
            <a:ext cx="54864" cy="969264"/>
          </a:xfrm>
          <a:prstGeom prst="rect">
            <a:avLst/>
          </a:prstGeom>
          <a:solidFill>
            <a:srgbClr val="00C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218688"/>
            <a:ext cx="1005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97A"/>
                </a:solidFill>
              </a:rPr>
              <a:t>D15–D30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349300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</a:rPr>
              <a:t>Consolidação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3218688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</a:rPr>
              <a:t>Primeiro relatório mensal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360273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</a:rPr>
              <a:t>Loop: Fechamento Mensal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06240"/>
            <a:ext cx="54864" cy="9692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4279392"/>
            <a:ext cx="1005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</a:rPr>
              <a:t>D31–D60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45537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</a:rPr>
              <a:t>Comprometimento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94560" y="427939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</a:rPr>
              <a:t>Primeira meta criada e acompanhada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94560" y="466344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</a:rPr>
              <a:t>Loop: Progresso de Metas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266944"/>
            <a:ext cx="54864" cy="969264"/>
          </a:xfrm>
          <a:prstGeom prst="rect">
            <a:avLst/>
          </a:prstGeom>
          <a:solidFill>
            <a:srgbClr val="00C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5340096"/>
            <a:ext cx="1005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97A"/>
                </a:solidFill>
              </a:rPr>
              <a:t>D60+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561441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</a:rPr>
              <a:t>Hábito formado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94560" y="5340096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</a:rPr>
              <a:t>Ciclo mensal autossustentado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4560" y="5724144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</a:rPr>
              <a:t>Loop: Todos os 4 loops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77840" y="5504688"/>
            <a:ext cx="6144768" cy="347472"/>
          </a:xfrm>
          <a:prstGeom prst="rect">
            <a:avLst/>
          </a:prstGeom>
          <a:solidFill>
            <a:srgbClr val="00C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577840" y="5559552"/>
            <a:ext cx="61447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</a:rPr>
              <a:t>M3  ·  Momento de conversão para plano pago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715000" y="1005840"/>
            <a:ext cx="6016752" cy="440740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70448" y="1115568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C97A"/>
                </a:solidFill>
              </a:rPr>
              <a:t>MÉTRICA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33488" y="111556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C97A"/>
                </a:solidFill>
              </a:rPr>
              <a:t>META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22208" y="111556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4748B"/>
                </a:solidFill>
              </a:rPr>
              <a:t>MERCADO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02368" y="111556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4748B"/>
                </a:solidFill>
              </a:rPr>
              <a:t>SE ABAIXO → OTIMIZAR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715000" y="1335024"/>
            <a:ext cx="6016752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715000" y="1417320"/>
            <a:ext cx="6016752" cy="7680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70448" y="1581912"/>
            <a:ext cx="1417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172A"/>
                </a:solidFill>
              </a:rPr>
              <a:t>D1  Volta no dia seguinte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33488" y="1581912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97A"/>
                </a:solidFill>
              </a:rPr>
              <a:t>50%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22208" y="161848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30–40%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02368" y="1527048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4748B"/>
                </a:solidFill>
              </a:rPr>
              <a:t>Onboarding → primeiro insight mais rápido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715000" y="2240280"/>
            <a:ext cx="6016752" cy="768096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870448" y="2404872"/>
            <a:ext cx="1417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172A"/>
                </a:solidFill>
              </a:rPr>
              <a:t>D7  Completa primeira semana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33488" y="2404872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97A"/>
                </a:solidFill>
              </a:rPr>
              <a:t>30%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22208" y="244144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15–25%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02368" y="2350008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4748B"/>
                </a:solidFill>
              </a:rPr>
              <a:t>Trigger do check-in semanal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715000" y="3063240"/>
            <a:ext cx="6016752" cy="7680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870448" y="3227832"/>
            <a:ext cx="1417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172A"/>
                </a:solidFill>
              </a:rPr>
              <a:t>D30  Vê primeiro relatório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33488" y="3227832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97A"/>
                </a:solidFill>
              </a:rPr>
              <a:t>20%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22208" y="326440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8–15%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02368" y="3172968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4748B"/>
                </a:solidFill>
              </a:rPr>
              <a:t>Valor percebido nas semanas 2–3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715000" y="3886200"/>
            <a:ext cx="6016752" cy="768096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870448" y="4050791"/>
            <a:ext cx="1417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172A"/>
                </a:solidFill>
              </a:rPr>
              <a:t>M3  Hábito formado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33488" y="4050791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97A"/>
                </a:solidFill>
              </a:rPr>
              <a:t>12%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22208" y="408736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5–8%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02368" y="3995928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4748B"/>
                </a:solidFill>
              </a:rPr>
              <a:t>Loop de metas + personalização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715000" y="4709160"/>
            <a:ext cx="6016752" cy="7680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870448" y="4873752"/>
            <a:ext cx="1417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172A"/>
                </a:solidFill>
              </a:rPr>
              <a:t>M3  Converte para pago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333488" y="4873752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97A"/>
                </a:solidFill>
              </a:rPr>
              <a:t>8%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522208" y="491032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3–6%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802368" y="4818888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4748B"/>
                </a:solidFill>
              </a:rPr>
              <a:t>Paywall no momento certo do ciclo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