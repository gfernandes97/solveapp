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C97A"/>
                </a:solidFill>
              </a:rPr>
              <a:t>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4748B"/>
                </a:solidFill>
              </a:rPr>
              <a:t>Agora você sabe.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Positioning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Âncora estratégica de produto, marketing e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03320"/>
            <a:ext cx="36576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587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Versão v1.0.0  ·  2026-05-12  · 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Positioning Statement · v1.0.0 · 2026-05-12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FRAMEWORK · OS 5 COMPONENTES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O que compõe um positioning statement eficaz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77824"/>
            <a:ext cx="109728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011680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33856"/>
            <a:ext cx="201168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7A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73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Para quem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57984"/>
            <a:ext cx="18288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 segmento-alvo com a dor mais urgente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2" y="2395728"/>
            <a:ext cx="17373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078992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133856"/>
            <a:ext cx="201168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773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O Problema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157984"/>
            <a:ext cx="18288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 necessidade específica não atendida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3752" y="2395728"/>
            <a:ext cx="17373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1078992"/>
            <a:ext cx="20116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1133856"/>
            <a:ext cx="201168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1773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Nossa Categoria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157984"/>
            <a:ext cx="18288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Onde competimos e como nos definimos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5472" y="2395728"/>
            <a:ext cx="17373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078992"/>
            <a:ext cx="2011680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1133856"/>
            <a:ext cx="201168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7A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1773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Diferencial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157984"/>
            <a:ext cx="18288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 benefício que só nós entregamos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7192" y="2395728"/>
            <a:ext cx="17373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84080" y="1078992"/>
            <a:ext cx="201168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84080" y="1133856"/>
            <a:ext cx="201168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1234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1773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Proof 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157984"/>
            <a:ext cx="18288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 razão que torna a promessa crível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14800"/>
            <a:ext cx="1097280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206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Positioning não é slogan. É a âncora estratégica que alinha produto, marketing e time em torno do mesmo problema e da mesma promessa.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892040"/>
            <a:ext cx="11274552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010912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Sem positioning claro: cada channel fala de um produto diferente.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3766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Com positioning claro: qualquer pessoa no time explica o Solve em uma frase — e todas as frases convergem para o mesmo problema e diferencial.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Positioning Statement · v1.0.0 · 2026-05-12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"/>
            <a:ext cx="347472" cy="347472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Para quem · Target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Quem é o nosso usuário prioritário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9264"/>
            <a:ext cx="109728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78992"/>
            <a:ext cx="6263640" cy="44074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PERFIL DEMOGRÁFICO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58521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F172A"/>
                </a:solidFill>
              </a:rPr>
              <a:t>Brasileiros economicamente ativos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F172A"/>
                </a:solidFill>
              </a:rPr>
              <a:t>25 a 50 anos · Classes B e 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F172A"/>
                </a:solidFill>
              </a:rPr>
              <a:t>Renda mensal: R$2.500 a R$14.000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F172A"/>
                </a:solidFill>
              </a:rPr>
              <a:t>Smartphone como canal principal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F172A"/>
                </a:solidFill>
              </a:rPr>
              <a:t>Pelo menos 1 conta bancária 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MOTIVAÇÃO LATENTE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19856"/>
            <a:ext cx="58521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 motivação existe — falta visibilidade e orientação. 23 milhões planejam começar a investir (ANBIMA 2025), mas 48% não controlam nem os próprios gastos mensais.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078992"/>
            <a:ext cx="4754880" cy="10241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1078992"/>
            <a:ext cx="54864" cy="102412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1170432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15910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das transações bancárias via 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1874519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Febraban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185415"/>
            <a:ext cx="4754880" cy="10241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2185415"/>
            <a:ext cx="54864" cy="102412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276856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23M+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26974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planejam começar a investir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298094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ANBIMA 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3291839"/>
            <a:ext cx="4754880" cy="10241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3291839"/>
            <a:ext cx="54864" cy="102412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0608" y="3383279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80,9%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38039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das famílias brasileiras endividadas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408736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CNC abr/2026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4398264"/>
            <a:ext cx="4754880" cy="10241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4398264"/>
            <a:ext cx="54864" cy="102412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50608" y="4489703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82,8M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491032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CPFs negativados — recorde histórico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519379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Serasa mar/2026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650992"/>
            <a:ext cx="12188952" cy="9509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7241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FRAGMENTO DO STATEMENT: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971031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"Para brasileiros de 25 a 50 anos, das classes B e C, que ganham mas não sabem para onde vai o dinheiro..."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</a:rPr>
              <a:t>Solve · Positioning Statement · v1.0.0 · 2026-05-12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"/>
            <a:ext cx="347472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O Problema · Need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 necessidade específica não atendida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9264"/>
            <a:ext cx="1097280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1">
                <a:solidFill>
                  <a:srgbClr val="FFFFFF"/>
                </a:solidFill>
              </a:rPr>
              <a:t>"Sem visibilidade, não há comportamento."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92224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O brasileiro não sabe para onde vai o seu dinheiro. Não é falta de vontade — é falta de visibilidade no momento da ação. Sem isso, não há como mudar o comportamento.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23744"/>
            <a:ext cx="10972800" cy="3200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33472"/>
            <a:ext cx="3602736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88336"/>
            <a:ext cx="3602736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9806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Falta de Visibilidade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3246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48% não controlam gastos
85% dos endividados devem no cartão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2633472"/>
            <a:ext cx="3602736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2688336"/>
            <a:ext cx="3602736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279806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Falta de Orientação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3200400"/>
            <a:ext cx="3246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52% sem planejamento financeiro
Educação chega tarde, fora do contexto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11312" y="2633472"/>
            <a:ext cx="3602736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11312" y="2688336"/>
            <a:ext cx="3602736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79806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Falta do Momento Certo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200400"/>
            <a:ext cx="3246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 insight chega depois do erro
Nunca antes da decisão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650992"/>
            <a:ext cx="12188952" cy="9509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7241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FRAGMENTO DO STATEMENT: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71031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"...que por isso não conseguem poupar, investir nem sair do ciclo de endividamento..."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Positioning Statement · v1.0.0 · 2026-05-12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"/>
            <a:ext cx="594360" cy="347472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"/>
            <a:ext cx="621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03+04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0116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Nossa Categoria e Diferencial Único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</a:rPr>
              <a:t>Onde competimos — e o que nos torna únicos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9264"/>
            <a:ext cx="109728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78992"/>
            <a:ext cx="5413248" cy="44074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78992"/>
            <a:ext cx="541324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0700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03  NOSSA CATEGORIA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Gestão financeira pessoal
com análise inteligente e orientação contextual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12848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748B"/>
                </a:solidFill>
              </a:rPr>
              <a:t>Não somos um app de lançamento manual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Não somos uma corretora de investimentos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Somos a camada de inteligência entre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</a:rPr>
              <a:t>o banco e o comportamento do usuário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1363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Por que essa definição importa: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87952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Define com quem competimos, como o produto é descrito em PR e como vendemos ao usuário.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8192" y="1078992"/>
            <a:ext cx="5623560" cy="44074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08192" y="1078992"/>
            <a:ext cx="5623560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20700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7A"/>
                </a:solidFill>
              </a:rPr>
              <a:t>04  DIFERENCIAL ÚNICO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4630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O único que combina os três: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91072" y="1920240"/>
            <a:ext cx="54864" cy="93268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2024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Análise Inteligente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67712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Seus extratos viram categorias e padrões automaticamente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1072" y="3090672"/>
            <a:ext cx="54864" cy="93268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09067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Orientação Contextual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38144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 dica certa antes da decisão — não depois do erro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4261104"/>
            <a:ext cx="54864" cy="93268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261104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Sem Julgamento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0857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Linguagem acessível · sem jargão · sem culpa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650992"/>
            <a:ext cx="12188952" cy="9509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7241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FRAGMENTO DO STATEMENT: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71031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"...é o app de gestão financeira pessoal que analisa seus extratos, entrega visibilidade real dos gastos e orientação no momento certo..."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Positioning Statement · v1.0.0 · 2026-05-12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VS. CONCORRÊNCIA · O ESPAÇO QUE NINGUÉM OCUPA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Por que somos únicos no mercado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77824"/>
            <a:ext cx="109728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87552"/>
            <a:ext cx="11274552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6070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7A"/>
                </a:solidFill>
              </a:rPr>
              <a:t>Concorrente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060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7A"/>
                </a:solidFill>
              </a:rPr>
              <a:t>O que fazem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06070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7A"/>
                </a:solidFill>
              </a:rPr>
              <a:t>Nossa diferença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44752"/>
            <a:ext cx="11274552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9105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Organizze · Mobills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59105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Lançamento manual de transações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3952" y="1536192"/>
            <a:ext cx="54864" cy="676656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51790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Categorização inteligente + orientação contextual antes da decisão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59152"/>
            <a:ext cx="11274552" cy="8595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50545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Kinvo · Gorila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50545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Consolidação de investimentos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3952" y="2450592"/>
            <a:ext cx="54864" cy="676656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243230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Gastos + investimentos integrados, foco no dia a 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73552"/>
            <a:ext cx="11274552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41985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Guiabolso (descontinuado)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41985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Agregação básica, sem orientação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2" y="3364992"/>
            <a:ext cx="54864" cy="676656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334670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Orientação contextual + UX moderno + suporte ativo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87952"/>
            <a:ext cx="11274552" cy="8595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33425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Bancos · Nubank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33425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Visão de uma única instituição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4279392"/>
            <a:ext cx="54864" cy="676656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426110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Cross-bank, sem conflito de interesse, visão 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02352"/>
            <a:ext cx="11274552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24865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YNAB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24865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Metodologia de orçamento manual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73952" y="5193792"/>
            <a:ext cx="54864" cy="676656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5175504"/>
            <a:ext cx="4937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Categorização inteligente, orientação contextual, mercado BR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080760"/>
            <a:ext cx="1127455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153912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7A"/>
                </a:solidFill>
              </a:rPr>
              <a:t>Nenhum concorrente combina: agregação automática + orientação contextual + sem jargão + modelo freemium brasileiro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</a:rPr>
              <a:t>Solve · Positioning Statement · v1.0.0 · 2026-05-12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O Positioning Statement · Versão Completa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57200"/>
            <a:ext cx="54864" cy="120700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5720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7A"/>
                </a:solidFill>
              </a:rPr>
              <a:t>PARA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694944"/>
            <a:ext cx="109728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brasileiros de 25 a 50 anos, das classes B e C, que ganham mas não sabem para onde vai o dinheiro — e por isso não conseguem poupar, investir nem sair do ciclo de endividamento,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430000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0195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7A"/>
                </a:solidFill>
              </a:rPr>
              <a:t>o Solve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05456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é o app de gestão financeira pessoal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44368"/>
            <a:ext cx="54864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4436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182112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analisa seus extratos e transações, entrega visibilidade real dos gastos e orientação no momento certo da decisão financeira 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11430000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41648"/>
            <a:ext cx="54864" cy="12070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04164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AO CONTRÁRIO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27939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de apps que dependem de lançamento manual ou focam exclusivamente em investimentos, o Solve age na raiz do problema: transformar visibilidade em comportamento.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650992"/>
            <a:ext cx="12188952" cy="91440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7241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VERSÃO CURTA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F172A"/>
                </a:solidFill>
              </a:rPr>
              <a:t>"O Solve é o app que organiza seus gastos, mostra para onde vai o dinheiro — e orienta no momento certo para mudar isso."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Positioning Statement · v1.0.0 · 2026-05-12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PROOF POINTS · RAZÕES PARA ACREDITAR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Dados que sustentam cada parte do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77824"/>
            <a:ext cx="109728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35661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33856"/>
            <a:ext cx="3566160" cy="202996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O problema é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48% dos brasileiros não controlam seus gastos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5054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SPC Brasil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078992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1133856"/>
            <a:ext cx="3566160" cy="202996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2435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O canal é mobile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55448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75% das transações bancárias via smartphone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054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Febraban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1856" y="1078992"/>
            <a:ext cx="3566160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1133856"/>
            <a:ext cx="3566160" cy="202996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12435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7A"/>
                </a:solidFill>
              </a:rPr>
              <a:t>A motivação existe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155448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23M+ planejam começar a investir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5054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ANBIMA 2025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64991"/>
            <a:ext cx="356616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419856"/>
            <a:ext cx="3566160" cy="202996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5295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</a:rPr>
              <a:t>107M não investem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840479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64% dos brasileiros ainda não investem o próprio dinheiro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47914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ANBIMA 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4528" y="3364991"/>
            <a:ext cx="3566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3419856"/>
            <a:ext cx="3566160" cy="202996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5295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O timing é urgente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840479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82,8M CPFs negativados — recorde histórico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7914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Serasa mar/2026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91856" y="3364991"/>
            <a:ext cx="3566160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91856" y="3419856"/>
            <a:ext cx="3566160" cy="202996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6448" y="35295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7A"/>
                </a:solidFill>
              </a:rPr>
              <a:t>O mercado paga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3840479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Freemium: R$0 → R$19,90 → R$34,90/mês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47914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Análise interna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Positioning Statement · v1.0.0 · 2026-05-12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COMO APLICAR · TRÊS CONTEXTOS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O positioning guia decisões de produto, marketing e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77824"/>
            <a:ext cx="109728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3520440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7A"/>
                </a:solidFill>
              </a:rPr>
              <a:t>No Produto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36192"/>
            <a:ext cx="3520440" cy="4919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64208"/>
            <a:ext cx="32644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Onboarding em &lt; 3 min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é a prova viva do diferencial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Cada notificação: antes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da decisão — nunca depois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Feature test: isso aumenta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visibilidade ou orientação?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Se não → reconsidere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Copy: visibilidade → ação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específica, nunca genérica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051560"/>
            <a:ext cx="3520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16128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No Marketing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536192"/>
            <a:ext cx="3520440" cy="4919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64208"/>
            <a:ext cx="32644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Hero da landing page ancora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no positioning — não na feature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Ads por persona, mas todos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convergem ao mesmo diferencial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PR: "camada entre o banco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e o comportamento financeiro"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Nunca comparação direta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com concorrentes no copy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1051560"/>
            <a:ext cx="3520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116128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No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1536192"/>
            <a:ext cx="3520440" cy="4919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664208"/>
            <a:ext cx="32644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F172A"/>
                </a:solidFill>
              </a:rPr>
              <a:t>Hiring: candidato explica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o Solve em 1 frase?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= alinhamento cultural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Decisões: isso reforça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o positioning?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Investor pitch: diferencial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defensável vs. mais um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app de finanças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/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OKRs derivados do</a:t>
            </a:r>
          </a:p>
          <a:p>
            <a:pPr>
              <a:spcBef>
                <a:spcPts val="240"/>
              </a:spcBef>
            </a:pPr>
            <a:r>
              <a:rPr sz="1100">
                <a:solidFill>
                  <a:srgbClr val="0F172A"/>
                </a:solidFill>
              </a:rPr>
              <a:t>diferencial, não de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