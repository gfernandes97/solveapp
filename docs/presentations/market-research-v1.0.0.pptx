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36576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4FF"/>
                </a:solidFill>
                <a:latin typeface="Calibri"/>
              </a:rPr>
              <a:t>FinanceApp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Estudo de Mercado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0F4FF"/>
                </a:solidFill>
                <a:latin typeface="Calibri"/>
              </a:rPr>
              <a:t>Oportunidade, Concorrência e Estratégia de Go-to-Market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v1.0.0  ·  2026-05-10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Mercado Brasileiro de Fintechs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Contexto e tamanho do mercado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560320" cy="256032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160M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adultos com
smartphone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560320" cy="25603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554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130M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usuários de
internet banking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2560320" cy="2560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54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25M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investidores
na B3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371600"/>
            <a:ext cx="2560320" cy="2560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554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70M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CPFs negativados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F"/>
                </a:solidFill>
                <a:latin typeface="Calibri"/>
              </a:rPr>
              <a:t>Brasil é o maior mercado de fintechs da América Latina, com penetração crescente e forte demanda reprimida por educação financeira.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TAM · SAM · SOM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Dimensionamento do mercado endereçável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8686800" cy="128016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41732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Total Addressable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74519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Adultos financeiramente ativos no Brasil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463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Calibri"/>
              </a:rPr>
              <a:t>120M pessoas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5943600" cy="12801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63239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06323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Serviceable Addressable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520439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Millennials + Gen-Z (18-42 anos) com smartphone e renda formal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08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Calibri"/>
              </a:rPr>
              <a:t>45M pessoas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63440"/>
            <a:ext cx="3657600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709159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70915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Serviceable Obtainable 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16635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Early adopters dispostos a pagar por app financeiro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75487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Calibri"/>
              </a:rPr>
              <a:t>3–5M pessoas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Panorama Competitivo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Apps de controle de gastos e investimentos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1430000" cy="50292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325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Preço/mês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325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Gastos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3258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Investimentos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3258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Educação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325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83080"/>
            <a:ext cx="114300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847088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Organizze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847088"/>
            <a:ext cx="1645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R$19,90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1847088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9E0B"/>
                </a:solidFill>
                <a:latin typeface="Calibri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84708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Calibri"/>
              </a:rPr>
              <a:t>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84708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Calibri"/>
              </a:rPr>
              <a:t>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1847088"/>
            <a:ext cx="1828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Bom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286000"/>
            <a:ext cx="11430000" cy="5029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350008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Mobills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2350008"/>
            <a:ext cx="1645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R$14,90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2350008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9E0B"/>
                </a:solidFill>
                <a:latin typeface="Calibri"/>
              </a:rP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35000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Calibri"/>
              </a:rPr>
              <a:t>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35000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Calibri"/>
              </a:rPr>
              <a:t>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350008"/>
            <a:ext cx="1828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Datado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788920"/>
            <a:ext cx="114300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852927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Kinvo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2852927"/>
            <a:ext cx="1645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R$29,90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2852927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Calibri"/>
              </a:rPr>
              <a:t>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2852927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9E0B"/>
                </a:solidFill>
                <a:latin typeface="Calibri"/>
              </a:rPr>
              <a:t>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852927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Básico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852927"/>
            <a:ext cx="1828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Ótimo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291840"/>
            <a:ext cx="11430000" cy="5029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3355848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Gorila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3355848"/>
            <a:ext cx="1645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R$39,90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3355848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Calibri"/>
              </a:rPr>
              <a:t>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35584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9E0B"/>
                </a:solidFill>
                <a:latin typeface="Calibri"/>
              </a:rPr>
              <a:t>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35584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Calibri"/>
              </a:rPr>
              <a:t>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355848"/>
            <a:ext cx="1828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Profissional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794760"/>
            <a:ext cx="114300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3858768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Guiabolso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1720" y="3858768"/>
            <a:ext cx="1645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Descontinuado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7639" y="3858768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9E0B"/>
                </a:solidFill>
                <a:latin typeface="Calibri"/>
              </a:rPr>
              <a:t>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385876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Calibri"/>
              </a:rPr>
              <a:t>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85876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Calibri"/>
              </a:rPr>
              <a:t>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858768"/>
            <a:ext cx="1828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297680"/>
            <a:ext cx="11430000" cy="5029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4361688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FinanceApp 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31720" y="4361688"/>
            <a:ext cx="1645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R$19,90–34,90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77639" y="4361688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92040" y="436168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36168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4361688"/>
            <a:ext cx="1828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Mobile-first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Oportunidade de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Gap identificado e benchmarks internacionais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7315200" cy="237744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8A"/>
                </a:solidFill>
                <a:latin typeface="Calibri"/>
              </a:rPr>
              <a:t>Gap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6949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Nenhum app brasileiro integra gastos + investimentos + educação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Guiabolso descontinuado deixou ~5 milhões de usuários órfãos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Usuários usam 2–3 apps diferentes para o que 1 deveria resolver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Crescimento de investidores B3: 500K (2018) → 25M (2026)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280160"/>
            <a:ext cx="3749039" cy="237744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371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Calibri"/>
              </a:rPr>
              <a:t>YNAB (EUA) — Referência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USD 14,99/mês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&gt; 1 milhão de usuários pagantes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Metodologia como produto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Educação = retenção alta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NPS &gt; 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931920"/>
            <a:ext cx="11430000" cy="2377440"/>
          </a:xfrm>
          <a:prstGeom prst="rect">
            <a:avLst/>
          </a:prstGeom>
          <a:solidFill>
            <a:srgbClr val="05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023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8A"/>
                </a:solidFill>
                <a:latin typeface="Calibri"/>
              </a:rPr>
              <a:t>Disposição a Pagar no Brasil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15–20% dos usuários de apps financeiros pagam por premium (crescendo)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Faixa validada: R$15–45/mês  ·  Modelo Freemium com 3 tiers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Tier Essentials R$19,90  ·  Tier Premium R$34,90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Perfis de usuário identificados na pesquisa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502920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Ana, 26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1º emprego CLT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36576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Renda: R$3.500–6.000/mês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Objetivo: Guardar para imóvel em 5 anos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Dor: Não sabe quanto sobra para investir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Disposição a pagar: R$20–30/mês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50292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173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Carlos, 34 anos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Gerente de área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377440"/>
            <a:ext cx="36576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5146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Renda: R$8.000–15.000/mês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Objetivo: Saber se investe o suficiente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Dor: Controla gastos no Excel (ineficiente)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Disposição a pagar: R$30–50/mês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3657600" cy="5029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4173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Lucas, 19 anos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Estagiário universitário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377440"/>
            <a:ext cx="36576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5146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Renda: R$1.500/mês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Objetivo: Aprender finanças e investir no início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Dor: Precisa de educação básica primeiro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Disposição a pagar: R$10–15/mês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Modelo de Monetização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Freemium + 3 tiers de assinatura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474720" cy="50292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R$0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347472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Lançamento manual de transações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2 contas bancárias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Relatórios básicos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Metas simples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474720" cy="502920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371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Essentials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116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R$19,90/mês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651760"/>
            <a:ext cx="347472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7432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Open Finance (contas automáticas)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Investimentos básicos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Metas avançadas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Educação — módulo inicial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3474720" cy="50292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371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Premium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0116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R$34,90/mês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651760"/>
            <a:ext cx="347472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7432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Categorização por IA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Impostos automatizados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Simuladores avançados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Suporte prioritário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Riscos de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Principais ameaças e mitigações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09728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ALTO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280160"/>
            <a:ext cx="10058400" cy="109728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344168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Nubank lançar funcionalidades similares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78308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Distribuição de 100M+ clientes vs. nosso nicho premium/educação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109728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889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ALTO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560320"/>
            <a:ext cx="10058400" cy="109728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2624327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CAC elevado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063239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Custo de aquisição high — mitigar com conteúdo orgânico e parcerias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79"/>
            <a:ext cx="109728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069079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MÉDIO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3840479"/>
            <a:ext cx="10058400" cy="109728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3904487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Mudanças regulatórias Open Finance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343399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BC atualizando normas continuamente — acompanhar via API aggregator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20640"/>
            <a:ext cx="109728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34924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MÉDIO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5120640"/>
            <a:ext cx="10058400" cy="109728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5184648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Churn por LTV baixo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623559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Primeiros 90 dias críticos — onboarding e education loop são chave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Conclusão &amp; Próximos Passos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457200" cy="8229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280160"/>
            <a:ext cx="6858000" cy="8229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32588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Mercado validado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719072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Brazil fintech é o maior da LATAM com gap claro de produto integrado.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457200" cy="8229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5603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468880"/>
            <a:ext cx="6858000" cy="8229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51460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Concorrência fragmentada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907792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Nenhum player combina gastos + investimentos + educação.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457200" cy="8229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749039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657600"/>
            <a:ext cx="6858000" cy="8229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70332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Monetização comprovada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096512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YNAB prova que metodologia financeira é vendável. ~15–20% convertem.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46320"/>
            <a:ext cx="457200" cy="8229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9377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846320"/>
            <a:ext cx="6858000" cy="8229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89204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Break-even realista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285232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2.000 usuários pagantes no modelo solo. Atingível em 12–18 meses.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280160"/>
            <a:ext cx="3657600" cy="466344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4FF"/>
                </a:solidFill>
                <a:latin typeface="Calibri"/>
              </a:rPr>
              <a:t>Próximos Passos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192024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1. Definir escopo exato do MVP</a:t>
            </a:r>
          </a:p>
          <a:p>
            <a:pPr>
              <a:spcAft>
                <a:spcPts val="780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2. Validar monetização com landing page</a:t>
            </a:r>
          </a:p>
          <a:p>
            <a:pPr>
              <a:spcAft>
                <a:spcPts val="780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3. Prototipar telas principais</a:t>
            </a:r>
          </a:p>
          <a:p>
            <a:pPr>
              <a:spcAft>
                <a:spcPts val="780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4. Iniciar desenvolvimento 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FinanceApp  ·  Estudo de Mercado v1.0.0  ·  2026-05-10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