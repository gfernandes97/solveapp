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606040"/>
            <a:ext cx="12188952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114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8B5CF6"/>
                </a:solidFill>
                <a:latin typeface="Calibri"/>
              </a:rPr>
              <a:t>FinanceApp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8016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Estudo de Personas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8892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F"/>
                </a:solidFill>
                <a:latin typeface="Calibri"/>
              </a:rPr>
              <a:t>8 perfis · Dores reais · Pain point central · Problem Statement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Calibri"/>
              </a:rPr>
              <a:t>Baseado em: ANBIMA · B3 · Serasa · SPC Brasil · CNC · Febraban · BCB · IBGE · Creditas · Nubank/Ipsos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263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Calibri"/>
              </a:rPr>
              <a:t>v1.0.0  ·  2026-05-11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O Contexto: Números que Definem o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Dados públicos — ANBIMA, Serasa, CNC, Febraban, BCB (2025/2026)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80160"/>
            <a:ext cx="3566160" cy="2377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37160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0F172A"/>
                </a:solidFill>
                <a:latin typeface="Calibri"/>
              </a:rPr>
              <a:t>82,8M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286000"/>
            <a:ext cx="3566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F172A"/>
                </a:solidFill>
                <a:latin typeface="Calibri"/>
              </a:rPr>
              <a:t>brasileiros com
CPF negativado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301752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F172A"/>
                </a:solidFill>
                <a:latin typeface="Calibri"/>
              </a:rPr>
              <a:t>Serasa mar/2026
(recorde histórico)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59" y="1280160"/>
            <a:ext cx="3566160" cy="23774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1959" y="137160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0F172A"/>
                </a:solidFill>
                <a:latin typeface="Calibri"/>
              </a:rPr>
              <a:t>80,9%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59" y="2286000"/>
            <a:ext cx="3566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F172A"/>
                </a:solidFill>
                <a:latin typeface="Calibri"/>
              </a:rPr>
              <a:t>das famílias
endividadas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59" y="301752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F172A"/>
                </a:solidFill>
                <a:latin typeface="Calibri"/>
              </a:rPr>
              <a:t>CNC abr/2026
(recorde histórico)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83879" y="1280160"/>
            <a:ext cx="3566160" cy="2377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9" y="137160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0F172A"/>
                </a:solidFill>
                <a:latin typeface="Calibri"/>
              </a:rPr>
              <a:t>107,7M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2286000"/>
            <a:ext cx="3566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F172A"/>
                </a:solidFill>
                <a:latin typeface="Calibri"/>
              </a:rPr>
              <a:t>brasileiros que
não investem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301752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F172A"/>
                </a:solidFill>
                <a:latin typeface="Calibri"/>
              </a:rPr>
              <a:t>ANBIMA 2025
(64% da população)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886200"/>
            <a:ext cx="3566160" cy="2377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3977639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0F172A"/>
                </a:solidFill>
                <a:latin typeface="Calibri"/>
              </a:rPr>
              <a:t>48%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4892040"/>
            <a:ext cx="3566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F172A"/>
                </a:solidFill>
                <a:latin typeface="Calibri"/>
              </a:rPr>
              <a:t>não controlam
seus gastos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562356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F172A"/>
                </a:solidFill>
                <a:latin typeface="Calibri"/>
              </a:rPr>
              <a:t>SPC Brasil 2025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51959" y="3886200"/>
            <a:ext cx="3566160" cy="237744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51959" y="3977639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0F172A"/>
                </a:solidFill>
                <a:latin typeface="Calibri"/>
              </a:rPr>
              <a:t>31%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51959" y="4892040"/>
            <a:ext cx="3566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F172A"/>
                </a:solidFill>
                <a:latin typeface="Calibri"/>
              </a:rPr>
              <a:t>sem nenhuma
reserva de emergência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51959" y="562356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F172A"/>
                </a:solidFill>
                <a:latin typeface="Calibri"/>
              </a:rPr>
              <a:t>ANBIMA 2025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83879" y="3886200"/>
            <a:ext cx="3566160" cy="2377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83879" y="3977639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0F172A"/>
                </a:solidFill>
                <a:latin typeface="Calibri"/>
              </a:rPr>
              <a:t>90%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79" y="4892040"/>
            <a:ext cx="3566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F172A"/>
                </a:solidFill>
                <a:latin typeface="Calibri"/>
              </a:rPr>
              <a:t>juros anuais do
rotativo do cartão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79" y="562356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F172A"/>
                </a:solidFill>
                <a:latin typeface="Calibri"/>
              </a:rPr>
              <a:t>CNC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0" y="6510528"/>
            <a:ext cx="1218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Calibri"/>
              </a:rPr>
              <a:t>FinanceApp · Estudo de Personas v1.0.0 · 2026-05-11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Os 8 Perfis Identificados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Segmentados por faixa etária, renda e comportamento financeiro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2743200" cy="2377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307592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F172A"/>
                </a:solidFill>
                <a:latin typeface="Calibri"/>
              </a:rPr>
              <a:t>P1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801368"/>
            <a:ext cx="2743200" cy="3657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892808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Jovem Desorganizado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5146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Gen Z · 18-24a · até R$2.500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234440"/>
            <a:ext cx="2743200" cy="2377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46120" y="1307592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F172A"/>
                </a:solidFill>
                <a:latin typeface="Calibri"/>
              </a:rPr>
              <a:t>P2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1801368"/>
            <a:ext cx="2743200" cy="3657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7560" y="1892808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Endividado Crônico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25146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25-45a · 1-5 SM · cartão no limit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234440"/>
            <a:ext cx="2743200" cy="237744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307592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F172A"/>
                </a:solidFill>
                <a:latin typeface="Calibri"/>
              </a:rPr>
              <a:t>P3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801368"/>
            <a:ext cx="2743200" cy="3657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59" y="1892808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Investidor Iniciante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59" y="25146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25-40a · classe C · começando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89720" y="1234440"/>
            <a:ext cx="2743200" cy="237744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89720" y="1307592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F172A"/>
                </a:solidFill>
                <a:latin typeface="Calibri"/>
              </a:rPr>
              <a:t>P4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89720" y="1801368"/>
            <a:ext cx="2743200" cy="3657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81160" y="1892808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Mulher Invisível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60" y="25146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25-60a · subatendida · 31% invest.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3840480"/>
            <a:ext cx="2743200" cy="2377440"/>
          </a:xfrm>
          <a:prstGeom prst="rect">
            <a:avLst/>
          </a:prstGeom>
          <a:solidFill>
            <a:srgbClr val="0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3913632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F172A"/>
                </a:solidFill>
                <a:latin typeface="Calibri"/>
              </a:rPr>
              <a:t>P5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407408"/>
            <a:ext cx="2743200" cy="3657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4498848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Profissional Ocupado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512064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30-50a · 5+ SM · sem tempo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46120" y="3840480"/>
            <a:ext cx="2743200" cy="23774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46120" y="3913632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F172A"/>
                </a:solidFill>
                <a:latin typeface="Calibri"/>
              </a:rPr>
              <a:t>P6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46120" y="4407408"/>
            <a:ext cx="2743200" cy="3657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37560" y="4498848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Investidor Avançado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37560" y="512064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28-50a · renda alta · multi-ativo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3840480"/>
            <a:ext cx="2743200" cy="2377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17920" y="3913632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F172A"/>
                </a:solidFill>
                <a:latin typeface="Calibri"/>
              </a:rPr>
              <a:t>P7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0" y="4407408"/>
            <a:ext cx="2743200" cy="3657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09359" y="4498848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Aposentado/Pré-Aposent.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59" y="512064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50-70a · renda fixa · segurança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89720" y="3840480"/>
            <a:ext cx="2743200" cy="23774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89720" y="3913632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F172A"/>
                </a:solidFill>
                <a:latin typeface="Calibri"/>
              </a:rPr>
              <a:t>P8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189720" y="4407408"/>
            <a:ext cx="2743200" cy="3657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81160" y="4498848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MEI/Empreendedor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81160" y="512064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25-55a · renda variável · PF=PJ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0" y="6510528"/>
            <a:ext cx="1218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Calibri"/>
              </a:rPr>
              <a:t>FinanceApp · Estudo de Personas v1.0.0 · 2026-05-11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164592"/>
            <a:ext cx="777240" cy="777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01168"/>
            <a:ext cx="777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F172A"/>
                </a:solidFill>
                <a:latin typeface="Calibri"/>
              </a:rPr>
              <a:t>P1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O Jovem Desorganizado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658368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Gen Z · 18–24 anos  ·  Até R$2.500/mês · CLT inicial ou informal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097280"/>
            <a:ext cx="11548872" cy="502920"/>
          </a:xfrm>
          <a:prstGeom prst="rect">
            <a:avLst/>
          </a:prstGeom>
          <a:solidFill>
            <a:srgbClr val="1A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1430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0F4FF"/>
                </a:solidFill>
                <a:latin typeface="Calibri"/>
              </a:rPr>
              <a:t>Entrou no mercado de trabalho recentemente. Tem smartphone, usa Nubank, mas nunca aprendeu a gerir dinheiro. Gasta por impulso, sem noção do que sobra.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737360"/>
            <a:ext cx="5394960" cy="4297680"/>
          </a:xfrm>
          <a:prstGeom prst="rect">
            <a:avLst/>
          </a:prstGeom>
          <a:solidFill>
            <a:srgbClr val="1A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81051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F4444"/>
                </a:solidFill>
                <a:latin typeface="Calibri"/>
              </a:rPr>
              <a:t>Principais Dores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286000"/>
            <a:ext cx="5120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40"/>
              </a:spcAft>
            </a:pPr>
            <a:r>
              <a:rPr sz="1200" b="0">
                <a:solidFill>
                  <a:srgbClr val="F0F4FF"/>
                </a:solidFill>
                <a:latin typeface="Calibri"/>
              </a:rPr>
              <a:t>• Não sabe como começar a controlar os gastos</a:t>
            </a:r>
          </a:p>
          <a:p>
            <a:pPr>
              <a:spcAft>
                <a:spcPts val="540"/>
              </a:spcAft>
            </a:pPr>
            <a:r>
              <a:rPr sz="1200" b="0">
                <a:solidFill>
                  <a:srgbClr val="F0F4FF"/>
                </a:solidFill>
                <a:latin typeface="Calibri"/>
              </a:rPr>
              <a:t>• Nunca sobra dinheiro no fim do mês (51%)</a:t>
            </a:r>
          </a:p>
          <a:p>
            <a:pPr>
              <a:spcAft>
                <a:spcPts val="540"/>
              </a:spcAft>
            </a:pPr>
            <a:r>
              <a:rPr sz="1200" b="0">
                <a:solidFill>
                  <a:srgbClr val="F0F4FF"/>
                </a:solidFill>
                <a:latin typeface="Calibri"/>
              </a:rPr>
              <a:t>• Falta de disciplina e compras por impulso (56%)</a:t>
            </a:r>
          </a:p>
          <a:p>
            <a:pPr>
              <a:spcAft>
                <a:spcPts val="540"/>
              </a:spcAft>
            </a:pPr>
            <a:r>
              <a:rPr sz="1200" b="0">
                <a:solidFill>
                  <a:srgbClr val="F0F4FF"/>
                </a:solidFill>
                <a:latin typeface="Calibri"/>
              </a:rPr>
              <a:t>• 37% já tiveram o nome negativado</a:t>
            </a:r>
          </a:p>
          <a:p>
            <a:pPr>
              <a:spcAft>
                <a:spcPts val="540"/>
              </a:spcAft>
            </a:pPr>
            <a:r>
              <a:rPr sz="1200" b="0">
                <a:solidFill>
                  <a:srgbClr val="F0F4FF"/>
                </a:solidFill>
                <a:latin typeface="Calibri"/>
              </a:rPr>
              <a:t>• 75% não pensam em aposentadoria</a:t>
            </a:r>
          </a:p>
          <a:p>
            <a:pPr>
              <a:spcAft>
                <a:spcPts val="540"/>
              </a:spcAft>
            </a:pPr>
            <a:r>
              <a:rPr sz="1200" b="0">
                <a:solidFill>
                  <a:srgbClr val="F0F4FF"/>
                </a:solidFill>
                <a:latin typeface="Calibri"/>
              </a:rPr>
              <a:t>• Vergonha do estado atual das finanças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737360"/>
            <a:ext cx="5925312" cy="4297680"/>
          </a:xfrm>
          <a:prstGeom prst="rect">
            <a:avLst/>
          </a:prstGeom>
          <a:solidFill>
            <a:srgbClr val="05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810512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D48A"/>
                </a:solidFill>
                <a:latin typeface="Calibri"/>
              </a:rPr>
              <a:t>O Que Quer do 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2286000"/>
            <a:ext cx="55778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40"/>
              </a:spcAft>
            </a:pPr>
            <a:r>
              <a:rPr sz="1200" b="0">
                <a:solidFill>
                  <a:srgbClr val="F0F4FF"/>
                </a:solidFill>
                <a:latin typeface="Calibri"/>
              </a:rPr>
              <a:t>✔ Interface visual e intuitiva (sem planilhas)</a:t>
            </a:r>
          </a:p>
          <a:p>
            <a:pPr>
              <a:spcAft>
                <a:spcPts val="540"/>
              </a:spcAft>
            </a:pPr>
            <a:r>
              <a:rPr sz="1200" b="0">
                <a:solidFill>
                  <a:srgbClr val="F0F4FF"/>
                </a:solidFill>
                <a:latin typeface="Calibri"/>
              </a:rPr>
              <a:t>✔ Feedback imediato: quanto gastei hoje?</a:t>
            </a:r>
          </a:p>
          <a:p>
            <a:pPr>
              <a:spcAft>
                <a:spcPts val="540"/>
              </a:spcAft>
            </a:pPr>
            <a:r>
              <a:rPr sz="1200" b="0">
                <a:solidFill>
                  <a:srgbClr val="F0F4FF"/>
                </a:solidFill>
                <a:latin typeface="Calibri"/>
              </a:rPr>
              <a:t>✔ Metas pequenas e alcançáveis (gamificação)</a:t>
            </a:r>
          </a:p>
          <a:p>
            <a:pPr>
              <a:spcAft>
                <a:spcPts val="540"/>
              </a:spcAft>
            </a:pPr>
            <a:r>
              <a:rPr sz="1200" b="0">
                <a:solidFill>
                  <a:srgbClr val="F0F4FF"/>
                </a:solidFill>
                <a:latin typeface="Calibri"/>
              </a:rPr>
              <a:t>✔ Conteúdo de educação em formato de reels/stories</a:t>
            </a:r>
          </a:p>
          <a:p>
            <a:pPr>
              <a:spcAft>
                <a:spcPts val="540"/>
              </a:spcAft>
            </a:pPr>
            <a:r>
              <a:rPr sz="1200" b="0">
                <a:solidFill>
                  <a:srgbClr val="F0F4FF"/>
                </a:solidFill>
                <a:latin typeface="Calibri"/>
              </a:rPr>
              <a:t>✔ Sem julgamento — linguagem acolhedora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6108192"/>
            <a:ext cx="7772400" cy="594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135624"/>
            <a:ext cx="74980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"No fim do mês fico me perguntando pra onde foi o dinheiro. Sai e eu nem vi."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21040" y="6108192"/>
            <a:ext cx="3867912" cy="59436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6144768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47% da Gen Z não controlam finanças  —  CNDL/SPC Brasil 2025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164592"/>
            <a:ext cx="777240" cy="7772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01168"/>
            <a:ext cx="777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F172A"/>
                </a:solidFill>
                <a:latin typeface="Calibri"/>
              </a:rPr>
              <a:t>P2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O Endividado Crônico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658368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25–45 anos  ·  1–5 salários mínimos · R$1.412 a R$7.060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097280"/>
            <a:ext cx="11548872" cy="502920"/>
          </a:xfrm>
          <a:prstGeom prst="rect">
            <a:avLst/>
          </a:prstGeom>
          <a:solidFill>
            <a:srgbClr val="1A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1430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0F4FF"/>
                </a:solidFill>
                <a:latin typeface="Calibri"/>
              </a:rPr>
              <a:t>Vive no limite do cartão de crédito. Paga apenas o mínimo e vê os juros (90% a.a.) consumirem a renda. Sente que nunca vai sair do vermelho.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737360"/>
            <a:ext cx="5394960" cy="4297680"/>
          </a:xfrm>
          <a:prstGeom prst="rect">
            <a:avLst/>
          </a:prstGeom>
          <a:solidFill>
            <a:srgbClr val="1A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81051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F4444"/>
                </a:solidFill>
                <a:latin typeface="Calibri"/>
              </a:rPr>
              <a:t>Principais Dores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286000"/>
            <a:ext cx="5120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40"/>
              </a:spcAft>
            </a:pPr>
            <a:r>
              <a:rPr sz="1200" b="0">
                <a:solidFill>
                  <a:srgbClr val="F0F4FF"/>
                </a:solidFill>
                <a:latin typeface="Calibri"/>
              </a:rPr>
              <a:t>• Espiral de dívidas: paga mínimo, juros crescem</a:t>
            </a:r>
          </a:p>
          <a:p>
            <a:pPr>
              <a:spcAft>
                <a:spcPts val="540"/>
              </a:spcAft>
            </a:pPr>
            <a:r>
              <a:rPr sz="1200" b="0">
                <a:solidFill>
                  <a:srgbClr val="F0F4FF"/>
                </a:solidFill>
                <a:latin typeface="Calibri"/>
              </a:rPr>
              <a:t>• Rotativo do cartão: 90% a.a. (CNC 2026)</a:t>
            </a:r>
          </a:p>
          <a:p>
            <a:pPr>
              <a:spcAft>
                <a:spcPts val="540"/>
              </a:spcAft>
            </a:pPr>
            <a:r>
              <a:rPr sz="1200" b="0">
                <a:solidFill>
                  <a:srgbClr val="F0F4FF"/>
                </a:solidFill>
                <a:latin typeface="Calibri"/>
              </a:rPr>
              <a:t>• Comprometimento de renda com dívidas: ~30%</a:t>
            </a:r>
          </a:p>
          <a:p>
            <a:pPr>
              <a:spcAft>
                <a:spcPts val="540"/>
              </a:spcAft>
            </a:pPr>
            <a:r>
              <a:rPr sz="1200" b="0">
                <a:solidFill>
                  <a:srgbClr val="F0F4FF"/>
                </a:solidFill>
                <a:latin typeface="Calibri"/>
              </a:rPr>
              <a:t>• Estresse emocional severo: 77% com impacto na saúde</a:t>
            </a:r>
          </a:p>
          <a:p>
            <a:pPr>
              <a:spcAft>
                <a:spcPts val="540"/>
              </a:spcAft>
            </a:pPr>
            <a:r>
              <a:rPr sz="1200" b="0">
                <a:solidFill>
                  <a:srgbClr val="F0F4FF"/>
                </a:solidFill>
                <a:latin typeface="Calibri"/>
              </a:rPr>
              <a:t>• Medo constante de negativação</a:t>
            </a:r>
          </a:p>
          <a:p>
            <a:pPr>
              <a:spcAft>
                <a:spcPts val="540"/>
              </a:spcAft>
            </a:pPr>
            <a:r>
              <a:rPr sz="1200" b="0">
                <a:solidFill>
                  <a:srgbClr val="F0F4FF"/>
                </a:solidFill>
                <a:latin typeface="Calibri"/>
              </a:rPr>
              <a:t>• Vergonha de falar sobre a situação financeira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737360"/>
            <a:ext cx="5925312" cy="4297680"/>
          </a:xfrm>
          <a:prstGeom prst="rect">
            <a:avLst/>
          </a:prstGeom>
          <a:solidFill>
            <a:srgbClr val="05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810512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D48A"/>
                </a:solidFill>
                <a:latin typeface="Calibri"/>
              </a:rPr>
              <a:t>O Que Quer do 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2286000"/>
            <a:ext cx="55778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40"/>
              </a:spcAft>
            </a:pPr>
            <a:r>
              <a:rPr sz="1200" b="0">
                <a:solidFill>
                  <a:srgbClr val="F0F4FF"/>
                </a:solidFill>
                <a:latin typeface="Calibri"/>
              </a:rPr>
              <a:t>✔ Simulador: quando vou sair do vermelho?</a:t>
            </a:r>
          </a:p>
          <a:p>
            <a:pPr>
              <a:spcAft>
                <a:spcPts val="540"/>
              </a:spcAft>
            </a:pPr>
            <a:r>
              <a:rPr sz="1200" b="0">
                <a:solidFill>
                  <a:srgbClr val="F0F4FF"/>
                </a:solidFill>
                <a:latin typeface="Calibri"/>
              </a:rPr>
              <a:t>✔ Alerta de fatura ANTES do vencimento</a:t>
            </a:r>
          </a:p>
          <a:p>
            <a:pPr>
              <a:spcAft>
                <a:spcPts val="540"/>
              </a:spcAft>
            </a:pPr>
            <a:r>
              <a:rPr sz="1200" b="0">
                <a:solidFill>
                  <a:srgbClr val="F0F4FF"/>
                </a:solidFill>
                <a:latin typeface="Calibri"/>
              </a:rPr>
              <a:t>✔ Plano de quitação passo a passo</a:t>
            </a:r>
          </a:p>
          <a:p>
            <a:pPr>
              <a:spcAft>
                <a:spcPts val="540"/>
              </a:spcAft>
            </a:pPr>
            <a:r>
              <a:rPr sz="1200" b="0">
                <a:solidFill>
                  <a:srgbClr val="F0F4FF"/>
                </a:solidFill>
                <a:latin typeface="Calibri"/>
              </a:rPr>
              <a:t>✔ Visão clara dos juros que está pagando</a:t>
            </a:r>
          </a:p>
          <a:p>
            <a:pPr>
              <a:spcAft>
                <a:spcPts val="540"/>
              </a:spcAft>
            </a:pPr>
            <a:r>
              <a:rPr sz="1200" b="0">
                <a:solidFill>
                  <a:srgbClr val="F0F4FF"/>
                </a:solidFill>
                <a:latin typeface="Calibri"/>
              </a:rPr>
              <a:t>✔ Renegociação de dívidas dentro do app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6108192"/>
            <a:ext cx="7772400" cy="5943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135624"/>
            <a:ext cx="74980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"Pago o mínimo do cartão todo mês mas a dívida só aumenta. Parece um buraco sem fundo."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21040" y="6108192"/>
            <a:ext cx="3867912" cy="59436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6144768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82,8M com CPF negativado · dívida média R$6.177  —  Serasa mar/2026 (recorde histórico)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164592"/>
            <a:ext cx="777240" cy="77724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01168"/>
            <a:ext cx="777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F172A"/>
                </a:solidFill>
                <a:latin typeface="Calibri"/>
              </a:rPr>
              <a:t>P3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O Investidor Iniciante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658368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25–40 anos  ·  R$4.000–10.000/mês · Classe C ascendente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097280"/>
            <a:ext cx="11548872" cy="502920"/>
          </a:xfrm>
          <a:prstGeom prst="rect">
            <a:avLst/>
          </a:prstGeom>
          <a:solidFill>
            <a:srgbClr val="1A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1430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0F4FF"/>
                </a:solidFill>
                <a:latin typeface="Calibri"/>
              </a:rPr>
              <a:t>Começou a investir nos últimos 2 anos. Tem Tesouro Selic ou CDB, mas não entende a diferença entre os produtos. Usa Excel para controle de gastos.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737360"/>
            <a:ext cx="5394960" cy="4297680"/>
          </a:xfrm>
          <a:prstGeom prst="rect">
            <a:avLst/>
          </a:prstGeom>
          <a:solidFill>
            <a:srgbClr val="1A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81051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F4444"/>
                </a:solidFill>
                <a:latin typeface="Calibri"/>
              </a:rPr>
              <a:t>Principais Dores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286000"/>
            <a:ext cx="5120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40"/>
              </a:spcAft>
            </a:pPr>
            <a:r>
              <a:rPr sz="1200" b="0">
                <a:solidFill>
                  <a:srgbClr val="F0F4FF"/>
                </a:solidFill>
                <a:latin typeface="Calibri"/>
              </a:rPr>
              <a:t>• Não sabe distinguir CDB, LCI, Tesouro, fundos</a:t>
            </a:r>
          </a:p>
          <a:p>
            <a:pPr>
              <a:spcAft>
                <a:spcPts val="540"/>
              </a:spcAft>
            </a:pPr>
            <a:r>
              <a:rPr sz="1200" b="0">
                <a:solidFill>
                  <a:srgbClr val="F0F4FF"/>
                </a:solidFill>
                <a:latin typeface="Calibri"/>
              </a:rPr>
              <a:t>• Medo de perder dinheiro em renda variável</a:t>
            </a:r>
          </a:p>
          <a:p>
            <a:pPr>
              <a:spcAft>
                <a:spcPts val="540"/>
              </a:spcAft>
            </a:pPr>
            <a:r>
              <a:rPr sz="1200" b="0">
                <a:solidFill>
                  <a:srgbClr val="F0F4FF"/>
                </a:solidFill>
                <a:latin typeface="Calibri"/>
              </a:rPr>
              <a:t>• 52% sem capacidade de montar planejamento</a:t>
            </a:r>
          </a:p>
          <a:p>
            <a:pPr>
              <a:spcAft>
                <a:spcPts val="540"/>
              </a:spcAft>
            </a:pPr>
            <a:r>
              <a:rPr sz="1200" b="0">
                <a:solidFill>
                  <a:srgbClr val="F0F4FF"/>
                </a:solidFill>
                <a:latin typeface="Calibri"/>
              </a:rPr>
              <a:t>• 46% não se sentem confiantes para metas longas</a:t>
            </a:r>
          </a:p>
          <a:p>
            <a:pPr>
              <a:spcAft>
                <a:spcPts val="540"/>
              </a:spcAft>
            </a:pPr>
            <a:r>
              <a:rPr sz="1200" b="0">
                <a:solidFill>
                  <a:srgbClr val="F0F4FF"/>
                </a:solidFill>
                <a:latin typeface="Calibri"/>
              </a:rPr>
              <a:t>• Sente que chegou tarde ao mercado</a:t>
            </a:r>
          </a:p>
          <a:p>
            <a:pPr>
              <a:spcAft>
                <a:spcPts val="540"/>
              </a:spcAft>
            </a:pPr>
            <a:r>
              <a:rPr sz="1200" b="0">
                <a:solidFill>
                  <a:srgbClr val="F0F4FF"/>
                </a:solidFill>
                <a:latin typeface="Calibri"/>
              </a:rPr>
              <a:t>• Não sabe se está investindo o suficiente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737360"/>
            <a:ext cx="5925312" cy="4297680"/>
          </a:xfrm>
          <a:prstGeom prst="rect">
            <a:avLst/>
          </a:prstGeom>
          <a:solidFill>
            <a:srgbClr val="05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810512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D48A"/>
                </a:solidFill>
                <a:latin typeface="Calibri"/>
              </a:rPr>
              <a:t>O Que Quer do 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2286000"/>
            <a:ext cx="55778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40"/>
              </a:spcAft>
            </a:pPr>
            <a:r>
              <a:rPr sz="1200" b="0">
                <a:solidFill>
                  <a:srgbClr val="F0F4FF"/>
                </a:solidFill>
                <a:latin typeface="Calibri"/>
              </a:rPr>
              <a:t>✔ Comparativo visual claro entre produtos</a:t>
            </a:r>
          </a:p>
          <a:p>
            <a:pPr>
              <a:spcAft>
                <a:spcPts val="540"/>
              </a:spcAft>
            </a:pPr>
            <a:r>
              <a:rPr sz="1200" b="0">
                <a:solidFill>
                  <a:srgbClr val="F0F4FF"/>
                </a:solidFill>
                <a:latin typeface="Calibri"/>
              </a:rPr>
              <a:t>✔ Recomendação personalizada por perfil de risco</a:t>
            </a:r>
          </a:p>
          <a:p>
            <a:pPr>
              <a:spcAft>
                <a:spcPts val="540"/>
              </a:spcAft>
            </a:pPr>
            <a:r>
              <a:rPr sz="1200" b="0">
                <a:solidFill>
                  <a:srgbClr val="F0F4FF"/>
                </a:solidFill>
                <a:latin typeface="Calibri"/>
              </a:rPr>
              <a:t>✔ Dashboard de patrimônio consolidado</a:t>
            </a:r>
          </a:p>
          <a:p>
            <a:pPr>
              <a:spcAft>
                <a:spcPts val="540"/>
              </a:spcAft>
            </a:pPr>
            <a:r>
              <a:rPr sz="1200" b="0">
                <a:solidFill>
                  <a:srgbClr val="F0F4FF"/>
                </a:solidFill>
                <a:latin typeface="Calibri"/>
              </a:rPr>
              <a:t>✔ Calculadora: quanto guardar para atingir X?</a:t>
            </a:r>
          </a:p>
          <a:p>
            <a:pPr>
              <a:spcAft>
                <a:spcPts val="540"/>
              </a:spcAft>
            </a:pPr>
            <a:r>
              <a:rPr sz="1200" b="0">
                <a:solidFill>
                  <a:srgbClr val="F0F4FF"/>
                </a:solidFill>
                <a:latin typeface="Calibri"/>
              </a:rPr>
              <a:t>✔ Educação contextualizada (aprende enquanto faz)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6108192"/>
            <a:ext cx="7772400" cy="59436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135624"/>
            <a:ext cx="74980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"Sei que preciso investir mas não faço ideia se o que escolhi é bom pra mim."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21040" y="6108192"/>
            <a:ext cx="3867912" cy="59436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6144768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50% começaram a investir nos últimos 2 anos  —  Ipsos/Nubank 2024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164592"/>
            <a:ext cx="777240" cy="77724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01168"/>
            <a:ext cx="777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F172A"/>
                </a:solidFill>
                <a:latin typeface="Calibri"/>
              </a:rPr>
              <a:t>P4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 Mulher Invisível ao Sistema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658368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25–60 anos  ·  Variada · frequentemente abaixo da média masculina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097280"/>
            <a:ext cx="11548872" cy="502920"/>
          </a:xfrm>
          <a:prstGeom prst="rect">
            <a:avLst/>
          </a:prstGeom>
          <a:solidFill>
            <a:srgbClr val="1A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1430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0F4FF"/>
                </a:solidFill>
                <a:latin typeface="Calibri"/>
              </a:rPr>
              <a:t>Cuida das finanças da casa mas raramente das próprias. O mercado financeiro nunca falou com ela. É a maioria dos inadimplentes mas a minoria dos investidores.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737360"/>
            <a:ext cx="5394960" cy="4297680"/>
          </a:xfrm>
          <a:prstGeom prst="rect">
            <a:avLst/>
          </a:prstGeom>
          <a:solidFill>
            <a:srgbClr val="1A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81051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F4444"/>
                </a:solidFill>
                <a:latin typeface="Calibri"/>
              </a:rPr>
              <a:t>Principais Dores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286000"/>
            <a:ext cx="5120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40"/>
              </a:spcAft>
            </a:pPr>
            <a:r>
              <a:rPr sz="1200" b="0">
                <a:solidFill>
                  <a:srgbClr val="F0F4FF"/>
                </a:solidFill>
                <a:latin typeface="Calibri"/>
              </a:rPr>
              <a:t>• Apenas 31% das mulheres investem (vs. 41% homens)</a:t>
            </a:r>
          </a:p>
          <a:p>
            <a:pPr>
              <a:spcAft>
                <a:spcPts val="540"/>
              </a:spcAft>
            </a:pPr>
            <a:r>
              <a:rPr sz="1200" b="0">
                <a:solidFill>
                  <a:srgbClr val="F0F4FF"/>
                </a:solidFill>
                <a:latin typeface="Calibri"/>
              </a:rPr>
              <a:t>• 69% desconhecem produtos financeiros (ANBIMA)</a:t>
            </a:r>
          </a:p>
          <a:p>
            <a:pPr>
              <a:spcAft>
                <a:spcPts val="540"/>
              </a:spcAft>
            </a:pPr>
            <a:r>
              <a:rPr sz="1200" b="0">
                <a:solidFill>
                  <a:srgbClr val="F0F4FF"/>
                </a:solidFill>
                <a:latin typeface="Calibri"/>
              </a:rPr>
              <a:t>• 50,4% dos inadimplentes são mulheres</a:t>
            </a:r>
          </a:p>
          <a:p>
            <a:pPr>
              <a:spcAft>
                <a:spcPts val="540"/>
              </a:spcAft>
            </a:pPr>
            <a:r>
              <a:rPr sz="1200" b="0">
                <a:solidFill>
                  <a:srgbClr val="F0F4FF"/>
                </a:solidFill>
                <a:latin typeface="Calibri"/>
              </a:rPr>
              <a:t>• Exclui-se do mercado: 'isso não é para mim'</a:t>
            </a:r>
          </a:p>
          <a:p>
            <a:pPr>
              <a:spcAft>
                <a:spcPts val="540"/>
              </a:spcAft>
            </a:pPr>
            <a:r>
              <a:rPr sz="1200" b="0">
                <a:solidFill>
                  <a:srgbClr val="F0F4FF"/>
                </a:solidFill>
                <a:latin typeface="Calibri"/>
              </a:rPr>
              <a:t>• Impacto emocional do endividamento mais profundo</a:t>
            </a:r>
          </a:p>
          <a:p>
            <a:pPr>
              <a:spcAft>
                <a:spcPts val="540"/>
              </a:spcAft>
            </a:pPr>
            <a:r>
              <a:rPr sz="1200" b="0">
                <a:solidFill>
                  <a:srgbClr val="F0F4FF"/>
                </a:solidFill>
                <a:latin typeface="Calibri"/>
              </a:rPr>
              <a:t>• Menor acesso a crédito formal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737360"/>
            <a:ext cx="5925312" cy="4297680"/>
          </a:xfrm>
          <a:prstGeom prst="rect">
            <a:avLst/>
          </a:prstGeom>
          <a:solidFill>
            <a:srgbClr val="05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810512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D48A"/>
                </a:solidFill>
                <a:latin typeface="Calibri"/>
              </a:rPr>
              <a:t>O Que Quer do 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2286000"/>
            <a:ext cx="55778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40"/>
              </a:spcAft>
            </a:pPr>
            <a:r>
              <a:rPr sz="1200" b="0">
                <a:solidFill>
                  <a:srgbClr val="F0F4FF"/>
                </a:solidFill>
                <a:latin typeface="Calibri"/>
              </a:rPr>
              <a:t>✔ Linguagem acessível, sem jargão técnico</a:t>
            </a:r>
          </a:p>
          <a:p>
            <a:pPr>
              <a:spcAft>
                <a:spcPts val="540"/>
              </a:spcAft>
            </a:pPr>
            <a:r>
              <a:rPr sz="1200" b="0">
                <a:solidFill>
                  <a:srgbClr val="F0F4FF"/>
                </a:solidFill>
                <a:latin typeface="Calibri"/>
              </a:rPr>
              <a:t>✔ Educação financeira básica integrada e não intimidadora</a:t>
            </a:r>
          </a:p>
          <a:p>
            <a:pPr>
              <a:spcAft>
                <a:spcPts val="540"/>
              </a:spcAft>
            </a:pPr>
            <a:r>
              <a:rPr sz="1200" b="0">
                <a:solidFill>
                  <a:srgbClr val="F0F4FF"/>
                </a:solidFill>
                <a:latin typeface="Calibri"/>
              </a:rPr>
              <a:t>✔ Comparativos visuais simples (sem gráficos complexos)</a:t>
            </a:r>
          </a:p>
          <a:p>
            <a:pPr>
              <a:spcAft>
                <a:spcPts val="540"/>
              </a:spcAft>
            </a:pPr>
            <a:r>
              <a:rPr sz="1200" b="0">
                <a:solidFill>
                  <a:srgbClr val="F0F4FF"/>
                </a:solidFill>
                <a:latin typeface="Calibri"/>
              </a:rPr>
              <a:t>✔ Funcionalidades de organização doméstica</a:t>
            </a:r>
          </a:p>
          <a:p>
            <a:pPr>
              <a:spcAft>
                <a:spcPts val="540"/>
              </a:spcAft>
            </a:pPr>
            <a:r>
              <a:rPr sz="1200" b="0">
                <a:solidFill>
                  <a:srgbClr val="F0F4FF"/>
                </a:solidFill>
                <a:latin typeface="Calibri"/>
              </a:rPr>
              <a:t>✔ Comunidade e pertencimento ('não estou sozinha')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6108192"/>
            <a:ext cx="7772400" cy="59436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135624"/>
            <a:ext cx="74980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"Sempre achei que investimento era coisa de homem rico. Ninguém nunca me explicou que era pra mim também."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21040" y="6108192"/>
            <a:ext cx="3867912" cy="59436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6144768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31% das mulheres investem · 69% desconhecem produtos  —  ANBIMA Raio-X do Investidor 2025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164592"/>
            <a:ext cx="777240" cy="777240"/>
          </a:xfrm>
          <a:prstGeom prst="rect">
            <a:avLst/>
          </a:prstGeom>
          <a:solidFill>
            <a:srgbClr val="0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01168"/>
            <a:ext cx="777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F172A"/>
                </a:solidFill>
                <a:latin typeface="Calibri"/>
              </a:rPr>
              <a:t>P5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O Profissional Ocupado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658368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30–50 anos · Millennials / início Gen X  ·  Acima de R$7.000/mês · Emprego formal · Classe B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097280"/>
            <a:ext cx="11548872" cy="502920"/>
          </a:xfrm>
          <a:prstGeom prst="rect">
            <a:avLst/>
          </a:prstGeom>
          <a:solidFill>
            <a:srgbClr val="1A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1430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0F4FF"/>
                </a:solidFill>
                <a:latin typeface="Calibri"/>
              </a:rPr>
              <a:t>Tem vários produtos financeiros em bancos e corretoras diferentes mas não tem visão consolidada. Sabe que deveria organizar mas não tem tempo.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737360"/>
            <a:ext cx="5394960" cy="4297680"/>
          </a:xfrm>
          <a:prstGeom prst="rect">
            <a:avLst/>
          </a:prstGeom>
          <a:solidFill>
            <a:srgbClr val="1A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81051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F4444"/>
                </a:solidFill>
                <a:latin typeface="Calibri"/>
              </a:rPr>
              <a:t>Principais Dores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286000"/>
            <a:ext cx="5120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40"/>
              </a:spcAft>
            </a:pPr>
            <a:r>
              <a:rPr sz="1200" b="0">
                <a:solidFill>
                  <a:srgbClr val="F0F4FF"/>
                </a:solidFill>
                <a:latin typeface="Calibri"/>
              </a:rPr>
              <a:t>• Dispersão: 2-3 bancos, 2 corretoras, sem visão unificada</a:t>
            </a:r>
          </a:p>
          <a:p>
            <a:pPr>
              <a:spcAft>
                <a:spcPts val="540"/>
              </a:spcAft>
            </a:pPr>
            <a:r>
              <a:rPr sz="1200" b="0">
                <a:solidFill>
                  <a:srgbClr val="F0F4FF"/>
                </a:solidFill>
                <a:latin typeface="Calibri"/>
              </a:rPr>
              <a:t>• Não sabe se está investindo o suficiente para aposentadoria</a:t>
            </a:r>
          </a:p>
          <a:p>
            <a:pPr>
              <a:spcAft>
                <a:spcPts val="540"/>
              </a:spcAft>
            </a:pPr>
            <a:r>
              <a:rPr sz="1200" b="0">
                <a:solidFill>
                  <a:srgbClr val="F0F4FF"/>
                </a:solidFill>
                <a:latin typeface="Calibri"/>
              </a:rPr>
              <a:t>• Cartão de crédito como maior dívida (mesmo com boa renda)</a:t>
            </a:r>
          </a:p>
          <a:p>
            <a:pPr>
              <a:spcAft>
                <a:spcPts val="540"/>
              </a:spcAft>
            </a:pPr>
            <a:r>
              <a:rPr sz="1200" b="0">
                <a:solidFill>
                  <a:srgbClr val="F0F4FF"/>
                </a:solidFill>
                <a:latin typeface="Calibri"/>
              </a:rPr>
              <a:t>• Sem tempo para acompanhar portfólio regularmente</a:t>
            </a:r>
          </a:p>
          <a:p>
            <a:pPr>
              <a:spcAft>
                <a:spcPts val="540"/>
              </a:spcAft>
            </a:pPr>
            <a:r>
              <a:rPr sz="1200" b="0">
                <a:solidFill>
                  <a:srgbClr val="F0F4FF"/>
                </a:solidFill>
                <a:latin typeface="Calibri"/>
              </a:rPr>
              <a:t>• 62% preocupados com inflação do consumo rotineiro</a:t>
            </a:r>
          </a:p>
          <a:p>
            <a:pPr>
              <a:spcAft>
                <a:spcPts val="540"/>
              </a:spcAft>
            </a:pPr>
            <a:r>
              <a:rPr sz="1200" b="0">
                <a:solidFill>
                  <a:srgbClr val="F0F4FF"/>
                </a:solidFill>
                <a:latin typeface="Calibri"/>
              </a:rPr>
              <a:t>• Apenas 4% dos aposentados têm previdência privada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737360"/>
            <a:ext cx="5925312" cy="4297680"/>
          </a:xfrm>
          <a:prstGeom prst="rect">
            <a:avLst/>
          </a:prstGeom>
          <a:solidFill>
            <a:srgbClr val="05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810512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D48A"/>
                </a:solidFill>
                <a:latin typeface="Calibri"/>
              </a:rPr>
              <a:t>O Que Quer do 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2286000"/>
            <a:ext cx="55778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40"/>
              </a:spcAft>
            </a:pPr>
            <a:r>
              <a:rPr sz="1200" b="0">
                <a:solidFill>
                  <a:srgbClr val="F0F4FF"/>
                </a:solidFill>
                <a:latin typeface="Calibri"/>
              </a:rPr>
              <a:t>✔ Open Finance: tudo em um lugar automaticamente</a:t>
            </a:r>
          </a:p>
          <a:p>
            <a:pPr>
              <a:spcAft>
                <a:spcPts val="540"/>
              </a:spcAft>
            </a:pPr>
            <a:r>
              <a:rPr sz="1200" b="0">
                <a:solidFill>
                  <a:srgbClr val="F0F4FF"/>
                </a:solidFill>
                <a:latin typeface="Calibri"/>
              </a:rPr>
              <a:t>✔ Alertas inteligentes sem precisar olhar todo dia</a:t>
            </a:r>
          </a:p>
          <a:p>
            <a:pPr>
              <a:spcAft>
                <a:spcPts val="540"/>
              </a:spcAft>
            </a:pPr>
            <a:r>
              <a:rPr sz="1200" b="0">
                <a:solidFill>
                  <a:srgbClr val="F0F4FF"/>
                </a:solidFill>
                <a:latin typeface="Calibri"/>
              </a:rPr>
              <a:t>✔ Relatório mensal de evolução patrimonial</a:t>
            </a:r>
          </a:p>
          <a:p>
            <a:pPr>
              <a:spcAft>
                <a:spcPts val="540"/>
              </a:spcAft>
            </a:pPr>
            <a:r>
              <a:rPr sz="1200" b="0">
                <a:solidFill>
                  <a:srgbClr val="F0F4FF"/>
                </a:solidFill>
                <a:latin typeface="Calibri"/>
              </a:rPr>
              <a:t>✔ Projeção de aposentadoria realista</a:t>
            </a:r>
          </a:p>
          <a:p>
            <a:pPr>
              <a:spcAft>
                <a:spcPts val="540"/>
              </a:spcAft>
            </a:pPr>
            <a:r>
              <a:rPr sz="1200" b="0">
                <a:solidFill>
                  <a:srgbClr val="F0F4FF"/>
                </a:solidFill>
                <a:latin typeface="Calibri"/>
              </a:rPr>
              <a:t>✔ Respostas rápidas — pouco tempo de interação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6108192"/>
            <a:ext cx="7772400" cy="594360"/>
          </a:xfrm>
          <a:prstGeom prst="rect">
            <a:avLst/>
          </a:prstGeom>
          <a:solidFill>
            <a:srgbClr val="0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135624"/>
            <a:ext cx="74980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"Tenho dinheiro em três bancos e duas corretoras. Não sei qual é meu patrimônio total."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21040" y="6108192"/>
            <a:ext cx="3867912" cy="59436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6144768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Open Finance: 62M consentimentos ativos (+44% em 12 meses)  —  Banco Central do Brasil 2025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164592"/>
            <a:ext cx="777240" cy="7772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01168"/>
            <a:ext cx="777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F172A"/>
                </a:solidFill>
                <a:latin typeface="Calibri"/>
              </a:rPr>
              <a:t>P6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O Investidor Avançado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658368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28–50 anos  ·  Acima de R$14.000/mês · Classe A/B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097280"/>
            <a:ext cx="11548872" cy="502920"/>
          </a:xfrm>
          <a:prstGeom prst="rect">
            <a:avLst/>
          </a:prstGeom>
          <a:solidFill>
            <a:srgbClr val="1A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1430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0F4FF"/>
                </a:solidFill>
                <a:latin typeface="Calibri"/>
              </a:rPr>
              <a:t>Acompanha a B3 diariamente. Conhece CDI, IPCA, SELIC. Tem carteira diversificada com ações, FIIs, renda fixa e cripto. Usa múltiplos apps e quer consolidação.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737360"/>
            <a:ext cx="5394960" cy="4297680"/>
          </a:xfrm>
          <a:prstGeom prst="rect">
            <a:avLst/>
          </a:prstGeom>
          <a:solidFill>
            <a:srgbClr val="1A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81051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F4444"/>
                </a:solidFill>
                <a:latin typeface="Calibri"/>
              </a:rPr>
              <a:t>Principais Dores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286000"/>
            <a:ext cx="5120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40"/>
              </a:spcAft>
            </a:pPr>
            <a:r>
              <a:rPr sz="1200" b="0">
                <a:solidFill>
                  <a:srgbClr val="F0F4FF"/>
                </a:solidFill>
                <a:latin typeface="Calibri"/>
              </a:rPr>
              <a:t>• Falta consolidador de carteira multi-corretora</a:t>
            </a:r>
          </a:p>
          <a:p>
            <a:pPr>
              <a:spcAft>
                <a:spcPts val="540"/>
              </a:spcAft>
            </a:pPr>
            <a:r>
              <a:rPr sz="1200" b="0">
                <a:solidFill>
                  <a:srgbClr val="F0F4FF"/>
                </a:solidFill>
                <a:latin typeface="Calibri"/>
              </a:rPr>
              <a:t>• IR sobre investimentos é complexo e manual</a:t>
            </a:r>
          </a:p>
          <a:p>
            <a:pPr>
              <a:spcAft>
                <a:spcPts val="540"/>
              </a:spcAft>
            </a:pPr>
            <a:r>
              <a:rPr sz="1200" b="0">
                <a:solidFill>
                  <a:srgbClr val="F0F4FF"/>
                </a:solidFill>
                <a:latin typeface="Calibri"/>
              </a:rPr>
              <a:t>• Sem comparativo de performance vs. benchmarks</a:t>
            </a:r>
          </a:p>
          <a:p>
            <a:pPr>
              <a:spcAft>
                <a:spcPts val="540"/>
              </a:spcAft>
            </a:pPr>
            <a:r>
              <a:rPr sz="1200" b="0">
                <a:solidFill>
                  <a:srgbClr val="F0F4FF"/>
                </a:solidFill>
                <a:latin typeface="Calibri"/>
              </a:rPr>
              <a:t>• Apps de banco não têm profundidade analítica</a:t>
            </a:r>
          </a:p>
          <a:p>
            <a:pPr>
              <a:spcAft>
                <a:spcPts val="540"/>
              </a:spcAft>
            </a:pPr>
            <a:r>
              <a:rPr sz="1200" b="0">
                <a:solidFill>
                  <a:srgbClr val="F0F4FF"/>
                </a:solidFill>
                <a:latin typeface="Calibri"/>
              </a:rPr>
              <a:t>• Não sabe quanto pagar de DARF mensalmente</a:t>
            </a:r>
          </a:p>
          <a:p>
            <a:pPr>
              <a:spcAft>
                <a:spcPts val="540"/>
              </a:spcAft>
            </a:pPr>
            <a:r>
              <a:rPr sz="1200" b="0">
                <a:solidFill>
                  <a:srgbClr val="F0F4FF"/>
                </a:solidFill>
                <a:latin typeface="Calibri"/>
              </a:rPr>
              <a:t>• Rebalanceamento manual e demorado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737360"/>
            <a:ext cx="5925312" cy="4297680"/>
          </a:xfrm>
          <a:prstGeom prst="rect">
            <a:avLst/>
          </a:prstGeom>
          <a:solidFill>
            <a:srgbClr val="05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810512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D48A"/>
                </a:solidFill>
                <a:latin typeface="Calibri"/>
              </a:rPr>
              <a:t>O Que Quer do 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2286000"/>
            <a:ext cx="55778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40"/>
              </a:spcAft>
            </a:pPr>
            <a:r>
              <a:rPr sz="1200" b="0">
                <a:solidFill>
                  <a:srgbClr val="F0F4FF"/>
                </a:solidFill>
                <a:latin typeface="Calibri"/>
              </a:rPr>
              <a:t>✔ Consolidação de ativos de múltiplas corretoras</a:t>
            </a:r>
          </a:p>
          <a:p>
            <a:pPr>
              <a:spcAft>
                <a:spcPts val="540"/>
              </a:spcAft>
            </a:pPr>
            <a:r>
              <a:rPr sz="1200" b="0">
                <a:solidFill>
                  <a:srgbClr val="F0F4FF"/>
                </a:solidFill>
                <a:latin typeface="Calibri"/>
              </a:rPr>
              <a:t>✔ Performance vs. CDI, IPCA, Ibovespa</a:t>
            </a:r>
          </a:p>
          <a:p>
            <a:pPr>
              <a:spcAft>
                <a:spcPts val="540"/>
              </a:spcAft>
            </a:pPr>
            <a:r>
              <a:rPr sz="1200" b="0">
                <a:solidFill>
                  <a:srgbClr val="F0F4FF"/>
                </a:solidFill>
                <a:latin typeface="Calibri"/>
              </a:rPr>
              <a:t>✔ Simulador de IR e cálculo automático de DARF</a:t>
            </a:r>
          </a:p>
          <a:p>
            <a:pPr>
              <a:spcAft>
                <a:spcPts val="540"/>
              </a:spcAft>
            </a:pPr>
            <a:r>
              <a:rPr sz="1200" b="0">
                <a:solidFill>
                  <a:srgbClr val="F0F4FF"/>
                </a:solidFill>
                <a:latin typeface="Calibri"/>
              </a:rPr>
              <a:t>✔ Alertas de rebalanceamento por alocação-alvo</a:t>
            </a:r>
          </a:p>
          <a:p>
            <a:pPr>
              <a:spcAft>
                <a:spcPts val="540"/>
              </a:spcAft>
            </a:pPr>
            <a:r>
              <a:rPr sz="1200" b="0">
                <a:solidFill>
                  <a:srgbClr val="F0F4FF"/>
                </a:solidFill>
                <a:latin typeface="Calibri"/>
              </a:rPr>
              <a:t>✔ Análise de correlação entre ativos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6108192"/>
            <a:ext cx="7772400" cy="59436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135624"/>
            <a:ext cx="74980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"Uso cinco apps diferentes para ver minha carteira completa. Quero um que faça tudo."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21040" y="6108192"/>
            <a:ext cx="3867912" cy="59436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6144768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PF movimentou R$517,3 bilhões em ações em 2025  —  B3 2025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164592"/>
            <a:ext cx="777240" cy="7772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01168"/>
            <a:ext cx="777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F172A"/>
                </a:solidFill>
                <a:latin typeface="Calibri"/>
              </a:rPr>
              <a:t>P7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O Aposentado / Pré-Aposentado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658368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50–70 anos · Geração X e Boomers  ·  Renda fixa · INSS + aplicações conservadoras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097280"/>
            <a:ext cx="11548872" cy="502920"/>
          </a:xfrm>
          <a:prstGeom prst="rect">
            <a:avLst/>
          </a:prstGeom>
          <a:solidFill>
            <a:srgbClr val="1A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1430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0F4FF"/>
                </a:solidFill>
                <a:latin typeface="Calibri"/>
              </a:rPr>
              <a:t>Acumulou patrimônio e quer preservar. Preocupa-se com longevidade e com não acabar o dinheiro antes de acabar a vida. Cresce na B3: +7,96% em 2025.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737360"/>
            <a:ext cx="5394960" cy="4297680"/>
          </a:xfrm>
          <a:prstGeom prst="rect">
            <a:avLst/>
          </a:prstGeom>
          <a:solidFill>
            <a:srgbClr val="1A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81051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F4444"/>
                </a:solidFill>
                <a:latin typeface="Calibri"/>
              </a:rPr>
              <a:t>Principais Dores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286000"/>
            <a:ext cx="5120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40"/>
              </a:spcAft>
            </a:pPr>
            <a:r>
              <a:rPr sz="1200" b="0">
                <a:solidFill>
                  <a:srgbClr val="F0F4FF"/>
                </a:solidFill>
                <a:latin typeface="Calibri"/>
              </a:rPr>
              <a:t>• Medo de não ter renda suficiente até o fim da vida</a:t>
            </a:r>
          </a:p>
          <a:p>
            <a:pPr>
              <a:spcAft>
                <a:spcPts val="540"/>
              </a:spcAft>
            </a:pPr>
            <a:r>
              <a:rPr sz="1200" b="0">
                <a:solidFill>
                  <a:srgbClr val="F0F4FF"/>
                </a:solidFill>
                <a:latin typeface="Calibri"/>
              </a:rPr>
              <a:t>• Dificuldade com interfaces digitais complexas</a:t>
            </a:r>
          </a:p>
          <a:p>
            <a:pPr>
              <a:spcAft>
                <a:spcPts val="540"/>
              </a:spcAft>
            </a:pPr>
            <a:r>
              <a:rPr sz="1200" b="0">
                <a:solidFill>
                  <a:srgbClr val="F0F4FF"/>
                </a:solidFill>
                <a:latin typeface="Calibri"/>
              </a:rPr>
              <a:t>• Fraudes e golpes: 39% já sofreram tentativas</a:t>
            </a:r>
          </a:p>
          <a:p>
            <a:pPr>
              <a:spcAft>
                <a:spcPts val="540"/>
              </a:spcAft>
            </a:pPr>
            <a:r>
              <a:rPr sz="1200" b="0">
                <a:solidFill>
                  <a:srgbClr val="F0F4FF"/>
                </a:solidFill>
                <a:latin typeface="Calibri"/>
              </a:rPr>
              <a:t>• Desconfia de fintechs e marcas desconhecidas</a:t>
            </a:r>
          </a:p>
          <a:p>
            <a:pPr>
              <a:spcAft>
                <a:spcPts val="540"/>
              </a:spcAft>
            </a:pPr>
            <a:r>
              <a:rPr sz="1200" b="0">
                <a:solidFill>
                  <a:srgbClr val="F0F4FF"/>
                </a:solidFill>
                <a:latin typeface="Calibri"/>
              </a:rPr>
              <a:t>• Apenas 4% dos aposentados têm previdência privada</a:t>
            </a:r>
          </a:p>
          <a:p>
            <a:pPr>
              <a:spcAft>
                <a:spcPts val="540"/>
              </a:spcAft>
            </a:pPr>
            <a:r>
              <a:rPr sz="1200" b="0">
                <a:solidFill>
                  <a:srgbClr val="F0F4FF"/>
                </a:solidFill>
                <a:latin typeface="Calibri"/>
              </a:rPr>
              <a:t>• Custo crescente de saúde não previsto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737360"/>
            <a:ext cx="5925312" cy="4297680"/>
          </a:xfrm>
          <a:prstGeom prst="rect">
            <a:avLst/>
          </a:prstGeom>
          <a:solidFill>
            <a:srgbClr val="05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810512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D48A"/>
                </a:solidFill>
                <a:latin typeface="Calibri"/>
              </a:rPr>
              <a:t>O Que Quer do 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2286000"/>
            <a:ext cx="55778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40"/>
              </a:spcAft>
            </a:pPr>
            <a:r>
              <a:rPr sz="1200" b="0">
                <a:solidFill>
                  <a:srgbClr val="F0F4FF"/>
                </a:solidFill>
                <a:latin typeface="Calibri"/>
              </a:rPr>
              <a:t>✔ Interface simples: fonte grande, poucos cliques</a:t>
            </a:r>
          </a:p>
          <a:p>
            <a:pPr>
              <a:spcAft>
                <a:spcPts val="540"/>
              </a:spcAft>
            </a:pPr>
            <a:r>
              <a:rPr sz="1200" b="0">
                <a:solidFill>
                  <a:srgbClr val="F0F4FF"/>
                </a:solidFill>
                <a:latin typeface="Calibri"/>
              </a:rPr>
              <a:t>✔ Projeção: 'meu dinheiro dura até quando?'</a:t>
            </a:r>
          </a:p>
          <a:p>
            <a:pPr>
              <a:spcAft>
                <a:spcPts val="540"/>
              </a:spcAft>
            </a:pPr>
            <a:r>
              <a:rPr sz="1200" b="0">
                <a:solidFill>
                  <a:srgbClr val="F0F4FF"/>
                </a:solidFill>
                <a:latin typeface="Calibri"/>
              </a:rPr>
              <a:t>✔ Alertas de fraude e proteção ativa</a:t>
            </a:r>
          </a:p>
          <a:p>
            <a:pPr>
              <a:spcAft>
                <a:spcPts val="540"/>
              </a:spcAft>
            </a:pPr>
            <a:r>
              <a:rPr sz="1200" b="0">
                <a:solidFill>
                  <a:srgbClr val="F0F4FF"/>
                </a:solidFill>
                <a:latin typeface="Calibri"/>
              </a:rPr>
              <a:t>✔ Conteúdo sobre previdência e longevidade</a:t>
            </a:r>
          </a:p>
          <a:p>
            <a:pPr>
              <a:spcAft>
                <a:spcPts val="540"/>
              </a:spcAft>
            </a:pPr>
            <a:r>
              <a:rPr sz="1200" b="0">
                <a:solidFill>
                  <a:srgbClr val="F0F4FF"/>
                </a:solidFill>
                <a:latin typeface="Calibri"/>
              </a:rPr>
              <a:t>✔ Suporte humano disponível quando precisar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6108192"/>
            <a:ext cx="7772400" cy="5943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135624"/>
            <a:ext cx="74980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"Não quero ficar rico, só quero ter certeza de que não vou passar necessidade."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21040" y="6108192"/>
            <a:ext cx="3867912" cy="59436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6144768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Investidores 60+ cresceram 7,96% na B3 em 2025  —  B3 2025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164592"/>
            <a:ext cx="777240" cy="7772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01168"/>
            <a:ext cx="777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F172A"/>
                </a:solidFill>
                <a:latin typeface="Calibri"/>
              </a:rPr>
              <a:t>P8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O MEI / Empreendedor Informal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658368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25–55 anos  ·  R$2.000–12.000/mês · variável e incerto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097280"/>
            <a:ext cx="11548872" cy="502920"/>
          </a:xfrm>
          <a:prstGeom prst="rect">
            <a:avLst/>
          </a:prstGeom>
          <a:solidFill>
            <a:srgbClr val="1A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1430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0F4FF"/>
                </a:solidFill>
                <a:latin typeface="Calibri"/>
              </a:rPr>
              <a:t>Mistura finanças pessoais com as do negócio. Renda irregular dificulta qualquer planejamento. 7,58 milhões de MEIs inadimplentes em 2025.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737360"/>
            <a:ext cx="5394960" cy="4297680"/>
          </a:xfrm>
          <a:prstGeom prst="rect">
            <a:avLst/>
          </a:prstGeom>
          <a:solidFill>
            <a:srgbClr val="1A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81051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F4444"/>
                </a:solidFill>
                <a:latin typeface="Calibri"/>
              </a:rPr>
              <a:t>Principais Dores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286000"/>
            <a:ext cx="5120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40"/>
              </a:spcAft>
            </a:pPr>
            <a:r>
              <a:rPr sz="1200" b="0">
                <a:solidFill>
                  <a:srgbClr val="F0F4FF"/>
                </a:solidFill>
                <a:latin typeface="Calibri"/>
              </a:rPr>
              <a:t>• Não sabe quanto 'é dele' vs. do negócio</a:t>
            </a:r>
          </a:p>
          <a:p>
            <a:pPr>
              <a:spcAft>
                <a:spcPts val="540"/>
              </a:spcAft>
            </a:pPr>
            <a:r>
              <a:rPr sz="1200" b="0">
                <a:solidFill>
                  <a:srgbClr val="F0F4FF"/>
                </a:solidFill>
                <a:latin typeface="Calibri"/>
              </a:rPr>
              <a:t>• Fluxo de caixa irregular: não sabe quando recebe</a:t>
            </a:r>
          </a:p>
          <a:p>
            <a:pPr>
              <a:spcAft>
                <a:spcPts val="540"/>
              </a:spcAft>
            </a:pPr>
            <a:r>
              <a:rPr sz="1200" b="0">
                <a:solidFill>
                  <a:srgbClr val="F0F4FF"/>
                </a:solidFill>
                <a:latin typeface="Calibri"/>
              </a:rPr>
              <a:t>• 7,58M de MEIs inadimplentes (recorde, Serasa 2025)</a:t>
            </a:r>
          </a:p>
          <a:p>
            <a:pPr>
              <a:spcAft>
                <a:spcPts val="540"/>
              </a:spcAft>
            </a:pPr>
            <a:r>
              <a:rPr sz="1200" b="0">
                <a:solidFill>
                  <a:srgbClr val="F0F4FF"/>
                </a:solidFill>
                <a:latin typeface="Calibri"/>
              </a:rPr>
              <a:t>• Sem acesso a crédito formal (alto índice de rejeição)</a:t>
            </a:r>
          </a:p>
          <a:p>
            <a:pPr>
              <a:spcAft>
                <a:spcPts val="540"/>
              </a:spcAft>
            </a:pPr>
            <a:r>
              <a:rPr sz="1200" b="0">
                <a:solidFill>
                  <a:srgbClr val="F0F4FF"/>
                </a:solidFill>
                <a:latin typeface="Calibri"/>
              </a:rPr>
              <a:t>• Sem reserva de emergência para o negócio</a:t>
            </a:r>
          </a:p>
          <a:p>
            <a:pPr>
              <a:spcAft>
                <a:spcPts val="540"/>
              </a:spcAft>
            </a:pPr>
            <a:r>
              <a:rPr sz="1200" b="0">
                <a:solidFill>
                  <a:srgbClr val="F0F4FF"/>
                </a:solidFill>
                <a:latin typeface="Calibri"/>
              </a:rPr>
              <a:t>• Nome negativado limita crescimento da empresa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737360"/>
            <a:ext cx="5925312" cy="4297680"/>
          </a:xfrm>
          <a:prstGeom prst="rect">
            <a:avLst/>
          </a:prstGeom>
          <a:solidFill>
            <a:srgbClr val="05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810512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D48A"/>
                </a:solidFill>
                <a:latin typeface="Calibri"/>
              </a:rPr>
              <a:t>O Que Quer do 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2286000"/>
            <a:ext cx="55778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40"/>
              </a:spcAft>
            </a:pPr>
            <a:r>
              <a:rPr sz="1200" b="0">
                <a:solidFill>
                  <a:srgbClr val="F0F4FF"/>
                </a:solidFill>
                <a:latin typeface="Calibri"/>
              </a:rPr>
              <a:t>✔ Separação clara finanças PF × PJ na mesma tela</a:t>
            </a:r>
          </a:p>
          <a:p>
            <a:pPr>
              <a:spcAft>
                <a:spcPts val="540"/>
              </a:spcAft>
            </a:pPr>
            <a:r>
              <a:rPr sz="1200" b="0">
                <a:solidFill>
                  <a:srgbClr val="F0F4FF"/>
                </a:solidFill>
                <a:latin typeface="Calibri"/>
              </a:rPr>
              <a:t>✔ Previsão de fluxo de caixa para os próximos 30 dias</a:t>
            </a:r>
          </a:p>
          <a:p>
            <a:pPr>
              <a:spcAft>
                <a:spcPts val="540"/>
              </a:spcAft>
            </a:pPr>
            <a:r>
              <a:rPr sz="1200" b="0">
                <a:solidFill>
                  <a:srgbClr val="F0F4FF"/>
                </a:solidFill>
                <a:latin typeface="Calibri"/>
              </a:rPr>
              <a:t>✔ Categorização automática de despesas do negócio</a:t>
            </a:r>
          </a:p>
          <a:p>
            <a:pPr>
              <a:spcAft>
                <a:spcPts val="540"/>
              </a:spcAft>
            </a:pPr>
            <a:r>
              <a:rPr sz="1200" b="0">
                <a:solidFill>
                  <a:srgbClr val="F0F4FF"/>
                </a:solidFill>
                <a:latin typeface="Calibri"/>
              </a:rPr>
              <a:t>✔ Relatório simples de faturamento (para dar ao contador)</a:t>
            </a:r>
          </a:p>
          <a:p>
            <a:pPr>
              <a:spcAft>
                <a:spcPts val="540"/>
              </a:spcAft>
            </a:pPr>
            <a:r>
              <a:rPr sz="1200" b="0">
                <a:solidFill>
                  <a:srgbClr val="F0F4FF"/>
                </a:solidFill>
                <a:latin typeface="Calibri"/>
              </a:rPr>
              <a:t>✔ Crédito rápido e acessível integrado ao app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6108192"/>
            <a:ext cx="7772400" cy="5943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135624"/>
            <a:ext cx="74980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"Recebi R$8.000 esse mês, mas não consigo separar o que é meu do que é da empresa."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21040" y="6108192"/>
            <a:ext cx="3867912" cy="59436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6144768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7,58M de MEIs inadimplentes · recorde histórico  —  Serasa 2025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Ranking das Dores — Transversal a Todos os Perfis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Evidência quantitativa de cada dor  ·  Quanto mais vermelho, mais crítico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11612880" cy="44805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98448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#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298448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Dor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129844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Evidência (fonte pública)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682496"/>
            <a:ext cx="11612880" cy="448056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682496"/>
            <a:ext cx="594360" cy="44805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1755648"/>
            <a:ext cx="59436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764792"/>
            <a:ext cx="658368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Não sabe para onde o dinheiro vai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1764792"/>
            <a:ext cx="411480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48% não controlam gastos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130552"/>
            <a:ext cx="11612880" cy="44805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2130552"/>
            <a:ext cx="594360" cy="44805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2203704"/>
            <a:ext cx="59436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212848"/>
            <a:ext cx="658368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Dívida no cartão de crédito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2212848"/>
            <a:ext cx="411480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85,1% dos endividados têm cartão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578608"/>
            <a:ext cx="11612880" cy="448056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2578608"/>
            <a:ext cx="594360" cy="44805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2651760"/>
            <a:ext cx="59436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2660904"/>
            <a:ext cx="658368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Sem reserva de emergência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2660904"/>
            <a:ext cx="411480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31% sem nenhuma reserva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026664"/>
            <a:ext cx="11612880" cy="44805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3026664"/>
            <a:ext cx="594360" cy="44805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3099816"/>
            <a:ext cx="59436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108960"/>
            <a:ext cx="658368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Renda que nunca sobra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0" y="3108960"/>
            <a:ext cx="411480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51% dos jovens; 95% querem renda extra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474720"/>
            <a:ext cx="11612880" cy="448056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4320" y="3474720"/>
            <a:ext cx="594360" cy="44805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3547872"/>
            <a:ext cx="59436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3557016"/>
            <a:ext cx="658368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Não sabe como nem onde investir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0960" y="3557016"/>
            <a:ext cx="411480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52% sem planejamento; 69% mulheres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922776"/>
            <a:ext cx="11612880" cy="44805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74320" y="3922776"/>
            <a:ext cx="594360" cy="44805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4320" y="3995928"/>
            <a:ext cx="59436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4005072"/>
            <a:ext cx="658368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Imprevistos que destroem o planejamento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80960" y="4005072"/>
            <a:ext cx="411480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32% citam como causa principal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4370831"/>
            <a:ext cx="11612880" cy="448056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74320" y="4370831"/>
            <a:ext cx="594360" cy="44805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4320" y="4443983"/>
            <a:ext cx="59436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" y="4453127"/>
            <a:ext cx="658368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Compras por impulso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80960" y="4453127"/>
            <a:ext cx="411480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44-56% cedem frequentemente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4818888"/>
            <a:ext cx="11612880" cy="44805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74320" y="4818888"/>
            <a:ext cx="594360" cy="44805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4320" y="4892040"/>
            <a:ext cx="59436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0120" y="4901183"/>
            <a:ext cx="658368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Estresse emocional com dinheiro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80960" y="4901183"/>
            <a:ext cx="411480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77% endividados com impacto na saúde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" y="5266944"/>
            <a:ext cx="11612880" cy="448056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74320" y="5266944"/>
            <a:ext cx="594360" cy="44805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74320" y="5340096"/>
            <a:ext cx="59436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0120" y="5349240"/>
            <a:ext cx="658368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Não se prepara para aposentadoria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80960" y="5349240"/>
            <a:ext cx="411480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75% da Gen Z ignora o tema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5715000"/>
            <a:ext cx="11612880" cy="44805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74320" y="5715000"/>
            <a:ext cx="594360" cy="44805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74320" y="5788152"/>
            <a:ext cx="59436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10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0120" y="5797296"/>
            <a:ext cx="658368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Fraudes e golpes digitais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80960" y="5797296"/>
            <a:ext cx="411480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39% já sofreram tentativas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0" y="6510528"/>
            <a:ext cx="1218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Calibri"/>
              </a:rPr>
              <a:t>FinanceApp · Estudo de Personas v1.0.0 · 2026-05-11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O Que os Brasileiros Querem de um App Financeiro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Síntese de: Ipsos/Nubank · Creditas · Febraban · ANBIMA · SPC Brasil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5669280" cy="118872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80160"/>
            <a:ext cx="164592" cy="118872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5331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Controle automático e categorizado de gastos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47088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80% usam apps para controle; querem menos trabalho manual (Febraban)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280160"/>
            <a:ext cx="5669280" cy="118872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280160"/>
            <a:ext cx="164592" cy="1188720"/>
          </a:xfrm>
          <a:prstGeom prst="rect">
            <a:avLst/>
          </a:prstGeom>
          <a:solidFill>
            <a:srgbClr val="0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35331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Recomendações personalizadas de investimento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847088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66% esperam isso do app/banco (Ipsos/Nubank)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606039"/>
            <a:ext cx="5669280" cy="118872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2606039"/>
            <a:ext cx="164592" cy="1188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679191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Reserva de emergência como objetivo padrão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172968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50% citam como meta principal (Ipsos/Nubank)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606039"/>
            <a:ext cx="5669280" cy="118872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2606039"/>
            <a:ext cx="164592" cy="1188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679191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Educação financeira integrada à experiência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172968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84% buscam aprender; querem aprender no momento da ação (Nubank)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931920"/>
            <a:ext cx="5669280" cy="118872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3931920"/>
            <a:ext cx="164592" cy="11887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00507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Visão consolidada de todo o patrimônio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498848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Open Finance: 62M consentimentos ativos; crescimento de 44% (BCB)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3931920"/>
            <a:ext cx="5669280" cy="118872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3931920"/>
            <a:ext cx="164592" cy="11887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400507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Simulador de metas financeiras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498848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'Quanto poupar para comprar um imóvel em 3 anos?' (Creditas)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5257800"/>
            <a:ext cx="5669280" cy="118872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4320" y="5257800"/>
            <a:ext cx="164592" cy="118872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533095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Alerta de vencimentos e fatura do cartão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824728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Evitar juros do rotativo (90% a.a.) e negativação (SPC Brasil)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5257800"/>
            <a:ext cx="5669280" cy="118872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17920" y="5257800"/>
            <a:ext cx="164592" cy="1188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533095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Plano claro de saída das dívidas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5824728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29,7% com contas em atraso; querem ver a luz no fim do túnel (CNC)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0" y="6510528"/>
            <a:ext cx="1218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Calibri"/>
              </a:rPr>
              <a:t>FinanceApp · Estudo de Personas v1.0.0 · 2026-05-11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F4444"/>
                </a:solidFill>
                <a:latin typeface="Calibri"/>
              </a:rPr>
              <a:t>O Pain Point Central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O problema que aparece em todos os 8 perfis, independente de renda ou geração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1274552" cy="2286000"/>
          </a:xfrm>
          <a:prstGeom prst="rect">
            <a:avLst/>
          </a:prstGeom>
          <a:solidFill>
            <a:srgbClr val="1A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O brasileiro não sabe para onde
seu dinheiro vai.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Calibri"/>
              </a:rPr>
              <a:t>48% não controlam seus gastos · 85% dos endividados têm cartão como principal dívida · 31% sem reserva de emergência · 107M não investem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429000"/>
            <a:ext cx="11274552" cy="411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4930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Por que essa é a raiz de tudo?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931920"/>
            <a:ext cx="4114800" cy="457200"/>
          </a:xfrm>
          <a:prstGeom prst="rect">
            <a:avLst/>
          </a:prstGeom>
          <a:solidFill>
            <a:srgbClr val="2A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54880" y="3931920"/>
            <a:ext cx="6976872" cy="45720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99592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F4444"/>
                </a:solidFill>
                <a:latin typeface="Calibri"/>
              </a:rPr>
              <a:t>Sem visibilidade dos gastos 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3995928"/>
            <a:ext cx="6675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0F4FF"/>
                </a:solidFill>
                <a:latin typeface="Calibri"/>
              </a:rPr>
              <a:t>não consegue poupar, nem montar reserva de emergência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443983"/>
            <a:ext cx="4114800" cy="457200"/>
          </a:xfrm>
          <a:prstGeom prst="rect">
            <a:avLst/>
          </a:prstGeom>
          <a:solidFill>
            <a:srgbClr val="2A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54880" y="4443983"/>
            <a:ext cx="6976872" cy="45720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4507992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F4444"/>
                </a:solidFill>
                <a:latin typeface="Calibri"/>
              </a:rPr>
              <a:t>Sem controle do cartão 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4507992"/>
            <a:ext cx="6675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0F4FF"/>
                </a:solidFill>
                <a:latin typeface="Calibri"/>
              </a:rPr>
              <a:t>cai no rotativo (90% a.a.), se endivida mais a cada mês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956048"/>
            <a:ext cx="4114800" cy="457200"/>
          </a:xfrm>
          <a:prstGeom prst="rect">
            <a:avLst/>
          </a:prstGeom>
          <a:solidFill>
            <a:srgbClr val="2A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54880" y="4956048"/>
            <a:ext cx="6976872" cy="45720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020056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F4444"/>
                </a:solidFill>
                <a:latin typeface="Calibri"/>
              </a:rPr>
              <a:t>Sem sobra de dinheiro 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40" y="5020056"/>
            <a:ext cx="6675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0F4FF"/>
                </a:solidFill>
                <a:latin typeface="Calibri"/>
              </a:rPr>
              <a:t>não investe; não se prepara para aposentadoria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468112"/>
            <a:ext cx="4114800" cy="457200"/>
          </a:xfrm>
          <a:prstGeom prst="rect">
            <a:avLst/>
          </a:prstGeom>
          <a:solidFill>
            <a:srgbClr val="2A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754880" y="5468112"/>
            <a:ext cx="6976872" cy="45720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53212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F4444"/>
                </a:solidFill>
                <a:latin typeface="Calibri"/>
              </a:rPr>
              <a:t>Sem planejamento 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2040" y="5532120"/>
            <a:ext cx="6675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0F4FF"/>
                </a:solidFill>
                <a:latin typeface="Calibri"/>
              </a:rPr>
              <a:t>imprevistos viram catástrofes financeiras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980176"/>
            <a:ext cx="4114800" cy="457200"/>
          </a:xfrm>
          <a:prstGeom prst="rect">
            <a:avLst/>
          </a:prstGeom>
          <a:solidFill>
            <a:srgbClr val="2A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754880" y="5980176"/>
            <a:ext cx="6976872" cy="45720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6044184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F4444"/>
                </a:solidFill>
                <a:latin typeface="Calibri"/>
              </a:rPr>
              <a:t>Sem educação no momento da ação 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92040" y="6044184"/>
            <a:ext cx="6675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0F4FF"/>
                </a:solidFill>
                <a:latin typeface="Calibri"/>
              </a:rPr>
              <a:t>repete os mesmos erros mês após mês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0" y="6510528"/>
            <a:ext cx="1218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Calibri"/>
              </a:rPr>
              <a:t>FinanceApp · Estudo de Personas v1.0.0 · 2026-05-11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D48A"/>
                </a:solidFill>
                <a:latin typeface="Calibri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O problema que o FinanceApp precisa resolver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2743200"/>
          </a:xfrm>
          <a:prstGeom prst="rect">
            <a:avLst/>
          </a:prstGeom>
          <a:solidFill>
            <a:srgbClr val="05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O brasileiro ganha, gasta, e no fim do mês
não sabe o que aconteceu com o dinheiro.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51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F"/>
                </a:solidFill>
                <a:latin typeface="Calibri"/>
              </a:rPr>
              <a:t>Sem visibilidade real dos seus gastos, ele não consegue sair do vermelho,
montar uma reserva, nem investir para o futuro — mesmo quando quer.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069080"/>
            <a:ext cx="3520440" cy="24688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4160520"/>
            <a:ext cx="3520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F172A"/>
                </a:solidFill>
                <a:latin typeface="Calibri"/>
              </a:rPr>
              <a:t>Falta de
Visibilidade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864608"/>
            <a:ext cx="3520440" cy="3657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956048"/>
            <a:ext cx="3337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Não enxerga para onde
o dinheiro vai em tempo real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760720"/>
            <a:ext cx="3337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48% sem controle
(SPC Brasil)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60" y="4069080"/>
            <a:ext cx="3520440" cy="2468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51960" y="4160520"/>
            <a:ext cx="3520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F172A"/>
                </a:solidFill>
                <a:latin typeface="Calibri"/>
              </a:rPr>
              <a:t>Falta de
Orientação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60" y="4864608"/>
            <a:ext cx="3520440" cy="3657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43400" y="4956048"/>
            <a:ext cx="3337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Sabe que tem problema mas
não sabe o próximo passo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5760720"/>
            <a:ext cx="3337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52% sem planejamento
(Creditas/Leve)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4069080"/>
            <a:ext cx="3520440" cy="246888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0" y="4160520"/>
            <a:ext cx="3520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F172A"/>
                </a:solidFill>
                <a:latin typeface="Calibri"/>
              </a:rPr>
              <a:t>Falta de
Momento Certo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0" y="4864608"/>
            <a:ext cx="3520440" cy="3657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0" y="4956048"/>
            <a:ext cx="3337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A educação financeira chega
tarde, fora do contexto da ação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5760720"/>
            <a:ext cx="3337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84% querem aprender
mas apenas 36% investem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0" y="6510528"/>
            <a:ext cx="1218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Calibri"/>
              </a:rPr>
              <a:t>FinanceApp · Estudo de Personas v1.0.0 · 2026-05-11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