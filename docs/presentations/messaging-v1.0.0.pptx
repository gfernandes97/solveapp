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C97A"/>
                </a:solidFill>
              </a:rPr>
              <a:t>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4748B"/>
                </a:solidFill>
              </a:rPr>
              <a:t>Agora você sabe.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Messaging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Copy de landing page · Ads segmentados · Onboarding · Regras de aplicação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49039"/>
            <a:ext cx="3657600" cy="3200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Versão v1.0.0  ·  2026-05-12  · 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568"/>
                </a:solidFill>
              </a:rPr>
              <a:t>Solve · Messaging Framework · v1.0.0 · 2026-05-12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O PROBLEMA QUE ATACAMOS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9601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"O brasileiro ganha, gasta, e no fim
do mês não sabe o que aconteceu
com o dinheiro."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— Problem Statement · Solve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526280"/>
            <a:ext cx="3108960" cy="36576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97A"/>
                </a:solidFill>
              </a:rPr>
              <a:t>48%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não controlam
seus gastos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526280"/>
            <a:ext cx="3108960" cy="36576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617720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97A"/>
                </a:solidFill>
              </a:rPr>
              <a:t>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19379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dos endividados
devem no cartão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4526280"/>
            <a:ext cx="3108960" cy="36576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617720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97A"/>
                </a:solidFill>
              </a:rPr>
              <a:t>31%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19379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sem reserva
de emergência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45720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0" y="62179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Agora você sabe.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Solve · Messaging Framework · v1.0.0 · 2026-05-12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HERO UNIVERSAL · LANDING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A mensagem que funciona para qualquer perfil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32688"/>
            <a:ext cx="4572000" cy="3200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1274552" cy="3931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161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HEADLINE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26464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Agora você sabe para onde vai o seu dinheiro.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21408"/>
            <a:ext cx="105156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128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SUBHEADLINE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32304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O Solve conecta todas as suas contas e mostra, em tempo real, o que você ganha, o que você gasta — e o que você pode fazer diferente.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63240"/>
            <a:ext cx="105156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546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CTA PRIMÁRIO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83280"/>
            <a:ext cx="2834640" cy="384048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429000"/>
            <a:ext cx="27980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Entrar na lista de espera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1546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SUB-COPY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401568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Grátis para começar · Sem cartão de crédito · Configure em minutos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20640"/>
            <a:ext cx="11274552" cy="1417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POR QUE FUNCIONA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49824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Inverte literalmente o pain point central. Não promete riqueza — promete visibilidade. Qualquer um dos 8 perfis se reconhece nessa frase antes de saber mais sobre o produto.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Solve · Messaging Framework · v1.0.0 · 2026-05-12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Persona · P1 — O Jovem Desorganizado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11430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</a:rPr>
              <a:t>Não sabe para onde vai o seu dinheiro? Você não é o único.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O Solve te mostra, em segundos, quanto você gastou hoje, essa semana e esse mês — sem planilha, sem lançamento manual.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75104"/>
            <a:ext cx="109728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066543"/>
            <a:ext cx="2788920" cy="2926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57984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QUEM 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18–24 anos · até R$2.500/mês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0779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CANAIS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27248"/>
            <a:ext cx="2606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Instagram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0F172A"/>
                </a:solidFill>
              </a:rPr>
              <a:t>TikTok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0F172A"/>
                </a:solidFill>
              </a:rPr>
              <a:t>Influenciador financeiro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0F172A"/>
                </a:solidFill>
              </a:rPr>
              <a:t>YouTube Shorts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25696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64515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Sem julgamento · Informal · Visual · Direto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157984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MENSAGEM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377440"/>
            <a:ext cx="8321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F172A"/>
                </a:solidFill>
              </a:rPr>
              <a:t>✓  Conecta automaticamente com seu banco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</a:rPr>
              <a:t>✓  Avisa antes de você estourar o limite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</a:rPr>
              <a:t>✓  Resume seus gastos em categorias simples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4279392"/>
            <a:ext cx="2514600" cy="4023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5848" y="4325112"/>
            <a:ext cx="24780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Começar grátis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102352"/>
            <a:ext cx="12188952" cy="14813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102352"/>
            <a:ext cx="1218895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846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OBJEÇÃO PRINCIPAL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13248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F172A"/>
                </a:solidFill>
              </a:rPr>
              <a:t>"Mais um app financeiro que não vou usar."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18464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COMO RESPONDER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413248"/>
            <a:ext cx="5486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O Solve não depende da sua disciplina. Ele lê suas transações automaticamente — você só abre e vê.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Solve · Messaging Framework · v1.0.0 · 2026-05-12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Persona · P2 — O Endividado Crônico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11430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</a:rPr>
              <a:t>Sabendo para onde vai cada real, você para de cair no rotativo.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O Solve mostra exatamente quanto você pode gastar antes do fechamento da fatura — e avisa quando está chegando no limite.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75104"/>
            <a:ext cx="109728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066543"/>
            <a:ext cx="2788920" cy="2926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57984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QUEM 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25–45 anos · 1–5 salários mínimos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0779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CANAIS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27248"/>
            <a:ext cx="2606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Google Search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0F172A"/>
                </a:solidFill>
              </a:rPr>
              <a:t>Facebook Ads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0F172A"/>
                </a:solidFill>
              </a:rPr>
              <a:t>YouTube pre-roll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25696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64515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Empático · Sem julgamento · Esperançoso — nunca alarmista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157984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MENSAGEM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377440"/>
            <a:ext cx="8321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F172A"/>
                </a:solidFill>
              </a:rPr>
              <a:t>✓  Alerta de fatura antes do vencimento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</a:rPr>
              <a:t>✓  Veja quanto entra e quanto sai por semana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</a:rPr>
              <a:t>✓  Plano de quitação em passos simples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4279392"/>
            <a:ext cx="2514600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5848" y="4325112"/>
            <a:ext cx="24780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Ver como funciona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102352"/>
            <a:ext cx="12188952" cy="14813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102352"/>
            <a:ext cx="1218895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846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OBJEÇÃO PRINCIPAL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13248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F172A"/>
                </a:solidFill>
              </a:rPr>
              <a:t>"Já tentei vários apps e não funcionou."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18464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COMO RESPONDER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413248"/>
            <a:ext cx="5486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A diferença é que o Solve não te pede nada. Ele lê suas transações sozinho e te avisa antes — não depois que o estrago já foi feito.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Solve · Messaging Framework · v1.0.0 · 2026-05-12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Persona · P3 — O Investidor Iniciante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11430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</a:rPr>
              <a:t>Organize o que gasta. Invista o que sobra.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O Solve consolida gastos, conta corrente e investimentos em um único painel. Você vê onde cortar e quanto pode aplicar este mês.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75104"/>
            <a:ext cx="109728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066543"/>
            <a:ext cx="2788920" cy="2926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57984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QUEM 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25–40 anos · R$4.000–10.000/mês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0779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CANAIS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27248"/>
            <a:ext cx="2606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Google Search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0F172A"/>
                </a:solidFill>
              </a:rPr>
              <a:t>Newsletters financeiras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0F172A"/>
                </a:solidFill>
              </a:rPr>
              <a:t>YouTube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25696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64515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Racional · Aspiracional · Orientado a resultado concreto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157984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MENSAGEM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377440"/>
            <a:ext cx="8321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F172A"/>
                </a:solidFill>
              </a:rPr>
              <a:t>✓  Visão consolidada de gastos e investimentos num só lugar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</a:rPr>
              <a:t>✓  Sobra calculada automaticamente todo mês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</a:rPr>
              <a:t>✓  Metas de investimento com acompanhamento real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4279392"/>
            <a:ext cx="2514600" cy="402336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5848" y="4325112"/>
            <a:ext cx="24780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Testar grátis 14 dias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102352"/>
            <a:ext cx="12188952" cy="14813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102352"/>
            <a:ext cx="1218895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846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OBJEÇÃO PRINCIPAL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13248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F172A"/>
                </a:solidFill>
              </a:rPr>
              <a:t>"Já uso o app da minha corretora."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18464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COMO RESPONDER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413248"/>
            <a:ext cx="5486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A corretora te mostra onde o dinheiro está. O Solve te mostra de onde ele vem — e como fazer mais chegar até lá.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Solve · Messaging Framework · v1.0.0 · 2026-05-12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Persona · P5 — O Profissional Ocupado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11430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</a:rPr>
              <a:t>Controle total das suas finanças. Sem planilha, sem esforço.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O Solve categoriza seus gastos automaticamente e entrega um relatório financeiro mensal completo. Você enxerga o que importa, sem perder tempo com lançamentos.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75104"/>
            <a:ext cx="109728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066543"/>
            <a:ext cx="2788920" cy="2926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57984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QUEM 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30–50 anos · acima de R$7.000/mês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0779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CANAIS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27248"/>
            <a:ext cx="2606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LinkedIn Ads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0F172A"/>
                </a:solidFill>
              </a:rPr>
              <a:t>Google Search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0F172A"/>
                </a:solidFill>
              </a:rPr>
              <a:t>Newsletters executivas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25696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64515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Preciso · Executivo · Orientado à eficiência · Sem firulas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157984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MENSAGEM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377440"/>
            <a:ext cx="8321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F172A"/>
                </a:solidFill>
              </a:rPr>
              <a:t>✓  Categorização automática de todos os seus gastos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</a:rPr>
              <a:t>✓  Relatório mensal completo gerado automaticamente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</a:rPr>
              <a:t>✓  Projeção de patrimônio e planejamento de longo prazo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4279392"/>
            <a:ext cx="2514600" cy="4023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5848" y="4325112"/>
            <a:ext cx="24780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Começar agora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102352"/>
            <a:ext cx="12188952" cy="14813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102352"/>
            <a:ext cx="1218895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846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OBJEÇÃO PRINCIPAL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13248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F172A"/>
                </a:solidFill>
              </a:rPr>
              <a:t>"Não tenho tempo para configurar mais um app."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18464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COMO RESPONDER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413248"/>
            <a:ext cx="5486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Configure em menos de 5 minutos. O Solve já começa a organizar e categorizar tudo. Sem planilha, sem lançamento manual tedioso.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Solve · Messaging Framework · v1.0.0 · 2026-05-12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PERSONAS SECUNDÁRIAS · PÓS-MVP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Mensagens para expansão após consolidar P1, P2, P3 e P5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11274552" cy="3200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87552"/>
            <a:ext cx="73152" cy="111556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3327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C4899"/>
                </a:solidFill>
              </a:rPr>
              <a:t>P4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80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Mulher Invisível ao Sistema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033272"/>
            <a:ext cx="7589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"Dinheiro não é coisa de homem. É coisa sua."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536192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Instagram · Comunidades femininas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76272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322576"/>
            <a:ext cx="73152" cy="11155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6829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P6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1518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Investidor Avançado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368296"/>
            <a:ext cx="7589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"Seu portfólio bate o CDI? Agora você pode saber."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871216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LinkedIn · Fintechs B2B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11296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73152" cy="1115568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0332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4CC16"/>
                </a:solidFill>
              </a:rPr>
              <a:t>P7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9502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Aposentado / Pré-Aposentado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703320"/>
            <a:ext cx="7589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"Quanto tempo o seu dinheiro dura? Agora você calcula."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20624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Facebook · WhatsApp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4632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992624"/>
            <a:ext cx="73152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03834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P8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2852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MEI / Empreendedor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038344"/>
            <a:ext cx="7589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"PF aqui, PJ ali. O Solve separa tudo automaticamente."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541264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Instagram · LinkedIn · Contabilidade online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Solve · Messaging Framework · v1.0.0 · 2026-05-12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REGRAS DE APLICAÇÃO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Como e onde usar cada mensagem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50392"/>
            <a:ext cx="10972800" cy="3200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2651760" cy="5486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7A"/>
                </a:solidFill>
              </a:rPr>
              <a:t>Landing Page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2651760" cy="4892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572768"/>
            <a:ext cx="246887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>Topo: hero universal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O visitante ainda não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sabe que é uma persona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/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Meio: 1 seção por perfil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com headline e screenshot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específico da persona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/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Rodapé: prova social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+ CTA secundário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4136" y="1005840"/>
            <a:ext cx="26517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4136" y="111556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</a:rPr>
              <a:t>Ads Pagos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74136" y="1463040"/>
            <a:ext cx="2651760" cy="4892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1572768"/>
            <a:ext cx="246887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>Nunca misturar personas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no mesmo anúncio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/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Headline = dor ou objeção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Subheadline = solução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CTA = próximo passo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/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P1/P2: pessoas reais,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ambiente cotidiano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P3/P5: dashboard, números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100584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111556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Onboarding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1463040"/>
            <a:ext cx="2651760" cy="4892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572768"/>
            <a:ext cx="246887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>1ª tela: "Como você se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descreveria?" — selecionar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perfil antes de qualquer coisa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/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Redirecionar para fluxo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da persona escolhida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/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Email D+1: headline da persona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Email D+7: case de resultado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do mesmo perfil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8008" y="1005840"/>
            <a:ext cx="265176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111556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4748B"/>
                </a:solidFill>
              </a:rPr>
              <a:t>A/B Testing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08008" y="1463040"/>
            <a:ext cx="2651760" cy="4892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36024" y="1572768"/>
            <a:ext cx="246887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>1 elemento por vez: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headline OU sub OU CTA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(nunca os três juntos)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/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P1/P2: métrica = CTR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P3/P5: métrica = ativação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(conexão de conta)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/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Ciclo mínimo: 7 dias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ou 500 impressões/variante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Solve · Messaging Framework · v1.0.0 · 2026-05-12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LISTA NEGRA · O QUE NUNCA DIZER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Palavras e promessas que destroem credibilidade ou geram risco regulatório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11274552" cy="3200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61288"/>
            <a:ext cx="27432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4300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0515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Inteligência Artificial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8074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Virou buzzword sem credibilidade — diga o que o produto faz, não a tecnologia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92808"/>
            <a:ext cx="11274552" cy="87782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093976"/>
            <a:ext cx="27432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7568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19842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Fique rico / Multiplique seu dinheiro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3134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Gera desconfiança + risco regulatório real (BACEN / CVM)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25496"/>
            <a:ext cx="11274552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026664"/>
            <a:ext cx="27432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008376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91693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"Finanças pessoais"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2461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Soa chato e genérico para P1 e P2 — o maior volume no topo do funil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58184"/>
            <a:ext cx="11274552" cy="87782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959352"/>
            <a:ext cx="27432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941064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84962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"Plataforma" / "Solução" / "Ecossistema"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178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Jargão corporativo. Use "app" ou simplesmente "Solve"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90872"/>
            <a:ext cx="11274552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892040"/>
            <a:ext cx="27432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873752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8231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Comparação direta com concorrentes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114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Posicione pelo problema que resolvemos, não pela competição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623559"/>
            <a:ext cx="11274552" cy="87782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824727"/>
            <a:ext cx="27432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80644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71499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"Simples e fácil" como benefício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6044183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Todo app afirma isso. Mostre via copy o quanto é rápido — não afirme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568"/>
                </a:solidFill>
              </a:rPr>
              <a:t>Solve · Messaging Framework · v1.0.0 · 2026-05-12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TAGLINE E DERIVAÇÕES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"Agora você sabe."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A tagline inverte o pain point. Cada derivação aplica essa lógica ao contexto específico.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47088"/>
            <a:ext cx="10515600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29968"/>
            <a:ext cx="54864" cy="841248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0299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7A"/>
                </a:solidFill>
              </a:rPr>
              <a:t>Hero — Landing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042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Agora você sabe para onde vai o seu dinheiro.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99816"/>
            <a:ext cx="54864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0998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Email de boas-vindas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37413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 partir de hoje, nada passa despercebido.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69664"/>
            <a:ext cx="54864" cy="8412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1696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Push — insight mensal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44398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Você gastou 34% mais em alimentação este mês. Agora você sabe.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39512"/>
            <a:ext cx="54864" cy="84124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2395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C4899"/>
                </a:solidFill>
              </a:rPr>
              <a:t>Push — alerta de fatura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55138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Sua fatura fecha em 5 dias. Você ainda tem R$ 320 de margem.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