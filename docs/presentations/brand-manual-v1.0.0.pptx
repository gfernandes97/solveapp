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281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Manual de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309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F172A"/>
                </a:solidFill>
                <a:latin typeface="Segoe UI"/>
              </a:rPr>
              <a:t>v1.0.0  ·  2026-05-12</a:t>
            </a:r>
          </a:p>
        </p:txBody>
      </p:sp>
      <p:pic>
        <p:nvPicPr>
          <p:cNvPr id="5" name="Picture 4" descr="primary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503920" cy="2442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029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C97A"/>
                </a:solidFill>
                <a:latin typeface="Segoe UI"/>
              </a:rPr>
              <a:t>Agora você sabe.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864608"/>
            <a:ext cx="5788152" cy="36576"/>
          </a:xfrm>
          <a:prstGeom prst="rect">
            <a:avLst/>
          </a:prstGeom>
          <a:solidFill>
            <a:srgbClr val="1E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244852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21076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Nomenclatura &amp; Missão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Segoe UI"/>
              </a:rPr>
              <a:t>Por que
“Solve”?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O brasileiro ganha, gasta, e no fim do mês não sabe o que aconteceu com o dinheiro. Sem visibilidade real dos seus gastos, ele não consegue sair do vermelho, montar uma reserva, nem investir para o futuro.</a:t>
            </a:r>
          </a:p>
          <a:p>
            <a:pPr>
              <a:spcAft>
                <a:spcPts val="585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/>
            </a:r>
          </a:p>
          <a:p>
            <a:pPr>
              <a:spcAft>
                <a:spcPts val="585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Solve é a solução direta a esse problema.</a:t>
            </a:r>
          </a:p>
          <a:p>
            <a:pPr>
              <a:spcAft>
                <a:spcPts val="585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/>
            </a:r>
          </a:p>
          <a:p>
            <a:pPr>
              <a:spcAft>
                <a:spcPts val="585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Uma palavra. Universal. Sem floreios.</a:t>
            </a:r>
          </a:p>
          <a:p>
            <a:pPr>
              <a:spcAft>
                <a:spcPts val="585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Fácil de pronunciar em português e inglês.</a:t>
            </a:r>
          </a:p>
          <a:p>
            <a:pPr>
              <a:spcAft>
                <a:spcPts val="585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Diz exatamente o que fazemos.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457200"/>
            <a:ext cx="5394960" cy="6126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imary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80160"/>
            <a:ext cx="5029200" cy="144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3200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7A"/>
                </a:solidFill>
                <a:latin typeface="Segoe UI"/>
              </a:rPr>
              <a:t>"Agora você sabe."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947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A tagline responde diretamente ao pain point:</a:t>
            </a:r>
          </a:p>
          <a:p>
            <a:pPr>
              <a:spcAft>
                <a:spcPts val="385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"O brasileiro não sabe para onde vai seu dinheiro."</a:t>
            </a:r>
          </a:p>
          <a:p>
            <a:pPr>
              <a:spcAft>
                <a:spcPts val="385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/>
            </a:r>
          </a:p>
          <a:p>
            <a:pPr>
              <a:spcAft>
                <a:spcPts val="385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 o Solve, agora ele sabe.</a:t>
            </a:r>
          </a:p>
          <a:p>
            <a:pPr>
              <a:spcAft>
                <a:spcPts val="385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Três palavras. Uma promessa inteira.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668780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5316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Logo — Conceito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O que o símbolo comunica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Cada elemento tem significado direto sobre o problema que resolvemos</a:t>
            </a:r>
          </a:p>
        </p:txBody>
      </p:sp>
      <p:pic>
        <p:nvPicPr>
          <p:cNvPr id="8" name="Picture 7" descr="icon-gree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463040"/>
            <a:ext cx="3959352" cy="39593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2926080"/>
            <a:ext cx="347472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54864" cy="1645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O círculo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Representa o ciclo do não saber —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o dinheiro some todo mês e a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pessoa não entende por quê.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O loop de invisibilidade financeira.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926080"/>
            <a:ext cx="3474720" cy="1645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926080"/>
            <a:ext cx="54864" cy="164592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A seta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Nasce dentro do ciclo e rompe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para fora, apontando para cima.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Representa o solve: direção,</a:t>
            </a:r>
          </a:p>
          <a:p>
            <a:pPr>
              <a:spcAft>
                <a:spcPts val="33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clareza e movimento consciente.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1164031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194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7A"/>
                </a:solidFill>
                <a:latin typeface="Segoe UI"/>
              </a:rPr>
              <a:t>Juntos: "do ciclo de não saber, emerge a direção."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703320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3703320"/>
            <a:ext cx="365760" cy="3657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764792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627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Logo — Variantes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As 5 variantes aprovadas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imar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212080" cy="14967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3017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V1 — Principal  ·  fundo claro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715000" cy="2148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imary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49240" cy="15361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017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V2 — Inverso  ·  fundo escuro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29000"/>
            <a:ext cx="274320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gree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66160"/>
            <a:ext cx="210312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" y="6281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V3 — Ícone puro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3429000"/>
            <a:ext cx="278892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acked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93008"/>
            <a:ext cx="2606040" cy="3694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6281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V4 — Empilhado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5440680" cy="3063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ordmark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977639"/>
            <a:ext cx="5257800" cy="1314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92240" y="62819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V5 — Wordmark + tagline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148840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Logo — Regras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O que respeitar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3657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✓  Pode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00" cy="65836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72768"/>
            <a:ext cx="54864" cy="6583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282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Usar em fundo branco, obsidian ou verde Solve.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22576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322576"/>
            <a:ext cx="54864" cy="6583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780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Manter a proporção original. Sempre.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72384"/>
            <a:ext cx="5486400" cy="65836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72384"/>
            <a:ext cx="54864" cy="6583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27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Usar versão monocromática preta em impressão P&amp;B.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22191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22191"/>
            <a:ext cx="54864" cy="6583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Aplicar com área de proteção ≥ altura da letra 'S'.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5486400" cy="65836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54864" cy="6583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27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Usar V3 (ícone puro) em espaços pequenos (16px+).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14300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188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✕  Não pode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572768"/>
            <a:ext cx="5577840" cy="6583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572768"/>
            <a:ext cx="54864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7282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Distorcer ou esticar o logo.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322576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322576"/>
            <a:ext cx="54864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4780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Alterar as cores fora da paleta oficial.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072384"/>
            <a:ext cx="5577840" cy="6583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072384"/>
            <a:ext cx="54864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227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Adicionar sombra, brilho ou efeitos ao ícone.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822191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822191"/>
            <a:ext cx="54864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9776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Usar sobre fundos fotográficos ou padrões.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572000"/>
            <a:ext cx="5577840" cy="6583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572000"/>
            <a:ext cx="54864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727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Recriar o ícone em ferramentas de apresentação.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080760"/>
            <a:ext cx="1161288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1264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Área de proteção: o logo deve ter ao redor um espaço livre equivalente à altura da letra "S" do wordmark em todas as direções.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668780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5316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Paleta de 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As cores da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Cada cor tem um papel. Obsidian e Solve são a dupla principal.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830323" cy="28639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281220"/>
            <a:ext cx="1830323" cy="20738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4025188"/>
            <a:ext cx="17205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#0F172A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379976"/>
            <a:ext cx="1720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Obsidian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5268772"/>
            <a:ext cx="17205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Cor principal escura — o problema, a profundidade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4372" y="1417320"/>
            <a:ext cx="1830323" cy="28639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4372" y="4281220"/>
            <a:ext cx="1830323" cy="20738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7524" y="4025188"/>
            <a:ext cx="17205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#00C97A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524" y="4379976"/>
            <a:ext cx="1720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7524" y="5268772"/>
            <a:ext cx="17205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Cor principal — resolução, crescimento,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4423" y="1417320"/>
            <a:ext cx="1830323" cy="286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4423" y="4281220"/>
            <a:ext cx="1830323" cy="20738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7576" y="4025188"/>
            <a:ext cx="17205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#2563EB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7576" y="4379976"/>
            <a:ext cx="1720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7576" y="5268772"/>
            <a:ext cx="17205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Secundária — digital, links, ações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6" y="1417320"/>
            <a:ext cx="1830323" cy="28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4281220"/>
            <a:ext cx="1830323" cy="20738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7628" y="4025188"/>
            <a:ext cx="17205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#F59E0B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7628" y="4379976"/>
            <a:ext cx="1720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Solar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7628" y="5268772"/>
            <a:ext cx="17205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Acento — energia, jovialidade, alertas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4528" y="1417320"/>
            <a:ext cx="1830323" cy="2863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4528" y="4281220"/>
            <a:ext cx="1830323" cy="20738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7680" y="4025188"/>
            <a:ext cx="17205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#F8FAFC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7680" y="4379976"/>
            <a:ext cx="1720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7680" y="5268772"/>
            <a:ext cx="17205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Background — clareza, espaço, respiro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74580" y="1417320"/>
            <a:ext cx="1830323" cy="28639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74580" y="4281220"/>
            <a:ext cx="1830323" cy="20738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7732" y="4025188"/>
            <a:ext cx="17205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#64748B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732" y="4379976"/>
            <a:ext cx="17205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Smoke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7732" y="5268772"/>
            <a:ext cx="17205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Texto de apoio — neutro, hierarquia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400800"/>
            <a:ext cx="1164031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148840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Combinações de 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Combinações aprovadas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70375" cy="2606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450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C97A"/>
                </a:solidFill>
                <a:latin typeface="Segoe UI"/>
              </a:rPr>
              <a:t>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39"/>
            <a:ext cx="3450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77052"/>
                </a:solidFill>
                <a:latin typeface="Segoe UI"/>
              </a:rPr>
              <a:t>Agora você sabe.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39"/>
            <a:ext cx="34503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97A"/>
                </a:solidFill>
                <a:latin typeface="Segoe UI"/>
              </a:rPr>
              <a:t>Obsidian + 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1"/>
            <a:ext cx="3450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8F1A2"/>
                </a:solidFill>
                <a:latin typeface="Segoe UI"/>
              </a:rPr>
              <a:t>Principal — capas, headers,
destaque máximo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4423" y="1280160"/>
            <a:ext cx="3770375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7304" y="1508760"/>
            <a:ext cx="3450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Segoe UI"/>
              </a:rPr>
              <a:t>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7304" y="2148839"/>
            <a:ext cx="3450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78B94"/>
                </a:solidFill>
                <a:latin typeface="Segoe UI"/>
              </a:rPr>
              <a:t>Agora você sabe.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7304" y="2606039"/>
            <a:ext cx="34503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Branco + Obsidian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7304" y="2907791"/>
            <a:ext cx="3450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3F52"/>
                </a:solidFill>
                <a:latin typeface="Segoe UI"/>
              </a:rPr>
              <a:t>Textos longos, corpo de
texto, fundos de conteúdo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528" y="1280160"/>
            <a:ext cx="3770375" cy="260604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508760"/>
            <a:ext cx="3450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Segoe UI"/>
              </a:rPr>
              <a:t>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7408" y="2148839"/>
            <a:ext cx="3450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77052"/>
                </a:solidFill>
                <a:latin typeface="Segoe UI"/>
              </a:rPr>
              <a:t>Agora você sabe.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7408" y="2606039"/>
            <a:ext cx="34503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Solve + Obsidian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907791"/>
            <a:ext cx="3450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3F52"/>
                </a:solidFill>
                <a:latin typeface="Segoe UI"/>
              </a:rPr>
              <a:t>CTAs primários, badges,
destaques de sucesso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50791"/>
            <a:ext cx="3770375" cy="2606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79392"/>
            <a:ext cx="3450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solve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3450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78B94"/>
                </a:solidFill>
                <a:latin typeface="Segoe UI"/>
              </a:rPr>
              <a:t>Agora você sabe.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76672"/>
            <a:ext cx="34503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Obsidian + Branco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78424"/>
            <a:ext cx="3450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Segoe UI"/>
              </a:rPr>
              <a:t>Navegação, sidebars,
rodapés e modais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4423" y="4050791"/>
            <a:ext cx="3770375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7304" y="4279392"/>
            <a:ext cx="3450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Segoe UI"/>
              </a:rPr>
              <a:t>solve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7304" y="4919472"/>
            <a:ext cx="3450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5A1A"/>
                </a:solidFill>
                <a:latin typeface="Segoe UI"/>
              </a:rPr>
              <a:t>Agora você sabe.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7304" y="5376672"/>
            <a:ext cx="34503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Solar + Obsidian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7304" y="5678424"/>
            <a:ext cx="3450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3F52"/>
                </a:solidFill>
                <a:latin typeface="Segoe UI"/>
              </a:rPr>
              <a:t>Alertas de atenção,
warnings, onboarding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4528" y="4050791"/>
            <a:ext cx="3770375" cy="2606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7408" y="4279392"/>
            <a:ext cx="3450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Segoe UI"/>
              </a:rPr>
              <a:t>solve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7408" y="4919472"/>
            <a:ext cx="3450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38893"/>
                </a:solidFill>
                <a:latin typeface="Segoe UI"/>
              </a:rPr>
              <a:t>Agora você sabe.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7408" y="5376672"/>
            <a:ext cx="34503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Cloud + Obsidian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408" y="5678424"/>
            <a:ext cx="3450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3F52"/>
                </a:solidFill>
                <a:latin typeface="Segoe UI"/>
              </a:rPr>
              <a:t>Cards, backgrounds
de conteúdo secundário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188720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Tipografia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Inter — a tipografia da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Geométrica, humanista, criada para interfaces digitais. Google Fonts — gratuita.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6217920" cy="5120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54864" cy="512064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Display — 48/56pt Bold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Agora você sabe.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1343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H1 — 32/40pt Bold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Onde foi o seu dinheiro?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H2 — 24/32pt SemiBold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Gastos de maio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67911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Body — 16/24pt Regular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79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Você gastou R$4.230 este mês em 127 transações.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45151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Caption — 12/16pt Regular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19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Fonte: Open Finance · Atualizado agora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22391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Label — 11pt Bold Caps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59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VER FATURA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417320"/>
            <a:ext cx="512064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536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97A"/>
                </a:solidFill>
                <a:latin typeface="Segoe UI"/>
              </a:rPr>
              <a:t>Princípios tipográficos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965960"/>
            <a:ext cx="5120640" cy="105156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20391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7A"/>
                </a:solidFill>
                <a:latin typeface="Segoe UI"/>
              </a:rPr>
              <a:t>Hierarquia clara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331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Nunca mais de 3 tamanhos em uma mesma tela. O tamanho comunica importância.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081528"/>
            <a:ext cx="5120640" cy="105156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31546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7A"/>
                </a:solidFill>
                <a:latin typeface="Segoe UI"/>
              </a:rPr>
              <a:t>Contraste alto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3447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Texto principal sempre em Obsidian sobre Cloud ou branco. Nunca cinza sobre cinza.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197096"/>
            <a:ext cx="5120640" cy="105156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42702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7A"/>
                </a:solidFill>
                <a:latin typeface="Segoe UI"/>
              </a:rPr>
              <a:t>Peso como emoção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45628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Bold para impacto e dados críticos. Regular para explicação. Nunca Thin.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5312664"/>
            <a:ext cx="5120640" cy="105156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538581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7A"/>
                </a:solidFill>
                <a:latin typeface="Segoe UI"/>
              </a:rPr>
              <a:t>Espaçamento generoso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567842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Line-height mínimo de 1.5× o tamanho da fonte. Respiro é clareza.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092707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555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Voz &amp; 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Como o Solve fala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233172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Segoe UI"/>
              </a:rPr>
              <a:t>Claro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76272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Zero jargão financeiro.
Se precisar de um termo técnico, explica na mesma frase.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34440"/>
            <a:ext cx="3749039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32588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Segoe UI"/>
              </a:rPr>
              <a:t>Direto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76272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A frase começa pelo dado que importa.
Nunca enrolação, nunca falsa intimidade.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3749039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Segoe UI"/>
              </a:rPr>
              <a:t>Humano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76272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Reconhece que finanças têm emoção.
Não julga. Encoraja. Celebra pequenas vitórias.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1164031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130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7A"/>
                </a:solidFill>
                <a:latin typeface="Segoe UI"/>
              </a:rPr>
              <a:t>Antes × Depois — o mesmo dado, o tom certo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5486400" cy="107899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51960"/>
            <a:ext cx="54864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976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Segoe UI"/>
              </a:rPr>
              <a:t>✕ Antes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Seu saldo devedor no cartão de crédito é de R$ 1.847,50 com vencimento em 14/05/2026.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4251960"/>
            <a:ext cx="5806440" cy="10789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4251960"/>
            <a:ext cx="54864" cy="1078992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2976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F57"/>
                </a:solidFill>
                <a:latin typeface="Segoe UI"/>
              </a:rPr>
              <a:t>✓ Depois (Solve)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26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Sua fatura Nubank vence em 3 dias. São R$1.847,50. Quer quitar agora e economizar R$14.290 em juros?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86400"/>
            <a:ext cx="5486400" cy="107899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486400"/>
            <a:ext cx="54864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Segoe UI"/>
              </a:rPr>
              <a:t>✕ Antes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760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Detectamos um padrão de gastos acima da média no segmento delivery nas últimas 4 semanas.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5486400"/>
            <a:ext cx="5806440" cy="10789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5486400"/>
            <a:ext cx="54864" cy="1078992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5321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F57"/>
                </a:solidFill>
                <a:latin typeface="Segoe UI"/>
              </a:rPr>
              <a:t>✓ Depois (Solve)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760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Você pediu delivery 31 vezes este mês. Isso deu R$487. Na semana passada foram 9 pedidos — quer entender o porquê?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400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745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Segoe UI"/>
              </a:rPr>
              <a:t>Agora você sabe.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97A"/>
                </a:solidFill>
                <a:latin typeface="Segoe UI"/>
              </a:rPr>
              <a:t>A tagline é a anti-tese do pain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O pain point: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"O brasileiro NÃO SABE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 para onde vai seu dinheiro."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/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82,8 milhões com CPF negativado.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48% sem controle dos gastos.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31% sem reserva de emergência.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154680"/>
            <a:ext cx="36576" cy="3200400"/>
          </a:xfrm>
          <a:prstGeom prst="rect">
            <a:avLst/>
          </a:prstGeom>
          <a:solidFill>
            <a:srgbClr val="1E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1546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00C97A"/>
                </a:solidFill>
                <a:latin typeface="Segoe UI"/>
              </a:rPr>
              <a:t>A promessa do Solve: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00C97A"/>
                </a:solidFill>
                <a:latin typeface="Segoe UI"/>
              </a:rPr>
              <a:t>"AGORA VOCÊ SABE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00C97A"/>
                </a:solidFill>
                <a:latin typeface="Segoe UI"/>
              </a:rPr>
              <a:t> exatamente para onde foi."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00C97A"/>
                </a:solidFill>
                <a:latin typeface="Segoe UI"/>
              </a:rPr>
              <a:t/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00C97A"/>
                </a:solidFill>
                <a:latin typeface="Segoe UI"/>
              </a:rPr>
              <a:t>Dashboard que responde em &lt;3 seg.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00C97A"/>
                </a:solidFill>
                <a:latin typeface="Segoe UI"/>
              </a:rPr>
              <a:t>Alerta antes de você errar.</a:t>
            </a:r>
          </a:p>
          <a:p>
            <a:pPr>
              <a:spcAft>
                <a:spcPts val="390"/>
              </a:spcAft>
            </a:pPr>
            <a:r>
              <a:rPr sz="1300" b="0">
                <a:solidFill>
                  <a:srgbClr val="00C97A"/>
                </a:solidFill>
                <a:latin typeface="Segoe UI"/>
              </a:rPr>
              <a:t>Educação no momento da 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380744" cy="23774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Marca em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O Solve no mundo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56032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App Icon</a:t>
            </a:r>
          </a:p>
        </p:txBody>
      </p:sp>
      <p:pic>
        <p:nvPicPr>
          <p:cNvPr id="9" name="Picture 8" descr="icon-white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508760"/>
            <a:ext cx="164592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2004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1024px</a:t>
            </a:r>
          </a:p>
        </p:txBody>
      </p:sp>
      <p:pic>
        <p:nvPicPr>
          <p:cNvPr id="11" name="Picture 10" descr="icon-white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375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42976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180px</a:t>
            </a:r>
          </a:p>
        </p:txBody>
      </p:sp>
      <p:pic>
        <p:nvPicPr>
          <p:cNvPr id="13" name="Picture 12" descr="icon-white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44348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4937759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60px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4206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1704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Notificação Push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463040"/>
            <a:ext cx="393192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gree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50876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58768" y="1554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18105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</a:rPr>
              <a:t>agora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10312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⚠  Sua fatura vence amanhã.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37744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R$ 1.847,50 · Nubank · Toque para 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6974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F57"/>
                </a:solidFill>
                <a:latin typeface="Segoe UI"/>
              </a:rPr>
              <a:t>Quitar agora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9748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Ver detalhes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794760"/>
            <a:ext cx="4206240" cy="2697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794760"/>
            <a:ext cx="420624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white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88620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58768" y="3959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solve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343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Você gastou R$ 4.230 em maio.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663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Quer saber onde foi cada centavo?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5047488"/>
            <a:ext cx="2286000" cy="27432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Agora você sabe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63093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@usesolve.com.br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1143000"/>
            <a:ext cx="420624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11704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E-mail Transacional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1444752"/>
            <a:ext cx="420624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rimary-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536192"/>
            <a:ext cx="2743200" cy="7877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63840" y="26700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Relatório de maio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9992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Ana, em maio você gastou R$4.230. Aqui está o resumo: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3474720"/>
            <a:ext cx="3840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0" y="3474720"/>
            <a:ext cx="457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35478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Alimentação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354787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Segoe UI"/>
              </a:rPr>
              <a:t>R$1.189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913631"/>
            <a:ext cx="3840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63840" y="3913631"/>
            <a:ext cx="457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3986783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Moradia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3986783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Segoe UI"/>
              </a:rPr>
              <a:t>R$1.058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4352544"/>
            <a:ext cx="3840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63840" y="4352544"/>
            <a:ext cx="45720" cy="3657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44256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Transporte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42569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Segoe UI"/>
              </a:rPr>
              <a:t>R$635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4828032"/>
            <a:ext cx="3840480" cy="347472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48828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Ver relatório completo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530352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Agora você sabe.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672084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F172A"/>
                </a:solidFill>
                <a:latin typeface="Segoe UI"/>
              </a:rPr>
              <a:t>Solve · Manual de Marca v1.0.0 · 2026-05-12</a:t>
            </a:r>
          </a:p>
        </p:txBody>
      </p:sp>
      <p:pic>
        <p:nvPicPr>
          <p:cNvPr id="4" name="Picture 3" descr="icon-white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743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916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Os 4 princípios da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5486400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73152" cy="18288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96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Clareza antes de tudo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351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Se o usuário não entendeu em 3 segundos, é culpa nossa, não dele.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486400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3317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96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Dados com 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5351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Um número sem contexto é ruído. Um dado com ação é poder.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5486400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537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Educação no momento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1091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A lição financeira deve aparecer quando a decisão está sendo tomada.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389120"/>
            <a:ext cx="5486400" cy="1828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73152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5537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Sem julgamento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1091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Finanças têm emoção. A marca acolhe, encoraja e celebra o progresso — não o perfeito.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008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97A"/>
                </a:solidFill>
                <a:latin typeface="Segoe UI"/>
              </a:rPr>
              <a:t>Solve — Agora você sabe.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