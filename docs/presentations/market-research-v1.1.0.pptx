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560320"/>
            <a:ext cx="12188952" cy="36576"/>
          </a:xfrm>
          <a:prstGeom prst="rect">
            <a:avLst/>
          </a:prstGeom>
          <a:solidFill>
            <a:srgbClr val="0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84FF"/>
                </a:solidFill>
                <a:latin typeface="Calibri"/>
              </a:rPr>
              <a:t>FinanceApp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Estudo de Mercado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0F4FF"/>
                </a:solidFill>
                <a:latin typeface="Calibri"/>
              </a:rPr>
              <a:t>Oportunidade, Concorrência e Estratégia de Go-to-Market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217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  <a:latin typeface="Calibri"/>
              </a:rPr>
              <a:t>v1.1.0  ·  2026-05-11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Mercado Brasileiro de Fintechs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Contexto e tamanho do mercado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2560320" cy="2560320"/>
          </a:xfrm>
          <a:prstGeom prst="rect">
            <a:avLst/>
          </a:prstGeom>
          <a:solidFill>
            <a:srgbClr val="0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55448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Calibri"/>
              </a:rPr>
              <a:t>160M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74320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adultos com
smartphone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371600"/>
            <a:ext cx="2560320" cy="256032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155448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Calibri"/>
              </a:rPr>
              <a:t>130M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74320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usuários de
internet banking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2560320" cy="2560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55448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Calibri"/>
              </a:rPr>
              <a:t>25M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74320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investidores
na B3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0" y="1371600"/>
            <a:ext cx="2560320" cy="25603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0" y="155448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Calibri"/>
              </a:rPr>
              <a:t>70M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274320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CPFs negativados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2062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0F4FF"/>
                </a:solidFill>
                <a:latin typeface="Calibri"/>
              </a:rPr>
              <a:t>Brasil é o maior mercado de fintechs da América Latina, com penetração crescente e forte demanda reprimida por educação financeira.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TAM · SAM · SOM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Dimensionamento do mercado endereçável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8686800" cy="1280160"/>
          </a:xfrm>
          <a:prstGeom prst="rect">
            <a:avLst/>
          </a:prstGeom>
          <a:solidFill>
            <a:srgbClr val="0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417320"/>
            <a:ext cx="7223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Total Addressable Market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874519"/>
            <a:ext cx="7223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Adultos financeiramente ativos no Brasil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14630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>
                <a:solidFill>
                  <a:srgbClr val="FFFFFF"/>
                </a:solidFill>
                <a:latin typeface="Calibri"/>
              </a:rPr>
              <a:t>120M pessoas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017520"/>
            <a:ext cx="5943600" cy="128016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063239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063239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Serviceable Addressable Market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520439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Millennials + Gen-Z (18-42 anos) com smartphone e renda formal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1089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>
                <a:solidFill>
                  <a:srgbClr val="FFFFFF"/>
                </a:solidFill>
                <a:latin typeface="Calibri"/>
              </a:rPr>
              <a:t>45M pessoas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663440"/>
            <a:ext cx="3657600" cy="1280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709159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4709159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Serviceable Obtainable Market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516635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Early adopters dispostos a pagar por app financeiro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4754879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>
                <a:solidFill>
                  <a:srgbClr val="FFFFFF"/>
                </a:solidFill>
                <a:latin typeface="Calibri"/>
              </a:rPr>
              <a:t>3–5M pessoas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Panorama Competitivo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Apps de controle de gastos e investimentos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11430000" cy="502920"/>
          </a:xfrm>
          <a:prstGeom prst="rect">
            <a:avLst/>
          </a:prstGeom>
          <a:solidFill>
            <a:srgbClr val="0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32588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132588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Preço/mês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132588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Gastos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132588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Investimentos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32588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Educação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13258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Design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783080"/>
            <a:ext cx="11430000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1847088"/>
            <a:ext cx="20116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Organizze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1847088"/>
            <a:ext cx="164592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R$19,90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77639" y="1847088"/>
            <a:ext cx="9144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59E0B"/>
                </a:solidFill>
                <a:latin typeface="Calibri"/>
              </a:rPr>
              <a:t>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1847088"/>
            <a:ext cx="13716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F4444"/>
                </a:solidFill>
                <a:latin typeface="Calibri"/>
              </a:rPr>
              <a:t>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1847088"/>
            <a:ext cx="13716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F4444"/>
                </a:solidFill>
                <a:latin typeface="Calibri"/>
              </a:rPr>
              <a:t>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1847088"/>
            <a:ext cx="18288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Bom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286000"/>
            <a:ext cx="11430000" cy="502920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2350008"/>
            <a:ext cx="20116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Mobills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31720" y="2350008"/>
            <a:ext cx="164592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R$14,90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77639" y="2350008"/>
            <a:ext cx="9144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59E0B"/>
                </a:solidFill>
                <a:latin typeface="Calibri"/>
              </a:rPr>
              <a:t>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92040" y="2350008"/>
            <a:ext cx="13716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F4444"/>
                </a:solidFill>
                <a:latin typeface="Calibri"/>
              </a:rPr>
              <a:t>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2350008"/>
            <a:ext cx="13716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F4444"/>
                </a:solidFill>
                <a:latin typeface="Calibri"/>
              </a:rPr>
              <a:t>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35240" y="2350008"/>
            <a:ext cx="18288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Datado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2788920"/>
            <a:ext cx="11430000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2852927"/>
            <a:ext cx="20116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Kinvo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31720" y="2852927"/>
            <a:ext cx="164592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R$29,90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77639" y="2852927"/>
            <a:ext cx="9144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F4444"/>
                </a:solidFill>
                <a:latin typeface="Calibri"/>
              </a:rPr>
              <a:t>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92040" y="2852927"/>
            <a:ext cx="13716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59E0B"/>
                </a:solidFill>
                <a:latin typeface="Calibri"/>
              </a:rPr>
              <a:t>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2852927"/>
            <a:ext cx="13716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Básico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35240" y="2852927"/>
            <a:ext cx="18288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Ótimo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3291840"/>
            <a:ext cx="11430000" cy="502920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0040" y="3355848"/>
            <a:ext cx="20116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Gorila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31720" y="3355848"/>
            <a:ext cx="164592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R$39,90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77639" y="3355848"/>
            <a:ext cx="9144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F4444"/>
                </a:solidFill>
                <a:latin typeface="Calibri"/>
              </a:rPr>
              <a:t>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92040" y="3355848"/>
            <a:ext cx="13716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59E0B"/>
                </a:solidFill>
                <a:latin typeface="Calibri"/>
              </a:rPr>
              <a:t>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3355848"/>
            <a:ext cx="13716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F4444"/>
                </a:solidFill>
                <a:latin typeface="Calibri"/>
              </a:rPr>
              <a:t>✘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35240" y="3355848"/>
            <a:ext cx="18288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Profissional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3794760"/>
            <a:ext cx="11430000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0040" y="3858768"/>
            <a:ext cx="20116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Guiabolso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31720" y="3858768"/>
            <a:ext cx="164592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Descontinuado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977639" y="3858768"/>
            <a:ext cx="9144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59E0B"/>
                </a:solidFill>
                <a:latin typeface="Calibri"/>
              </a:rPr>
              <a:t>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92040" y="3858768"/>
            <a:ext cx="13716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F4444"/>
                </a:solidFill>
                <a:latin typeface="Calibri"/>
              </a:rPr>
              <a:t>✘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3858768"/>
            <a:ext cx="13716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F4444"/>
                </a:solidFill>
                <a:latin typeface="Calibri"/>
              </a:rPr>
              <a:t>✘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35240" y="3858768"/>
            <a:ext cx="18288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—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4297680"/>
            <a:ext cx="11430000" cy="50292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20040" y="4361688"/>
            <a:ext cx="20116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F172A"/>
                </a:solidFill>
                <a:latin typeface="Calibri"/>
              </a:rPr>
              <a:t>FinanceApp ★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31720" y="4361688"/>
            <a:ext cx="164592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F172A"/>
                </a:solidFill>
                <a:latin typeface="Calibri"/>
              </a:rPr>
              <a:t>R$19,90–34,90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977639" y="4361688"/>
            <a:ext cx="9144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F172A"/>
                </a:solidFill>
                <a:latin typeface="Calibri"/>
              </a:rPr>
              <a:t>✔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892040" y="4361688"/>
            <a:ext cx="13716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F172A"/>
                </a:solidFill>
                <a:latin typeface="Calibri"/>
              </a:rPr>
              <a:t>✔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63640" y="4361688"/>
            <a:ext cx="13716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F172A"/>
                </a:solidFill>
                <a:latin typeface="Calibri"/>
              </a:rPr>
              <a:t>✔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35240" y="4361688"/>
            <a:ext cx="18288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F172A"/>
                </a:solidFill>
                <a:latin typeface="Calibri"/>
              </a:rPr>
              <a:t>Mobile-first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Oportunidade de Mercado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Gap identificado e benchmarks internacionais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7315200" cy="2377440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694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D48A"/>
                </a:solidFill>
                <a:latin typeface="Calibri"/>
              </a:rPr>
              <a:t>Gap Principal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6949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9"/>
              </a:spcAft>
            </a:pPr>
            <a:r>
              <a:rPr sz="1300" b="0">
                <a:solidFill>
                  <a:srgbClr val="F0F4FF"/>
                </a:solidFill>
                <a:latin typeface="Calibri"/>
              </a:rPr>
              <a:t>• Nenhum app brasileiro integra gastos + investimentos + educação</a:t>
            </a:r>
          </a:p>
          <a:p>
            <a:pPr>
              <a:spcAft>
                <a:spcPts val="259"/>
              </a:spcAft>
            </a:pPr>
            <a:r>
              <a:rPr sz="1300" b="0">
                <a:solidFill>
                  <a:srgbClr val="F0F4FF"/>
                </a:solidFill>
                <a:latin typeface="Calibri"/>
              </a:rPr>
              <a:t>• Guiabolso descontinuado deixou ~5 milhões de usuários órfãos</a:t>
            </a:r>
          </a:p>
          <a:p>
            <a:pPr>
              <a:spcAft>
                <a:spcPts val="259"/>
              </a:spcAft>
            </a:pPr>
            <a:r>
              <a:rPr sz="1300" b="0">
                <a:solidFill>
                  <a:srgbClr val="F0F4FF"/>
                </a:solidFill>
                <a:latin typeface="Calibri"/>
              </a:rPr>
              <a:t>• Usuários usam 2–3 apps diferentes para o que 1 deveria resolver</a:t>
            </a:r>
          </a:p>
          <a:p>
            <a:pPr>
              <a:spcAft>
                <a:spcPts val="259"/>
              </a:spcAft>
            </a:pPr>
            <a:r>
              <a:rPr sz="1300" b="0">
                <a:solidFill>
                  <a:srgbClr val="F0F4FF"/>
                </a:solidFill>
                <a:latin typeface="Calibri"/>
              </a:rPr>
              <a:t>• Crescimento de investidores B3: 500K (2018) → 25M (2026)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0" y="1280160"/>
            <a:ext cx="3749039" cy="2377440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137160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9E0B"/>
                </a:solidFill>
                <a:latin typeface="Calibri"/>
              </a:rPr>
              <a:t>YNAB (EUA) — Referência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1828800"/>
            <a:ext cx="3566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9"/>
              </a:spcAft>
            </a:pPr>
            <a:r>
              <a:rPr sz="1300" b="0">
                <a:solidFill>
                  <a:srgbClr val="F0F4FF"/>
                </a:solidFill>
                <a:latin typeface="Calibri"/>
              </a:rPr>
              <a:t>USD 14,99/mês</a:t>
            </a:r>
          </a:p>
          <a:p>
            <a:pPr>
              <a:spcAft>
                <a:spcPts val="259"/>
              </a:spcAft>
            </a:pPr>
            <a:r>
              <a:rPr sz="1300" b="0">
                <a:solidFill>
                  <a:srgbClr val="F0F4FF"/>
                </a:solidFill>
                <a:latin typeface="Calibri"/>
              </a:rPr>
              <a:t>&gt; 1 milhão de usuários pagantes</a:t>
            </a:r>
          </a:p>
          <a:p>
            <a:pPr>
              <a:spcAft>
                <a:spcPts val="259"/>
              </a:spcAft>
            </a:pPr>
            <a:r>
              <a:rPr sz="1300" b="0">
                <a:solidFill>
                  <a:srgbClr val="F0F4FF"/>
                </a:solidFill>
                <a:latin typeface="Calibri"/>
              </a:rPr>
              <a:t>Metodologia como produto</a:t>
            </a:r>
          </a:p>
          <a:p>
            <a:pPr>
              <a:spcAft>
                <a:spcPts val="259"/>
              </a:spcAft>
            </a:pPr>
            <a:r>
              <a:rPr sz="1300" b="0">
                <a:solidFill>
                  <a:srgbClr val="F0F4FF"/>
                </a:solidFill>
                <a:latin typeface="Calibri"/>
              </a:rPr>
              <a:t>Educação = retenção alta</a:t>
            </a:r>
          </a:p>
          <a:p>
            <a:pPr>
              <a:spcAft>
                <a:spcPts val="259"/>
              </a:spcAft>
            </a:pPr>
            <a:r>
              <a:rPr sz="1300" b="0">
                <a:solidFill>
                  <a:srgbClr val="F0F4FF"/>
                </a:solidFill>
                <a:latin typeface="Calibri"/>
              </a:rPr>
              <a:t>NPS &gt; 80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931920"/>
            <a:ext cx="11430000" cy="2377440"/>
          </a:xfrm>
          <a:prstGeom prst="rect">
            <a:avLst/>
          </a:prstGeom>
          <a:solidFill>
            <a:srgbClr val="053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0233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D48A"/>
                </a:solidFill>
                <a:latin typeface="Calibri"/>
              </a:rPr>
              <a:t>Disposição a Pagar no Brasil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48056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9"/>
              </a:spcAft>
            </a:pPr>
            <a:r>
              <a:rPr sz="1300" b="0">
                <a:solidFill>
                  <a:srgbClr val="F0F4FF"/>
                </a:solidFill>
                <a:latin typeface="Calibri"/>
              </a:rPr>
              <a:t>• 15–20% dos usuários de apps financeiros pagam por premium (crescendo)</a:t>
            </a:r>
          </a:p>
          <a:p>
            <a:pPr>
              <a:spcAft>
                <a:spcPts val="259"/>
              </a:spcAft>
            </a:pPr>
            <a:r>
              <a:rPr sz="1300" b="0">
                <a:solidFill>
                  <a:srgbClr val="F0F4FF"/>
                </a:solidFill>
                <a:latin typeface="Calibri"/>
              </a:rPr>
              <a:t>• Faixa validada: R$15–45/mês  ·  Modelo Freemium com 3 tiers</a:t>
            </a:r>
          </a:p>
          <a:p>
            <a:pPr>
              <a:spcAft>
                <a:spcPts val="259"/>
              </a:spcAft>
            </a:pPr>
            <a:r>
              <a:rPr sz="1300" b="0">
                <a:solidFill>
                  <a:srgbClr val="F0F4FF"/>
                </a:solidFill>
                <a:latin typeface="Calibri"/>
              </a:rPr>
              <a:t>• Tier Essentials R$19,90  ·  Tier Premium R$34,90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Personas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Perfis de usuário identificados na pesquisa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3657600" cy="5029200"/>
          </a:xfrm>
          <a:prstGeom prst="rect">
            <a:avLst/>
          </a:prstGeom>
          <a:solidFill>
            <a:srgbClr val="0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Ana, 26 anos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659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1º emprego CLT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377440"/>
            <a:ext cx="3657600" cy="3657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514600"/>
            <a:ext cx="3383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0F172A"/>
                </a:solidFill>
                <a:latin typeface="Calibri"/>
              </a:rPr>
              <a:t>Renda: R$3.500–6.000/mês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0F172A"/>
                </a:solidFill>
                <a:latin typeface="Calibri"/>
              </a:rPr>
              <a:t>Objetivo: Guardar para imóvel em 5 anos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0F172A"/>
                </a:solidFill>
                <a:latin typeface="Calibri"/>
              </a:rPr>
              <a:t>Dor: Não sabe quanto sobra para investir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0F172A"/>
                </a:solidFill>
                <a:latin typeface="Calibri"/>
              </a:rPr>
              <a:t>Disposição a pagar: R$20–30/mês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280160"/>
            <a:ext cx="3657600" cy="502920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41732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Carlos, 34 anos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19659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Gerente de área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2377440"/>
            <a:ext cx="3657600" cy="3657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2514600"/>
            <a:ext cx="3383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0F172A"/>
                </a:solidFill>
                <a:latin typeface="Calibri"/>
              </a:rPr>
              <a:t>Renda: R$8.000–15.000/mês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0F172A"/>
                </a:solidFill>
                <a:latin typeface="Calibri"/>
              </a:rPr>
              <a:t>Objetivo: Saber se investe o suficiente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0F172A"/>
                </a:solidFill>
                <a:latin typeface="Calibri"/>
              </a:rPr>
              <a:t>Dor: Controla gastos no Excel (ineficiente)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0F172A"/>
                </a:solidFill>
                <a:latin typeface="Calibri"/>
              </a:rPr>
              <a:t>Disposição a pagar: R$30–50/mês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280160"/>
            <a:ext cx="3657600" cy="5029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141732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Lucas, 19 anos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19659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Estagiário universitário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2377440"/>
            <a:ext cx="3657600" cy="3657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60" y="2514600"/>
            <a:ext cx="3383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0F172A"/>
                </a:solidFill>
                <a:latin typeface="Calibri"/>
              </a:rPr>
              <a:t>Renda: R$1.500/mês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0F172A"/>
                </a:solidFill>
                <a:latin typeface="Calibri"/>
              </a:rPr>
              <a:t>Objetivo: Aprender finanças e investir no início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0F172A"/>
                </a:solidFill>
                <a:latin typeface="Calibri"/>
              </a:rPr>
              <a:t>Dor: Precisa de educação básica primeiro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0F172A"/>
                </a:solidFill>
                <a:latin typeface="Calibri"/>
              </a:rPr>
              <a:t>Disposição a pagar: R$10–15/mês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Modelo de Monetização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Freemium + 3 tiers de assinatura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3474720" cy="502920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Free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1168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R$0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651760"/>
            <a:ext cx="3474720" cy="3657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74320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9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• Lançamento manual de transações</a:t>
            </a:r>
          </a:p>
          <a:p>
            <a:pPr>
              <a:spcAft>
                <a:spcPts val="259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• 2 contas bancárias</a:t>
            </a:r>
          </a:p>
          <a:p>
            <a:pPr>
              <a:spcAft>
                <a:spcPts val="259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• Relatórios básicos</a:t>
            </a:r>
          </a:p>
          <a:p>
            <a:pPr>
              <a:spcAft>
                <a:spcPts val="259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• Metas simples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280160"/>
            <a:ext cx="3474720" cy="5029200"/>
          </a:xfrm>
          <a:prstGeom prst="rect">
            <a:avLst/>
          </a:prstGeom>
          <a:solidFill>
            <a:srgbClr val="0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137160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Essentials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01168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R$19,90/mês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2651760"/>
            <a:ext cx="3474720" cy="3657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274320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9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• Open Finance (contas automáticas)</a:t>
            </a:r>
          </a:p>
          <a:p>
            <a:pPr>
              <a:spcAft>
                <a:spcPts val="259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• Investimentos básicos</a:t>
            </a:r>
          </a:p>
          <a:p>
            <a:pPr>
              <a:spcAft>
                <a:spcPts val="259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• Metas avançadas</a:t>
            </a:r>
          </a:p>
          <a:p>
            <a:pPr>
              <a:spcAft>
                <a:spcPts val="259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• Educação — módulo inicial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1280160"/>
            <a:ext cx="3474720" cy="502920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137160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Premium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01168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R$34,90/mês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2651760"/>
            <a:ext cx="3474720" cy="3657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274320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9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• Categorização por IA</a:t>
            </a:r>
          </a:p>
          <a:p>
            <a:pPr>
              <a:spcAft>
                <a:spcPts val="259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• Impostos automatizados</a:t>
            </a:r>
          </a:p>
          <a:p>
            <a:pPr>
              <a:spcAft>
                <a:spcPts val="259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• Simuladores avançados</a:t>
            </a:r>
          </a:p>
          <a:p>
            <a:pPr>
              <a:spcAft>
                <a:spcPts val="259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• Suporte prioritário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Riscos de Mercado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Principais ameaças e mitigações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1097280" cy="10972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508760"/>
            <a:ext cx="1097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ALTO</a:t>
            </a:r>
          </a:p>
        </p:txBody>
      </p:sp>
      <p:sp>
        <p:nvSpPr>
          <p:cNvPr id="8" name="Rectangle 7"/>
          <p:cNvSpPr/>
          <p:nvPr/>
        </p:nvSpPr>
        <p:spPr>
          <a:xfrm>
            <a:off x="1554480" y="1280160"/>
            <a:ext cx="10058400" cy="1097280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91640" y="1344168"/>
            <a:ext cx="9784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Nubank lançar funcionalidades similares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1783080"/>
            <a:ext cx="9784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Distribuição de 100M+ clientes vs. nosso nicho premium/educação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560320"/>
            <a:ext cx="1097280" cy="10972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788920"/>
            <a:ext cx="1097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ALTO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54480" y="2560320"/>
            <a:ext cx="10058400" cy="1097280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91640" y="2624327"/>
            <a:ext cx="9784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CAC elevado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3063239"/>
            <a:ext cx="9784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Custo de aquisição high — mitigar com conteúdo orgânico e parcerias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840479"/>
            <a:ext cx="1097280" cy="1097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4069079"/>
            <a:ext cx="1097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MÉDIO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554480" y="3840479"/>
            <a:ext cx="10058400" cy="1097280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91640" y="3904487"/>
            <a:ext cx="9784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Mudanças regulatórias Open Finance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343399"/>
            <a:ext cx="9784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BC atualizando normas continuamente — acompanhar via API aggregator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120640"/>
            <a:ext cx="1097280" cy="1097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5349240"/>
            <a:ext cx="1097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MÉDIO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554480" y="5120640"/>
            <a:ext cx="10058400" cy="1097280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91640" y="5184648"/>
            <a:ext cx="9784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Churn por LTV baixo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91640" y="5623559"/>
            <a:ext cx="9784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Primeiros 90 dias críticos — onboarding e education loop são chave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Estratégia de Entrada no Mercado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Posicionamento, canais e validação antes do lançamento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5486400" cy="5029200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84FF"/>
                </a:solidFill>
                <a:latin typeface="Calibri"/>
              </a:rPr>
              <a:t>Posicionamento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74519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20"/>
              </a:spcAft>
            </a:pPr>
            <a:r>
              <a:rPr sz="1200" b="0">
                <a:solidFill>
                  <a:srgbClr val="F0F4FF"/>
                </a:solidFill>
                <a:latin typeface="Calibri"/>
              </a:rPr>
              <a:t>"O único app brasileiro que une controle</a:t>
            </a:r>
          </a:p>
          <a:p>
            <a:pPr>
              <a:spcAft>
                <a:spcPts val="420"/>
              </a:spcAft>
            </a:pPr>
            <a:r>
              <a:rPr sz="1200" b="0">
                <a:solidFill>
                  <a:srgbClr val="F0F4FF"/>
                </a:solidFill>
                <a:latin typeface="Calibri"/>
              </a:rPr>
              <a:t> de gastos, carteira de investimentos</a:t>
            </a:r>
          </a:p>
          <a:p>
            <a:pPr>
              <a:spcAft>
                <a:spcPts val="420"/>
              </a:spcAft>
            </a:pPr>
            <a:r>
              <a:rPr sz="1200" b="0">
                <a:solidFill>
                  <a:srgbClr val="F0F4FF"/>
                </a:solidFill>
                <a:latin typeface="Calibri"/>
              </a:rPr>
              <a:t> e educação financeira em um só lugar."</a:t>
            </a:r>
          </a:p>
          <a:p>
            <a:pPr>
              <a:spcAft>
                <a:spcPts val="420"/>
              </a:spcAft>
            </a:pPr>
            <a:r>
              <a:rPr sz="1200" b="0">
                <a:solidFill>
                  <a:srgbClr val="F0F4FF"/>
                </a:solidFill>
                <a:latin typeface="Calibri"/>
              </a:rPr>
              <a:t/>
            </a:r>
          </a:p>
          <a:p>
            <a:pPr>
              <a:spcAft>
                <a:spcPts val="420"/>
              </a:spcAft>
            </a:pPr>
            <a:r>
              <a:rPr sz="1200" b="0">
                <a:solidFill>
                  <a:srgbClr val="F0F4FF"/>
                </a:solidFill>
                <a:latin typeface="Calibri"/>
              </a:rPr>
              <a:t>Público inicial prioritário:</a:t>
            </a:r>
          </a:p>
          <a:p>
            <a:pPr>
              <a:spcAft>
                <a:spcPts val="420"/>
              </a:spcAft>
            </a:pPr>
            <a:r>
              <a:rPr sz="1200" b="0">
                <a:solidFill>
                  <a:srgbClr val="F0F4FF"/>
                </a:solidFill>
                <a:latin typeface="Calibri"/>
              </a:rPr>
              <a:t>• Ex-usuários do Guiabolso (~5M órfãos)</a:t>
            </a:r>
          </a:p>
          <a:p>
            <a:pPr>
              <a:spcAft>
                <a:spcPts val="420"/>
              </a:spcAft>
            </a:pPr>
            <a:r>
              <a:rPr sz="1200" b="0">
                <a:solidFill>
                  <a:srgbClr val="F0F4FF"/>
                </a:solidFill>
                <a:latin typeface="Calibri"/>
              </a:rPr>
              <a:t>• Jovens investidores B3 (18–35 anos)</a:t>
            </a:r>
          </a:p>
          <a:p>
            <a:pPr>
              <a:spcAft>
                <a:spcPts val="420"/>
              </a:spcAft>
            </a:pPr>
            <a:r>
              <a:rPr sz="1200" b="0">
                <a:solidFill>
                  <a:srgbClr val="F0F4FF"/>
                </a:solidFill>
                <a:latin typeface="Calibri"/>
              </a:rPr>
              <a:t>• Profissionais que usam Excel p/ finanças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280160"/>
            <a:ext cx="5760720" cy="2286000"/>
          </a:xfrm>
          <a:prstGeom prst="rect">
            <a:avLst/>
          </a:prstGeom>
          <a:solidFill>
            <a:srgbClr val="05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37160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D48A"/>
                </a:solidFill>
                <a:latin typeface="Calibri"/>
              </a:rPr>
              <a:t>Canais de Aquisição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874519"/>
            <a:ext cx="5394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30"/>
              </a:spcAft>
            </a:pPr>
            <a:r>
              <a:rPr sz="1100" b="0">
                <a:solidFill>
                  <a:srgbClr val="F0F4FF"/>
                </a:solidFill>
                <a:latin typeface="Calibri"/>
              </a:rPr>
              <a:t>• Conteúdo orgânico: Instagram · TikTok Finance · YouTube</a:t>
            </a:r>
          </a:p>
          <a:p>
            <a:pPr>
              <a:spcAft>
                <a:spcPts val="330"/>
              </a:spcAft>
            </a:pPr>
            <a:r>
              <a:rPr sz="1100" b="0">
                <a:solidFill>
                  <a:srgbClr val="F0F4FF"/>
                </a:solidFill>
                <a:latin typeface="Calibri"/>
              </a:rPr>
              <a:t>• SEO: artigos longos sobre finanças pessoais BR</a:t>
            </a:r>
          </a:p>
          <a:p>
            <a:pPr>
              <a:spcAft>
                <a:spcPts val="330"/>
              </a:spcAft>
            </a:pPr>
            <a:r>
              <a:rPr sz="1100" b="0">
                <a:solidFill>
                  <a:srgbClr val="F0F4FF"/>
                </a:solidFill>
                <a:latin typeface="Calibri"/>
              </a:rPr>
              <a:t>• Parcerias: influenciadores de finanças (micro 50K–500K)</a:t>
            </a:r>
          </a:p>
          <a:p>
            <a:pPr>
              <a:spcAft>
                <a:spcPts val="330"/>
              </a:spcAft>
            </a:pPr>
            <a:r>
              <a:rPr sz="1100" b="0">
                <a:solidFill>
                  <a:srgbClr val="F0F4FF"/>
                </a:solidFill>
                <a:latin typeface="Calibri"/>
              </a:rPr>
              <a:t>• Comunidades: Reddit r/investimentos · Discord fintech BR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3794760"/>
            <a:ext cx="5760720" cy="2514600"/>
          </a:xfrm>
          <a:prstGeom prst="rect">
            <a:avLst/>
          </a:prstGeom>
          <a:solidFill>
            <a:srgbClr val="1A14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388620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9E0B"/>
                </a:solidFill>
                <a:latin typeface="Calibri"/>
              </a:rPr>
              <a:t>Pré-lançamento (antes do MVP)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4343400"/>
            <a:ext cx="5394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30"/>
              </a:spcAft>
            </a:pPr>
            <a:r>
              <a:rPr sz="1100" b="0">
                <a:solidFill>
                  <a:srgbClr val="F0F4FF"/>
                </a:solidFill>
                <a:latin typeface="Calibri"/>
              </a:rPr>
              <a:t>1. Landing page com proposta de valor clara</a:t>
            </a:r>
          </a:p>
          <a:p>
            <a:pPr>
              <a:spcAft>
                <a:spcPts val="330"/>
              </a:spcAft>
            </a:pPr>
            <a:r>
              <a:rPr sz="1100" b="0">
                <a:solidFill>
                  <a:srgbClr val="F0F4FF"/>
                </a:solidFill>
                <a:latin typeface="Calibri"/>
              </a:rPr>
              <a:t>2. Formulário de lista de espera (meta: 500 e-mails)</a:t>
            </a:r>
          </a:p>
          <a:p>
            <a:pPr>
              <a:spcAft>
                <a:spcPts val="330"/>
              </a:spcAft>
            </a:pPr>
            <a:r>
              <a:rPr sz="1100" b="0">
                <a:solidFill>
                  <a:srgbClr val="F0F4FF"/>
                </a:solidFill>
                <a:latin typeface="Calibri"/>
              </a:rPr>
              <a:t>3. Entrevistar 20+ pessoas da lista (Jobs to be Done)</a:t>
            </a:r>
          </a:p>
          <a:p>
            <a:pPr>
              <a:spcAft>
                <a:spcPts val="330"/>
              </a:spcAft>
            </a:pPr>
            <a:r>
              <a:rPr sz="1100" b="0">
                <a:solidFill>
                  <a:srgbClr val="F0F4FF"/>
                </a:solidFill>
                <a:latin typeface="Calibri"/>
              </a:rPr>
              <a:t>4. Validar willingness to pay com página de preços</a:t>
            </a:r>
          </a:p>
          <a:p>
            <a:pPr>
              <a:spcAft>
                <a:spcPts val="330"/>
              </a:spcAft>
            </a:pPr>
            <a:r>
              <a:rPr sz="1100" b="0">
                <a:solidFill>
                  <a:srgbClr val="F0F4FF"/>
                </a:solidFill>
                <a:latin typeface="Calibri"/>
              </a:rPr>
              <a:t>5. Só iniciar dev com lista validada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Primeiros Usuários — 0 → 1.000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Beta fechado, onboarding e loop de ativação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2103120" cy="3474720"/>
          </a:xfrm>
          <a:prstGeom prst="rect">
            <a:avLst/>
          </a:prstGeom>
          <a:solidFill>
            <a:srgbClr val="0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41732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F172A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01168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  <a:latin typeface="Calibri"/>
              </a:rPr>
              <a:t>Lista de Espera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651760"/>
            <a:ext cx="2103120" cy="3657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788920"/>
            <a:ext cx="1920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F172A"/>
                </a:solidFill>
                <a:latin typeface="Calibri"/>
              </a:rPr>
              <a:t>Beta fechado gera FOMO e filtra
usuários mais motivados.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06039" y="1280160"/>
            <a:ext cx="2103120" cy="347472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06039" y="141732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F172A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39" y="201168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  <a:latin typeface="Calibri"/>
              </a:rPr>
              <a:t>Convite &amp; Cadastro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06039" y="2651760"/>
            <a:ext cx="2103120" cy="3657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97479" y="2788920"/>
            <a:ext cx="1920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F172A"/>
                </a:solidFill>
                <a:latin typeface="Calibri"/>
              </a:rPr>
              <a:t>Onboarding em 5 passos.
Conectar 1 conta bancária via Open Finance.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37759" y="1280160"/>
            <a:ext cx="2103120" cy="3474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37759" y="141732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F172A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59" y="201168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  <a:latin typeface="Calibri"/>
              </a:rPr>
              <a:t>Diagnóstico Instantâneo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37759" y="2651760"/>
            <a:ext cx="2103120" cy="3657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199" y="2788920"/>
            <a:ext cx="1920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F172A"/>
                </a:solidFill>
                <a:latin typeface="Calibri"/>
              </a:rPr>
              <a:t>Mostrar gráfico de gastos dos últimos
30 dias logo no 1º acesso.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69479" y="1280160"/>
            <a:ext cx="2103120" cy="3474720"/>
          </a:xfrm>
          <a:prstGeom prst="rect">
            <a:avLst/>
          </a:prstGeom>
          <a:solidFill>
            <a:srgbClr val="0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69479" y="141732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F172A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79" y="201168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  <a:latin typeface="Calibri"/>
              </a:rPr>
              <a:t>Criar 1ª Meta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69479" y="2651760"/>
            <a:ext cx="2103120" cy="3657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60919" y="2788920"/>
            <a:ext cx="1920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F172A"/>
                </a:solidFill>
                <a:latin typeface="Calibri"/>
              </a:rPr>
              <a:t>Guiar usuário a criar uma meta
financeira no mesmo dia.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01200" y="1280160"/>
            <a:ext cx="2103120" cy="347472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0" y="141732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F172A"/>
                </a:solidFill>
                <a:latin typeface="Calibr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201168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  <a:latin typeface="Calibri"/>
              </a:rPr>
              <a:t>Compartilhar Conquista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01200" y="2651760"/>
            <a:ext cx="2103120" cy="3657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92640" y="2788920"/>
            <a:ext cx="1920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F172A"/>
                </a:solidFill>
                <a:latin typeface="Calibri"/>
              </a:rPr>
              <a:t>Ao atingir 25% da meta:
share card nas redes sociais.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4983480"/>
            <a:ext cx="5486400" cy="1554480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07492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D48A"/>
                </a:solidFill>
                <a:latin typeface="Calibri"/>
              </a:rPr>
              <a:t>KPIs de Ativação (meta)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53212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60"/>
              </a:spcAft>
            </a:pPr>
            <a:r>
              <a:rPr sz="1200" b="0">
                <a:solidFill>
                  <a:srgbClr val="F0F4FF"/>
                </a:solidFill>
                <a:latin typeface="Calibri"/>
              </a:rPr>
              <a:t>• 40% completam onboarding em 7 dias</a:t>
            </a:r>
          </a:p>
          <a:p>
            <a:pPr>
              <a:spcAft>
                <a:spcPts val="360"/>
              </a:spcAft>
            </a:pPr>
            <a:r>
              <a:rPr sz="1200" b="0">
                <a:solidFill>
                  <a:srgbClr val="F0F4FF"/>
                </a:solidFill>
                <a:latin typeface="Calibri"/>
              </a:rPr>
              <a:t>• 60% retornam na semana 2</a:t>
            </a:r>
          </a:p>
          <a:p>
            <a:pPr>
              <a:spcAft>
                <a:spcPts val="360"/>
              </a:spcAft>
            </a:pPr>
            <a:r>
              <a:rPr sz="1200" b="0">
                <a:solidFill>
                  <a:srgbClr val="F0F4FF"/>
                </a:solidFill>
                <a:latin typeface="Calibri"/>
              </a:rPr>
              <a:t>• NPS &gt; 50 antes de escalar marketing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35040" y="4983480"/>
            <a:ext cx="5852160" cy="1554480"/>
          </a:xfrm>
          <a:prstGeom prst="rect">
            <a:avLst/>
          </a:prstGeom>
          <a:solidFill>
            <a:srgbClr val="05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17920" y="50749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D48A"/>
                </a:solidFill>
                <a:latin typeface="Calibri"/>
              </a:rPr>
              <a:t>Trabalho Qualitativo (primeiros 100 users)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553212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60"/>
              </a:spcAft>
            </a:pPr>
            <a:r>
              <a:rPr sz="1200" b="0">
                <a:solidFill>
                  <a:srgbClr val="F0F4FF"/>
                </a:solidFill>
                <a:latin typeface="Calibri"/>
              </a:rPr>
              <a:t>• Entrevista semanal de 30 min (Jobs to be Done)</a:t>
            </a:r>
          </a:p>
          <a:p>
            <a:pPr>
              <a:spcAft>
                <a:spcPts val="360"/>
              </a:spcAft>
            </a:pPr>
            <a:r>
              <a:rPr sz="1200" b="0">
                <a:solidFill>
                  <a:srgbClr val="F0F4FF"/>
                </a:solidFill>
                <a:latin typeface="Calibri"/>
              </a:rPr>
              <a:t>• Canal de feedback direto (WhatsApp/Discord)</a:t>
            </a:r>
          </a:p>
          <a:p>
            <a:pPr>
              <a:spcAft>
                <a:spcPts val="360"/>
              </a:spcAft>
            </a:pPr>
            <a:r>
              <a:rPr sz="1200" b="0">
                <a:solidFill>
                  <a:srgbClr val="F0F4FF"/>
                </a:solidFill>
                <a:latin typeface="Calibri"/>
              </a:rPr>
              <a:t>• Iterar features a cada 2 semanas com base no feedback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Escala — 1.000 → 10.000+ Usuários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Growth loops, B2B e paid acquisition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5303520" cy="5029200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84FF"/>
                </a:solidFill>
                <a:latin typeface="Calibri"/>
              </a:rPr>
              <a:t>Growth Loops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74519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60"/>
              </a:spcAft>
            </a:pPr>
            <a:r>
              <a:rPr sz="1200" b="0">
                <a:solidFill>
                  <a:srgbClr val="F0F4FF"/>
                </a:solidFill>
                <a:latin typeface="Calibri"/>
              </a:rPr>
              <a:t>Upgrade loop:</a:t>
            </a:r>
          </a:p>
          <a:p>
            <a:pPr>
              <a:spcAft>
                <a:spcPts val="360"/>
              </a:spcAft>
            </a:pPr>
            <a:r>
              <a:rPr sz="1200" b="0">
                <a:solidFill>
                  <a:srgbClr val="F0F4FF"/>
                </a:solidFill>
                <a:latin typeface="Calibri"/>
              </a:rPr>
              <a:t>  Free → Essentials quando atingir limite de contas</a:t>
            </a:r>
          </a:p>
          <a:p>
            <a:pPr>
              <a:spcAft>
                <a:spcPts val="360"/>
              </a:spcAft>
            </a:pPr>
            <a:r>
              <a:rPr sz="1200" b="0">
                <a:solidFill>
                  <a:srgbClr val="F0F4FF"/>
                </a:solidFill>
                <a:latin typeface="Calibri"/>
              </a:rPr>
              <a:t>  Essentials → Premium pela demanda de IA/impostos</a:t>
            </a:r>
          </a:p>
          <a:p>
            <a:pPr>
              <a:spcAft>
                <a:spcPts val="360"/>
              </a:spcAft>
            </a:pPr>
            <a:r>
              <a:rPr sz="1200" b="0">
                <a:solidFill>
                  <a:srgbClr val="F0F4FF"/>
                </a:solidFill>
                <a:latin typeface="Calibri"/>
              </a:rPr>
              <a:t/>
            </a:r>
          </a:p>
          <a:p>
            <a:pPr>
              <a:spcAft>
                <a:spcPts val="360"/>
              </a:spcAft>
            </a:pPr>
            <a:r>
              <a:rPr sz="1200" b="0">
                <a:solidFill>
                  <a:srgbClr val="F0F4FF"/>
                </a:solidFill>
                <a:latin typeface="Calibri"/>
              </a:rPr>
              <a:t>Viral loop:</a:t>
            </a:r>
          </a:p>
          <a:p>
            <a:pPr>
              <a:spcAft>
                <a:spcPts val="360"/>
              </a:spcAft>
            </a:pPr>
            <a:r>
              <a:rPr sz="1200" b="0">
                <a:solidFill>
                  <a:srgbClr val="F0F4FF"/>
                </a:solidFill>
                <a:latin typeface="Calibri"/>
              </a:rPr>
              <a:t>  Compartilhar card "Meta atingida!" nas redes</a:t>
            </a:r>
          </a:p>
          <a:p>
            <a:pPr>
              <a:spcAft>
                <a:spcPts val="360"/>
              </a:spcAft>
            </a:pPr>
            <a:r>
              <a:rPr sz="1200" b="0">
                <a:solidFill>
                  <a:srgbClr val="F0F4FF"/>
                </a:solidFill>
                <a:latin typeface="Calibri"/>
              </a:rPr>
              <a:t>  Indicação: 1 mês grátis por amigo convertido</a:t>
            </a:r>
          </a:p>
          <a:p>
            <a:pPr>
              <a:spcAft>
                <a:spcPts val="360"/>
              </a:spcAft>
            </a:pPr>
            <a:r>
              <a:rPr sz="1200" b="0">
                <a:solidFill>
                  <a:srgbClr val="F0F4FF"/>
                </a:solidFill>
                <a:latin typeface="Calibri"/>
              </a:rPr>
              <a:t/>
            </a:r>
          </a:p>
          <a:p>
            <a:pPr>
              <a:spcAft>
                <a:spcPts val="360"/>
              </a:spcAft>
            </a:pPr>
            <a:r>
              <a:rPr sz="1200" b="0">
                <a:solidFill>
                  <a:srgbClr val="F0F4FF"/>
                </a:solidFill>
                <a:latin typeface="Calibri"/>
              </a:rPr>
              <a:t>Content loop:</a:t>
            </a:r>
          </a:p>
          <a:p>
            <a:pPr>
              <a:spcAft>
                <a:spcPts val="360"/>
              </a:spcAft>
            </a:pPr>
            <a:r>
              <a:rPr sz="1200" b="0">
                <a:solidFill>
                  <a:srgbClr val="F0F4FF"/>
                </a:solidFill>
                <a:latin typeface="Calibri"/>
              </a:rPr>
              <a:t>  Usuários compartilham insights gerados pelo app</a:t>
            </a:r>
          </a:p>
          <a:p>
            <a:pPr>
              <a:spcAft>
                <a:spcPts val="360"/>
              </a:spcAft>
            </a:pPr>
            <a:r>
              <a:rPr sz="1200" b="0">
                <a:solidFill>
                  <a:srgbClr val="F0F4FF"/>
                </a:solidFill>
                <a:latin typeface="Calibri"/>
              </a:rPr>
              <a:t>  Gera tráfego orgânico de volta ao produto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280160"/>
            <a:ext cx="5943600" cy="2286000"/>
          </a:xfrm>
          <a:prstGeom prst="rect">
            <a:avLst/>
          </a:prstGeom>
          <a:solidFill>
            <a:srgbClr val="05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137160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D48A"/>
                </a:solidFill>
                <a:latin typeface="Calibri"/>
              </a:rPr>
              <a:t>Canal B2B — Benefício Corporativo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1874519"/>
            <a:ext cx="55778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60"/>
              </a:spcAft>
            </a:pPr>
            <a:r>
              <a:rPr sz="1200" b="0">
                <a:solidFill>
                  <a:srgbClr val="F0F4FF"/>
                </a:solidFill>
                <a:latin typeface="Calibri"/>
              </a:rPr>
              <a:t>• RH de empresas oferece o app como benefício</a:t>
            </a:r>
          </a:p>
          <a:p>
            <a:pPr>
              <a:spcAft>
                <a:spcPts val="360"/>
              </a:spcAft>
            </a:pPr>
            <a:r>
              <a:rPr sz="1200" b="0">
                <a:solidFill>
                  <a:srgbClr val="F0F4FF"/>
                </a:solidFill>
                <a:latin typeface="Calibri"/>
              </a:rPr>
              <a:t>• Ticket: R$15/funcionário/mês (desconto de volume)</a:t>
            </a:r>
          </a:p>
          <a:p>
            <a:pPr>
              <a:spcAft>
                <a:spcPts val="360"/>
              </a:spcAft>
            </a:pPr>
            <a:r>
              <a:rPr sz="1200" b="0">
                <a:solidFill>
                  <a:srgbClr val="F0F4FF"/>
                </a:solidFill>
                <a:latin typeface="Calibri"/>
              </a:rPr>
              <a:t>• Distribuição imediata sem CAC individual</a:t>
            </a:r>
          </a:p>
          <a:p>
            <a:pPr>
              <a:spcAft>
                <a:spcPts val="360"/>
              </a:spcAft>
            </a:pPr>
            <a:r>
              <a:rPr sz="1200" b="0">
                <a:solidFill>
                  <a:srgbClr val="F0F4FF"/>
                </a:solidFill>
                <a:latin typeface="Calibri"/>
              </a:rPr>
              <a:t>• Parceiros iniciais: startups, consultorias, fintechs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3794760"/>
            <a:ext cx="5943600" cy="2514600"/>
          </a:xfrm>
          <a:prstGeom prst="rect">
            <a:avLst/>
          </a:prstGeom>
          <a:solidFill>
            <a:srgbClr val="1A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388620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9E0B"/>
                </a:solidFill>
                <a:latin typeface="Calibri"/>
              </a:rPr>
              <a:t>Paid Acquisition (após CAC validado)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4343400"/>
            <a:ext cx="5577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60"/>
              </a:spcAft>
            </a:pPr>
            <a:r>
              <a:rPr sz="1200" b="0">
                <a:solidFill>
                  <a:srgbClr val="F0F4FF"/>
                </a:solidFill>
                <a:latin typeface="Calibri"/>
              </a:rPr>
              <a:t>• Meta Ads: segmentação por interesse em finanças</a:t>
            </a:r>
          </a:p>
          <a:p>
            <a:pPr>
              <a:spcAft>
                <a:spcPts val="360"/>
              </a:spcAft>
            </a:pPr>
            <a:r>
              <a:rPr sz="1200" b="0">
                <a:solidFill>
                  <a:srgbClr val="F0F4FF"/>
                </a:solidFill>
                <a:latin typeface="Calibri"/>
              </a:rPr>
              <a:t>• Google Search: keywords de dor ("controlar gastos")</a:t>
            </a:r>
          </a:p>
          <a:p>
            <a:pPr>
              <a:spcAft>
                <a:spcPts val="360"/>
              </a:spcAft>
            </a:pPr>
            <a:r>
              <a:rPr sz="1200" b="0">
                <a:solidFill>
                  <a:srgbClr val="F0F4FF"/>
                </a:solidFill>
                <a:latin typeface="Calibri"/>
              </a:rPr>
              <a:t>• Só ativar paid quando CAC orgânico &lt; R$50 validado</a:t>
            </a:r>
          </a:p>
          <a:p>
            <a:pPr>
              <a:spcAft>
                <a:spcPts val="360"/>
              </a:spcAft>
            </a:pPr>
            <a:r>
              <a:rPr sz="1200" b="0">
                <a:solidFill>
                  <a:srgbClr val="F0F4FF"/>
                </a:solidFill>
                <a:latin typeface="Calibri"/>
              </a:rPr>
              <a:t>• Budget inicial: R$3.000–5.000/mês para testes A/B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6309360"/>
            <a:ext cx="2743200" cy="41148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" y="6336792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Mês 1–3: Beta fechado · 100 usuários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91840" y="6309360"/>
            <a:ext cx="2743200" cy="411480"/>
          </a:xfrm>
          <a:prstGeom prst="rect">
            <a:avLst/>
          </a:prstGeom>
          <a:solidFill>
            <a:srgbClr val="0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55848" y="6336792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Mês 4–6: Lançamento público · 500 free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6309360"/>
            <a:ext cx="2743200" cy="41148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81928" y="6336792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Mês 7–12: 2.000 pagantes · break-even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0" y="6309360"/>
            <a:ext cx="2743200" cy="411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08008" y="6336792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Mês 13–24: 10.000 pagantes · time contratado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Conclusão &amp; Próximos Passos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1280160"/>
            <a:ext cx="457200" cy="82296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1371600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" y="1280160"/>
            <a:ext cx="6858000" cy="822960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1560" y="1325880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D48A"/>
                </a:solidFill>
                <a:latin typeface="Calibri"/>
              </a:rPr>
              <a:t>Mercado validado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" y="1719072"/>
            <a:ext cx="6583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0F4FF"/>
                </a:solidFill>
                <a:latin typeface="Calibri"/>
              </a:rPr>
              <a:t>Brazil fintech é o maior da LATAM com gap claro de produto integrado.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2468880"/>
            <a:ext cx="457200" cy="82296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2560320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4400" y="2468880"/>
            <a:ext cx="6858000" cy="822960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51560" y="2514600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D48A"/>
                </a:solidFill>
                <a:latin typeface="Calibri"/>
              </a:rPr>
              <a:t>Concorrência fragmentada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" y="2907792"/>
            <a:ext cx="6583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0F4FF"/>
                </a:solidFill>
                <a:latin typeface="Calibri"/>
              </a:rPr>
              <a:t>Nenhum player combina gastos + investimentos + educação.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3657600"/>
            <a:ext cx="457200" cy="82296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3749039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0" y="3657600"/>
            <a:ext cx="6858000" cy="822960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3703320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D48A"/>
                </a:solidFill>
                <a:latin typeface="Calibri"/>
              </a:rPr>
              <a:t>Monetização comprovada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4096512"/>
            <a:ext cx="6583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0F4FF"/>
                </a:solidFill>
                <a:latin typeface="Calibri"/>
              </a:rPr>
              <a:t>YNAB prova que metodologia financeira é vendável. ~15–20% convertem.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4846320"/>
            <a:ext cx="457200" cy="82296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" y="4937760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14400" y="4846320"/>
            <a:ext cx="6858000" cy="822960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51560" y="4892040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D48A"/>
                </a:solidFill>
                <a:latin typeface="Calibri"/>
              </a:rPr>
              <a:t>Break-even realista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" y="5285232"/>
            <a:ext cx="6583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0F4FF"/>
                </a:solidFill>
                <a:latin typeface="Calibri"/>
              </a:rPr>
              <a:t>2.000 usuários pagantes no modelo solo. Atingível em 12–18 meses.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229600" y="1280160"/>
            <a:ext cx="3657600" cy="4663440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21040" y="13716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84FF"/>
                </a:solidFill>
                <a:latin typeface="Calibri"/>
              </a:rPr>
              <a:t>Próximos Passos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21040" y="1920240"/>
            <a:ext cx="3383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80"/>
              </a:spcAft>
            </a:pPr>
            <a:r>
              <a:rPr sz="1300" b="0">
                <a:solidFill>
                  <a:srgbClr val="F0F4FF"/>
                </a:solidFill>
                <a:latin typeface="Calibri"/>
              </a:rPr>
              <a:t>1. Definir escopo exato do MVP</a:t>
            </a:r>
          </a:p>
          <a:p>
            <a:pPr>
              <a:spcAft>
                <a:spcPts val="780"/>
              </a:spcAft>
            </a:pPr>
            <a:r>
              <a:rPr sz="1300" b="0">
                <a:solidFill>
                  <a:srgbClr val="F0F4FF"/>
                </a:solidFill>
                <a:latin typeface="Calibri"/>
              </a:rPr>
              <a:t>2. Validar monetização com landing page</a:t>
            </a:r>
          </a:p>
          <a:p>
            <a:pPr>
              <a:spcAft>
                <a:spcPts val="780"/>
              </a:spcAft>
            </a:pPr>
            <a:r>
              <a:rPr sz="1300" b="0">
                <a:solidFill>
                  <a:srgbClr val="F0F4FF"/>
                </a:solidFill>
                <a:latin typeface="Calibri"/>
              </a:rPr>
              <a:t>3. Prototipar telas principais</a:t>
            </a:r>
          </a:p>
          <a:p>
            <a:pPr>
              <a:spcAft>
                <a:spcPts val="780"/>
              </a:spcAft>
            </a:pPr>
            <a:r>
              <a:rPr sz="1300" b="0">
                <a:solidFill>
                  <a:srgbClr val="F0F4FF"/>
                </a:solidFill>
                <a:latin typeface="Calibri"/>
              </a:rPr>
              <a:t>4. Iniciar desenvolvimento backend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Calibri"/>
              </a:rPr>
              <a:t>FinanceApp  ·  Estudo de Mercado v1.1.0  ·  2026-05-11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